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5720" cy="3200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ARCHITECTURES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 ·  NAS  ·  SAN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Three Fundamental Storage Models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Modern Enterprise Infrastructure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1188720"/>
            <a:ext cx="137160" cy="137160"/>
          </a:xfrm>
          <a:prstGeom prst="ellipse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828800"/>
            <a:ext cx="137160" cy="137160"/>
          </a:xfrm>
          <a:prstGeom prst="ellipse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560320"/>
            <a:ext cx="137160" cy="137160"/>
          </a:xfrm>
          <a:prstGeom prst="ellipse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&amp; 5 &amp;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0292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868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Direct-Attached Storage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247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— Physical drives, SATA/SAS, How it works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50292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7190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6733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Network-Attached Storage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9293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— Ethernet, NFS/SMB, File-level access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50292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237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4780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Area Network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7340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— Fibre Channel, Block-level, Enterprise scale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50292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3284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2826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vs NAS vs SAN Comparison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5387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comparison matrix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87368"/>
            <a:ext cx="50292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1330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087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Protocols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3434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&amp; File-level protocols explained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Direct-Attached Storage (DAS)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model: drives physically installed inside or directly cabled to one server. No network involved.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60320" cy="1828800"/>
          </a:xfrm>
          <a:prstGeom prst="rect">
            <a:avLst/>
          </a:prstGeom>
          <a:solidFill>
            <a:srgbClr val="1C1C1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673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984248"/>
            <a:ext cx="1005840" cy="320040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842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| RAM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2286000" cy="320040"/>
          </a:xfrm>
          <a:prstGeom prst="rect">
            <a:avLst/>
          </a:prstGeom>
          <a:solidFill>
            <a:srgbClr val="3A3A3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Controller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08960" y="2423160"/>
            <a:ext cx="73152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22402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SATA/SAS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1600200"/>
            <a:ext cx="2651760" cy="1828800"/>
          </a:xfrm>
          <a:prstGeom prst="rect">
            <a:avLst/>
          </a:prstGeom>
          <a:solidFill>
            <a:srgbClr val="1C1C1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16733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DEVICES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9080" y="2039112"/>
            <a:ext cx="1051560" cy="320040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20391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57800" y="2039112"/>
            <a:ext cx="1051560" cy="320040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0391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69080" y="2496312"/>
            <a:ext cx="1051560" cy="320040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24963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2496312"/>
            <a:ext cx="1051560" cy="320040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24963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69080" y="2990088"/>
            <a:ext cx="2377440" cy="274320"/>
          </a:xfrm>
          <a:prstGeom prst="rect">
            <a:avLst/>
          </a:prstGeom>
          <a:solidFill>
            <a:srgbClr val="3A3A3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2990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Controller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CABLE: SATA (6 Gbps)  or  SAS (22.5 Gbps)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76732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Block-level (server OS sees it as a local disk)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DAS WORKS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66560" y="1938528"/>
            <a:ext cx="228600" cy="2286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938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59168" y="19385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requests a file (e.g., read DB row)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66560" y="2414016"/>
            <a:ext cx="228600" cy="2286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4140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59168" y="24140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OS sends block-level read via SATA/SAS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766560" y="2889504"/>
            <a:ext cx="228600" cy="2286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28895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59168" y="288950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controller identifies which drive has the blocks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66560" y="3364992"/>
            <a:ext cx="228600" cy="2286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3364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59168" y="33649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retrieves data (HDD head / SSD flash cells)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66560" y="3840480"/>
            <a:ext cx="228600" cy="2286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3840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59168" y="3840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travels back via SATA/SAS cable to RAM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66560" y="4315968"/>
            <a:ext cx="228600" cy="2286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43159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59168" y="43159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receives the data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— Advantages &amp; Disadvantages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840480" cy="365760"/>
          </a:xfrm>
          <a:prstGeom prst="rect">
            <a:avLst/>
          </a:prstGeom>
          <a:solidFill>
            <a:srgbClr val="1A4A2A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54864" cy="621792"/>
          </a:xfrm>
          <a:prstGeom prst="rect">
            <a:avLst/>
          </a:prstGeom>
          <a:solidFill>
            <a:srgbClr val="4CAF6F"/>
          </a:solidFill>
          <a:ln w="12700">
            <a:solidFill>
              <a:srgbClr val="4CA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167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setup; no network hardware needed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75104"/>
            <a:ext cx="54864" cy="621792"/>
          </a:xfrm>
          <a:prstGeom prst="rect">
            <a:avLst/>
          </a:prstGeom>
          <a:solidFill>
            <a:srgbClr val="4CAF6F"/>
          </a:solidFill>
          <a:ln w="12700">
            <a:solidFill>
              <a:srgbClr val="4CAF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29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latency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249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hops — direct hardware access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88336"/>
            <a:ext cx="54864" cy="621792"/>
          </a:xfrm>
          <a:prstGeom prst="rect">
            <a:avLst/>
          </a:prstGeom>
          <a:solidFill>
            <a:srgbClr val="4CAF6F"/>
          </a:solidFill>
          <a:ln w="12700">
            <a:solidFill>
              <a:srgbClr val="4CAF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RAID controller; familiar to most admins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01568"/>
            <a:ext cx="54864" cy="621792"/>
          </a:xfrm>
          <a:prstGeom prst="rect">
            <a:avLst/>
          </a:prstGeom>
          <a:solidFill>
            <a:srgbClr val="4CAF6F"/>
          </a:solidFill>
          <a:ln w="12700">
            <a:solidFill>
              <a:srgbClr val="4CAF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56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bandwidth dedicated to one server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822960"/>
            <a:ext cx="3840480" cy="365760"/>
          </a:xfrm>
          <a:prstGeom prst="rect">
            <a:avLst/>
          </a:prstGeom>
          <a:solidFill>
            <a:srgbClr val="4A1A1A"/>
          </a:solidFill>
          <a:ln w="12700">
            <a:solidFill>
              <a:srgbClr val="8B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DISADVANTAGES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261872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261872"/>
            <a:ext cx="54864" cy="621792"/>
          </a:xfrm>
          <a:prstGeom prst="rect">
            <a:avLst/>
          </a:prstGeom>
          <a:solidFill>
            <a:srgbClr val="CF6679"/>
          </a:solidFill>
          <a:ln w="12700">
            <a:solidFill>
              <a:srgbClr val="CF66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3167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server only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server can access the storage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1975104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975104"/>
            <a:ext cx="54864" cy="621792"/>
          </a:xfrm>
          <a:prstGeom prst="rect">
            <a:avLst/>
          </a:prstGeom>
          <a:solidFill>
            <a:srgbClr val="CF6679"/>
          </a:solidFill>
          <a:ln w="12700">
            <a:solidFill>
              <a:srgbClr val="CF66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029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scalability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2249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server's physical drive slots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688336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688336"/>
            <a:ext cx="54864" cy="621792"/>
          </a:xfrm>
          <a:prstGeom prst="rect">
            <a:avLst/>
          </a:prstGeom>
          <a:solidFill>
            <a:srgbClr val="CF6679"/>
          </a:solidFill>
          <a:ln w="12700">
            <a:solidFill>
              <a:srgbClr val="CF66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locked to one machine — no collaboration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401568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401568"/>
            <a:ext cx="54864" cy="621792"/>
          </a:xfrm>
          <a:prstGeom prst="rect">
            <a:avLst/>
          </a:prstGeom>
          <a:solidFill>
            <a:srgbClr val="CF6679"/>
          </a:solidFill>
          <a:ln w="12700">
            <a:solidFill>
              <a:srgbClr val="CF66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456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server fails, storage becomes inaccessible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133088"/>
            <a:ext cx="8321040" cy="777240"/>
          </a:xfrm>
          <a:prstGeom prst="rect">
            <a:avLst/>
          </a:prstGeom>
          <a:solidFill>
            <a:srgbClr val="1C1C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1788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DETAILS  —  SATA: 7-pin data + 15-pin power; up to 1m; desktop/1U servers   |   SAS: Multi-lane SFF-8644/8087; up to 10m; enterprise   |   RAID Controller: PCIe card managing all drives   |   Backplane: Passive PCB connecting bays to RAID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Network-Attached Storage (NAS)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storage to a standard Ethernet network — MULTIPLE servers &amp; users share files simultaneously.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1737360" cy="502920"/>
          </a:xfrm>
          <a:prstGeom prst="rect">
            <a:avLst/>
          </a:prstGeom>
          <a:solidFill>
            <a:srgbClr val="1C1C1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1737360" cy="502920"/>
          </a:xfrm>
          <a:prstGeom prst="rect">
            <a:avLst/>
          </a:prstGeom>
          <a:solidFill>
            <a:srgbClr val="1C1C1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 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1737360" cy="502920"/>
          </a:xfrm>
          <a:prstGeom prst="rect">
            <a:avLst/>
          </a:prstGeom>
          <a:solidFill>
            <a:srgbClr val="1C1C1C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1764792"/>
            <a:ext cx="6400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450592"/>
            <a:ext cx="6400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136392"/>
            <a:ext cx="6400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011680"/>
            <a:ext cx="1828800" cy="914400"/>
          </a:xfrm>
          <a:prstGeom prst="rect">
            <a:avLst/>
          </a:prstGeom>
          <a:solidFill>
            <a:srgbClr val="1C1C1C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2011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(Cat6 LAN)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441448"/>
            <a:ext cx="5486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554480"/>
            <a:ext cx="2011680" cy="1828800"/>
          </a:xfrm>
          <a:prstGeom prst="rect">
            <a:avLst/>
          </a:prstGeom>
          <a:solidFill>
            <a:srgbClr val="1C1C1C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0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DEVICE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0680" y="1901952"/>
            <a:ext cx="1737360" cy="256032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901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HDD/SSD Array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40680" y="2221992"/>
            <a:ext cx="1737360" cy="256032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221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Array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40680" y="2542032"/>
            <a:ext cx="1737360" cy="256032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542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40680" y="2862072"/>
            <a:ext cx="1737360" cy="256032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2862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3566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CABLE: Cat6/Cat6A Ethernet     PROTOCOL: NFS (Linux) / SMB (Windows)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52360" y="1554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NAS WORKS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52360" y="1874520"/>
            <a:ext cx="210312" cy="2103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187452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699248" y="187452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User/app requests a file (e.g., open shared spreadsheet)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452360" y="2350008"/>
            <a:ext cx="210312" cy="2103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235000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699248" y="235000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travels over Ethernet (Cat6) to the Switch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452360" y="2825496"/>
            <a:ext cx="210312" cy="2103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282549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699248" y="2825496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forwards packet to NAS device's IP address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452360" y="3300984"/>
            <a:ext cx="210312" cy="2103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3300984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699248" y="3300984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OS receives file-level request via NFS or SMB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452360" y="3776472"/>
            <a:ext cx="210312" cy="2103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377647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699248" y="37764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file system locates file on the internal RAID array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452360" y="4251960"/>
            <a:ext cx="210312" cy="2103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52360" y="425196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699248" y="425196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sends file data back over Ethernet to requester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Area Network (SAN)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high-speed network exclusively for storage traffic — completely separate from regular business network traffic.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1463040" cy="457200"/>
          </a:xfrm>
          <a:prstGeom prst="rect">
            <a:avLst/>
          </a:prstGeom>
          <a:solidFill>
            <a:srgbClr val="1C1C1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179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640080" cy="164592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190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1463040" cy="457200"/>
          </a:xfrm>
          <a:prstGeom prst="rect">
            <a:avLst/>
          </a:prstGeom>
          <a:solidFill>
            <a:srgbClr val="1C1C1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037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404872"/>
            <a:ext cx="640080" cy="164592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048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1463040" cy="457200"/>
          </a:xfrm>
          <a:prstGeom prst="rect">
            <a:avLst/>
          </a:prstGeom>
          <a:solidFill>
            <a:srgbClr val="1C1C1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895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0" y="1828800"/>
            <a:ext cx="1828800" cy="1097280"/>
          </a:xfrm>
          <a:prstGeom prst="rect">
            <a:avLst/>
          </a:prstGeom>
          <a:solidFill>
            <a:srgbClr val="1C1C1C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0" y="18745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(FC Switch)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1664208"/>
            <a:ext cx="777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2350008"/>
            <a:ext cx="777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0" y="3035808"/>
            <a:ext cx="777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2350008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1463040"/>
            <a:ext cx="2286000" cy="1828800"/>
          </a:xfrm>
          <a:prstGeom prst="rect">
            <a:avLst/>
          </a:prstGeom>
          <a:solidFill>
            <a:srgbClr val="1C1C1C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1508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ARRAY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66360" y="1828800"/>
            <a:ext cx="868680" cy="320040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8288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72200" y="1828800"/>
            <a:ext cx="868680" cy="320040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8288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66360" y="2240280"/>
            <a:ext cx="868680" cy="320040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240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72200" y="2240280"/>
            <a:ext cx="868680" cy="320040"/>
          </a:xfrm>
          <a:prstGeom prst="rect">
            <a:avLst/>
          </a:prstGeom>
          <a:solidFill>
            <a:srgbClr val="3A3A3A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240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66360" y="2697480"/>
            <a:ext cx="2011680" cy="384048"/>
          </a:xfrm>
          <a:prstGeom prst="rect">
            <a:avLst/>
          </a:prstGeom>
          <a:solidFill>
            <a:srgbClr val="3A3A3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/ Storage OS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3474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CABLE: Fibre Channel (LC/SC fibre or DAC Twinax)     PROTOCOL: Fibre Channel (FC), iSCSI, FCoE     ACCESS: Block-level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9808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498080" y="17830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98080" y="19659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card in each server; converts commands to FC frames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498080" y="24414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Switch: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98080" y="26243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switch for storage; 16/32/64/128 Gbps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498080" y="309981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Array: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98080" y="32826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Rack-mounted box; own controller, cache, management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498080" y="37581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Cables: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98080" y="394106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LC-LC duplex multimode fibre (orange OM3/OM4)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— Advantages &amp; Disadvantages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840480" cy="365760"/>
          </a:xfrm>
          <a:prstGeom prst="rect">
            <a:avLst/>
          </a:prstGeom>
          <a:solidFill>
            <a:srgbClr val="1A4A2A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54864" cy="621792"/>
          </a:xfrm>
          <a:prstGeom prst="rect">
            <a:avLst/>
          </a:prstGeom>
          <a:solidFill>
            <a:srgbClr val="4CAF6F"/>
          </a:solidFill>
          <a:ln w="12700">
            <a:solidFill>
              <a:srgbClr val="4CA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167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performance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latency, high IOPS — ideal for databases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75104"/>
            <a:ext cx="54864" cy="621792"/>
          </a:xfrm>
          <a:prstGeom prst="rect">
            <a:avLst/>
          </a:prstGeom>
          <a:solidFill>
            <a:srgbClr val="4CAF6F"/>
          </a:solidFill>
          <a:ln w="12700">
            <a:solidFill>
              <a:srgbClr val="4CAF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29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network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249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traffic competition with regular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88336"/>
            <a:ext cx="54864" cy="621792"/>
          </a:xfrm>
          <a:prstGeom prst="rect">
            <a:avLst/>
          </a:prstGeom>
          <a:solidFill>
            <a:srgbClr val="4CAF6F"/>
          </a:solidFill>
          <a:ln w="12700">
            <a:solidFill>
              <a:srgbClr val="4CAF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millions of devices via switched fabric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01568"/>
            <a:ext cx="54864" cy="621792"/>
          </a:xfrm>
          <a:prstGeom prst="rect">
            <a:avLst/>
          </a:prstGeom>
          <a:solidFill>
            <a:srgbClr val="4CAF6F"/>
          </a:solidFill>
          <a:ln w="12700">
            <a:solidFill>
              <a:srgbClr val="4CAF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56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use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financial firms, large enterprises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822960"/>
            <a:ext cx="3840480" cy="365760"/>
          </a:xfrm>
          <a:prstGeom prst="rect">
            <a:avLst/>
          </a:prstGeom>
          <a:solidFill>
            <a:srgbClr val="4A1A1A"/>
          </a:solidFill>
          <a:ln w="12700">
            <a:solidFill>
              <a:srgbClr val="8B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DISADVANTAGES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261872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261872"/>
            <a:ext cx="54864" cy="621792"/>
          </a:xfrm>
          <a:prstGeom prst="rect">
            <a:avLst/>
          </a:prstGeom>
          <a:solidFill>
            <a:srgbClr val="CF6679"/>
          </a:solidFill>
          <a:ln w="12700">
            <a:solidFill>
              <a:srgbClr val="CF66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3167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switches + HBAs + arrays add up fast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1975104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975104"/>
            <a:ext cx="54864" cy="621792"/>
          </a:xfrm>
          <a:prstGeom prst="rect">
            <a:avLst/>
          </a:prstGeom>
          <a:solidFill>
            <a:srgbClr val="CF6679"/>
          </a:solidFill>
          <a:ln w="12700">
            <a:solidFill>
              <a:srgbClr val="CF66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029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setup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2249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trained SAN administrators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688336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688336"/>
            <a:ext cx="54864" cy="621792"/>
          </a:xfrm>
          <a:prstGeom prst="rect">
            <a:avLst/>
          </a:prstGeom>
          <a:solidFill>
            <a:srgbClr val="CF6679"/>
          </a:solidFill>
          <a:ln w="12700">
            <a:solidFill>
              <a:srgbClr val="CF66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 configs can create dependency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401568"/>
            <a:ext cx="3840480" cy="621792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401568"/>
            <a:ext cx="54864" cy="621792"/>
          </a:xfrm>
          <a:prstGeom prst="rect">
            <a:avLst/>
          </a:prstGeom>
          <a:solidFill>
            <a:srgbClr val="CF6679"/>
          </a:solidFill>
          <a:ln w="12700">
            <a:solidFill>
              <a:srgbClr val="CF66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456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small orgs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cost &amp; complexity for SMBs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133088"/>
            <a:ext cx="8321040" cy="777240"/>
          </a:xfrm>
          <a:prstGeom prst="rect">
            <a:avLst/>
          </a:prstGeom>
          <a:solidFill>
            <a:srgbClr val="1C1C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1788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 —  Multimode Fibre OM3/OM4: Orange jacket; up to 300-400m at 32 Gbps; LC connectors   |   Single-mode OS2: Yellow; 10+ km for campus SANs   |   SFP/SFP+: Pluggable optical modules   |   DAC Twinax: Short-range up to 7m; cheaper than fibre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vs NAS vs SAN — Full Comparison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58368"/>
          <a:ext cx="8595360" cy="4224528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A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8E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SATA/SAS cable, no network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3D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TCP/IP Ethernet (LAN)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E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FC / iSCSI network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 Used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8E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SATA, SAS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3D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Cat6, Cat6A, SFP+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E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Fibre (LC), Twinax DAC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8E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SATA, SCSI, SAS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3D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NFS, SMB/CIFS, HTTP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E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FC, iSCSI, FCoE, NVMe-oF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Access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8E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Block-level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3D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File-level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E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Block-level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8E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(direct connection)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3D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(depends on LAN)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E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(dedicated)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8E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(tied to 1 server)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3D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(add NAS units)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E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(millions of devices)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Access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8E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(single server only)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3D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(many users)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E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(many servers)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8E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server/room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3D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Building/campus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E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 (single-mode fibre)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8E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($0.01–$0.10/GB)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3D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($0.05–$0.20/GB)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E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($0.10–$0.25/GB+)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8E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workstations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B3D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sharing, SMB environments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E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enterprise, databases, VMs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Protocols — How Data Talks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840480" cy="292608"/>
          </a:xfrm>
          <a:prstGeom prst="rect">
            <a:avLst/>
          </a:prstGeom>
          <a:solidFill>
            <a:srgbClr val="3A2A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PROTOCOLS  (DAS &amp; SAN)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1828800" cy="402336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45720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63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Consumer/desktop; 6 Gbps max; DAS inside servers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1828800" cy="402336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11680"/>
            <a:ext cx="45720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391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128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DAS; 22.5 Gbps; more reliable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1828800" cy="402336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87168"/>
            <a:ext cx="45720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14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6883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for SAN; 16/32/64/128 Gbps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2962656"/>
            <a:ext cx="1828800" cy="402336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62656"/>
            <a:ext cx="45720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0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iSCSI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1638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SCSI commands over TCP/IP; cheaper SAN alternative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377440" y="1536192"/>
            <a:ext cx="1828800" cy="402336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377440" y="1536192"/>
            <a:ext cx="45720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1563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17373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over 10G/25G Ethernet; convergence of SAN &amp; LAN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377440" y="2011680"/>
            <a:ext cx="1828800" cy="402336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377440" y="2011680"/>
            <a:ext cx="45720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20391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8880" y="22128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PCIe-based for SSDs; ~50 microsecond latency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377440" y="2487168"/>
            <a:ext cx="1828800" cy="402336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377440" y="2487168"/>
            <a:ext cx="45720" cy="4023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514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NVMe-oF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68880" y="26883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over Fabrics; emerging next-gen SAN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846320" y="1188720"/>
            <a:ext cx="3840480" cy="292608"/>
          </a:xfrm>
          <a:prstGeom prst="rect">
            <a:avLst/>
          </a:prstGeom>
          <a:solidFill>
            <a:srgbClr val="1A2A3A"/>
          </a:solidFill>
          <a:ln w="12700">
            <a:solidFill>
              <a:srgbClr val="5BA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PROTOCOLS  (NAS)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1536192"/>
            <a:ext cx="3840480" cy="512064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1536192"/>
            <a:ext cx="45720" cy="512064"/>
          </a:xfrm>
          <a:prstGeom prst="rect">
            <a:avLst/>
          </a:prstGeom>
          <a:solidFill>
            <a:srgbClr val="5BA0D0"/>
          </a:solidFill>
          <a:ln w="12700">
            <a:solidFill>
              <a:srgbClr val="5BA0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15819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17830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File System; standard for Linux/Unix; over TCP/IP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46320" y="2121408"/>
            <a:ext cx="3840480" cy="512064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2121408"/>
            <a:ext cx="45720" cy="512064"/>
          </a:xfrm>
          <a:prstGeom prst="rect">
            <a:avLst/>
          </a:prstGeom>
          <a:solidFill>
            <a:srgbClr val="5BA0D0"/>
          </a:solidFill>
          <a:ln w="12700">
            <a:solidFill>
              <a:srgbClr val="5BA0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21671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SMB/CIFS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83480" y="2368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file sharing; used by Windows Server for NAS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46320" y="2706624"/>
            <a:ext cx="3840480" cy="512064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2706624"/>
            <a:ext cx="45720" cy="512064"/>
          </a:xfrm>
          <a:prstGeom prst="rect">
            <a:avLst/>
          </a:prstGeom>
          <a:solidFill>
            <a:srgbClr val="5BA0D0"/>
          </a:solidFill>
          <a:ln w="12700">
            <a:solidFill>
              <a:srgbClr val="5BA0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27523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83480" y="29535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access; object storage &amp; web-facing storage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46320" y="3291840"/>
            <a:ext cx="3840480" cy="512064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46320" y="3291840"/>
            <a:ext cx="45720" cy="512064"/>
          </a:xfrm>
          <a:prstGeom prst="rect">
            <a:avLst/>
          </a:prstGeom>
          <a:solidFill>
            <a:srgbClr val="5BA0D0"/>
          </a:solidFill>
          <a:ln w="12700">
            <a:solidFill>
              <a:srgbClr val="5BA0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3337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FTP/SFTP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83480" y="35387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Protocol; bulk file transfers to/from NAS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30752"/>
          <a:ext cx="4206240" cy="118872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914400"/>
                <a:gridCol w="1280160"/>
              </a:tblGrid>
              <a:tr h="1698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1698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PCIe Bus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GB/s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server (SSD to CPU)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1698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Fibre Channel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Network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Gbps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1698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Cable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 Gbps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to external drive array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1698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iSCSI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Ethernet/TCP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25–100 Gbps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over standard network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1698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Cable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Gbps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Consumer/small business DAS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1698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 / SMB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Ethernet/TCP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1–100 Gbps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0D0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 file sharing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</a:tbl>
          </a:graphicData>
        </a:graphic>
      </p:graphicFrame>
      <p:sp>
        <p:nvSpPr>
          <p:cNvPr id="55" name="Shape 5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51760" cy="3977640"/>
          </a:xfrm>
          <a:prstGeom prst="rect">
            <a:avLst/>
          </a:prstGeom>
          <a:solidFill>
            <a:srgbClr val="1C1C1C"/>
          </a:solidFill>
          <a:ln w="19050">
            <a:solidFill>
              <a:srgbClr val="4CA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713232"/>
            <a:ext cx="1005840" cy="347472"/>
          </a:xfrm>
          <a:prstGeom prst="rect">
            <a:avLst/>
          </a:prstGeom>
          <a:solidFill>
            <a:srgbClr val="1A3A22"/>
          </a:solidFill>
          <a:ln w="19050">
            <a:solidFill>
              <a:srgbClr val="4CAF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713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005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— Simple &amp; Fast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82880" cy="182880"/>
          </a:xfrm>
          <a:prstGeom prst="ellipse">
            <a:avLst/>
          </a:prstGeom>
          <a:solidFill>
            <a:srgbClr val="4CAF6F"/>
          </a:solidFill>
          <a:ln w="12700">
            <a:solidFill>
              <a:srgbClr val="4CA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08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individual servers or workstations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182880" cy="182880"/>
          </a:xfrm>
          <a:prstGeom prst="ellipse">
            <a:avLst/>
          </a:prstGeom>
          <a:solidFill>
            <a:srgbClr val="4CAF6F"/>
          </a:solidFill>
          <a:ln w="12700">
            <a:solidFill>
              <a:srgbClr val="4CAF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overhead — lowest latency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182880" cy="182880"/>
          </a:xfrm>
          <a:prstGeom prst="ellipse">
            <a:avLst/>
          </a:prstGeom>
          <a:solidFill>
            <a:srgbClr val="4CAF6F"/>
          </a:solidFill>
          <a:ln w="12700">
            <a:solidFill>
              <a:srgbClr val="4CAF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697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one server; not scalable for teams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651760" cy="3977640"/>
          </a:xfrm>
          <a:prstGeom prst="rect">
            <a:avLst/>
          </a:prstGeom>
          <a:solidFill>
            <a:srgbClr val="1C1C1C"/>
          </a:solidFill>
          <a:ln w="19050">
            <a:solidFill>
              <a:srgbClr val="5BA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69080" y="713232"/>
            <a:ext cx="1005840" cy="347472"/>
          </a:xfrm>
          <a:prstGeom prst="rect">
            <a:avLst/>
          </a:prstGeom>
          <a:solidFill>
            <a:srgbClr val="1A2535"/>
          </a:solidFill>
          <a:ln w="19050">
            <a:solidFill>
              <a:srgbClr val="5BA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713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1005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— Shared &amp; Accessible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1554480"/>
            <a:ext cx="182880" cy="182880"/>
          </a:xfrm>
          <a:prstGeom prst="ellipse">
            <a:avLst/>
          </a:prstGeom>
          <a:solidFill>
            <a:srgbClr val="5BA0D0"/>
          </a:solidFill>
          <a:ln w="12700">
            <a:solidFill>
              <a:srgbClr val="5BA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1508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file sharing across many users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2148840"/>
            <a:ext cx="182880" cy="182880"/>
          </a:xfrm>
          <a:prstGeom prst="ellipse">
            <a:avLst/>
          </a:prstGeom>
          <a:solidFill>
            <a:srgbClr val="5BA0D0"/>
          </a:solidFill>
          <a:ln w="12700">
            <a:solidFill>
              <a:srgbClr val="5BA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standard Ethernet (Cat6) — cost effective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2743200"/>
            <a:ext cx="182880" cy="182880"/>
          </a:xfrm>
          <a:prstGeom prst="ellipse">
            <a:avLst/>
          </a:prstGeom>
          <a:solidFill>
            <a:srgbClr val="5BA0D0"/>
          </a:solidFill>
          <a:ln w="12700">
            <a:solidFill>
              <a:srgbClr val="5BA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2697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access via NFS (Linux) or SMB (Windows)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822960"/>
            <a:ext cx="2651760" cy="3977640"/>
          </a:xfrm>
          <a:prstGeom prst="rect">
            <a:avLst/>
          </a:prstGeom>
          <a:solidFill>
            <a:srgbClr val="1C1C1C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713232"/>
            <a:ext cx="1005840" cy="347472"/>
          </a:xfrm>
          <a:prstGeom prst="rect">
            <a:avLst/>
          </a:prstGeom>
          <a:solidFill>
            <a:srgbClr val="352A1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713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1005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— Enterprise Grade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1554480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1508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performance via dedicated FC network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2148840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access — OS sees it as a local disk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2743200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26974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&amp; expensive but scales to millions of devices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321040" cy="329184"/>
          </a:xfrm>
          <a:prstGeom prst="rect">
            <a:avLst/>
          </a:prstGeom>
          <a:solidFill>
            <a:srgbClr val="1A16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81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"Choose DAS for speed · NAS for sharing · SAN for enterprise performance"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Storage Architectures: DAS, NAS &amp; SAN</dc:title>
  <dc:subject>PptxGenJS Presentation</dc:subject>
  <dc:creator>PptxGenJS</dc:creator>
  <cp:lastModifiedBy>PptxGenJS</cp:lastModifiedBy>
  <cp:revision>1</cp:revision>
  <dcterms:created xsi:type="dcterms:W3CDTF">2026-04-25T21:49:58Z</dcterms:created>
  <dcterms:modified xsi:type="dcterms:W3CDTF">2026-04-25T21:49:58Z</dcterms:modified>
</cp:coreProperties>
</file>