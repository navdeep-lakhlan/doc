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Semi-Bold" charset="1" panose="00000700000000000000"/>
      <p:regular r:id="rId22"/>
    </p:embeddedFont>
    <p:embeddedFont>
      <p:font typeface="Open Sans Bold" charset="1" panose="00000000000000000000"/>
      <p:regular r:id="rId23"/>
    </p:embeddedFont>
    <p:embeddedFont>
      <p:font typeface="Open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7407" y="3851861"/>
            <a:ext cx="9934827" cy="5439318"/>
          </a:xfrm>
          <a:custGeom>
            <a:avLst/>
            <a:gdLst/>
            <a:ahLst/>
            <a:cxnLst/>
            <a:rect r="r" b="b" t="t" l="l"/>
            <a:pathLst>
              <a:path h="5439318" w="9934827">
                <a:moveTo>
                  <a:pt x="0" y="0"/>
                </a:moveTo>
                <a:lnTo>
                  <a:pt x="9934826" y="0"/>
                </a:lnTo>
                <a:lnTo>
                  <a:pt x="9934826" y="5439318"/>
                </a:lnTo>
                <a:lnTo>
                  <a:pt x="0" y="5439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80692" y="7195922"/>
            <a:ext cx="305896" cy="30589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40356" y="7191577"/>
            <a:ext cx="305896" cy="30589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40356" y="3680830"/>
            <a:ext cx="305896" cy="3058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80692" y="3672139"/>
            <a:ext cx="305896" cy="30589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401841" y="8419188"/>
            <a:ext cx="474021" cy="670852"/>
          </a:xfrm>
          <a:custGeom>
            <a:avLst/>
            <a:gdLst/>
            <a:ahLst/>
            <a:cxnLst/>
            <a:rect r="r" b="b" t="t" l="l"/>
            <a:pathLst>
              <a:path h="670852" w="474021">
                <a:moveTo>
                  <a:pt x="0" y="0"/>
                </a:moveTo>
                <a:lnTo>
                  <a:pt x="474021" y="0"/>
                </a:lnTo>
                <a:lnTo>
                  <a:pt x="474021" y="670852"/>
                </a:lnTo>
                <a:lnTo>
                  <a:pt x="0" y="670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72770" y="3913977"/>
            <a:ext cx="770630" cy="954662"/>
          </a:xfrm>
          <a:custGeom>
            <a:avLst/>
            <a:gdLst/>
            <a:ahLst/>
            <a:cxnLst/>
            <a:rect r="r" b="b" t="t" l="l"/>
            <a:pathLst>
              <a:path h="954662" w="770630">
                <a:moveTo>
                  <a:pt x="0" y="0"/>
                </a:moveTo>
                <a:lnTo>
                  <a:pt x="770631" y="0"/>
                </a:lnTo>
                <a:lnTo>
                  <a:pt x="770631" y="954662"/>
                </a:lnTo>
                <a:lnTo>
                  <a:pt x="0" y="954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82528" y="8337648"/>
            <a:ext cx="1088238" cy="642239"/>
          </a:xfrm>
          <a:custGeom>
            <a:avLst/>
            <a:gdLst/>
            <a:ahLst/>
            <a:cxnLst/>
            <a:rect r="r" b="b" t="t" l="l"/>
            <a:pathLst>
              <a:path h="642239" w="1088238">
                <a:moveTo>
                  <a:pt x="0" y="0"/>
                </a:moveTo>
                <a:lnTo>
                  <a:pt x="1088238" y="0"/>
                </a:lnTo>
                <a:lnTo>
                  <a:pt x="1088238" y="642238"/>
                </a:lnTo>
                <a:lnTo>
                  <a:pt x="0" y="642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15848" y="3976204"/>
            <a:ext cx="522423" cy="627176"/>
          </a:xfrm>
          <a:custGeom>
            <a:avLst/>
            <a:gdLst/>
            <a:ahLst/>
            <a:cxnLst/>
            <a:rect r="r" b="b" t="t" l="l"/>
            <a:pathLst>
              <a:path h="627176" w="522423">
                <a:moveTo>
                  <a:pt x="0" y="0"/>
                </a:moveTo>
                <a:lnTo>
                  <a:pt x="522423" y="0"/>
                </a:lnTo>
                <a:lnTo>
                  <a:pt x="522423" y="627176"/>
                </a:lnTo>
                <a:lnTo>
                  <a:pt x="0" y="627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Center Storage Training 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9250" y="3647910"/>
            <a:ext cx="2477756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Storage Fundamentals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267864"/>
            <a:ext cx="4262172" cy="89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core storage concepts, data types, and centralized management principles.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2857" y="2107877"/>
            <a:ext cx="13882286" cy="59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A comprehensive guide to understanding how storage works, hardware components, protocols, and emerging technologies in modern data centers.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783223"/>
            <a:ext cx="4142525" cy="89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Physical components from drives to facilities, including wiring infrastructure.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0692" y="4267864"/>
            <a:ext cx="3779502" cy="59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DAS, NAS, SAN architectures and protocols like NVMe, FC, iSCSI.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0692" y="7787568"/>
            <a:ext cx="3779502" cy="59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Cloud storage, virtualization, all-flash arrays, and next-gen solutions.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302" y="7163002"/>
            <a:ext cx="2630704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Hardware &amp; Cabling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19938" y="3647910"/>
            <a:ext cx="3167752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Protocols &amp; Architecture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19938" y="7163002"/>
            <a:ext cx="3167752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Emerging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8835" y="8025629"/>
            <a:ext cx="1830330" cy="1232671"/>
            <a:chOff x="0" y="0"/>
            <a:chExt cx="622300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371" y="0"/>
              <a:ext cx="595559" cy="419100"/>
            </a:xfrm>
            <a:custGeom>
              <a:avLst/>
              <a:gdLst/>
              <a:ahLst/>
              <a:cxnLst/>
              <a:rect r="r" b="b" t="t" l="l"/>
              <a:pathLst>
                <a:path h="419100" w="595559">
                  <a:moveTo>
                    <a:pt x="48159" y="0"/>
                  </a:moveTo>
                  <a:lnTo>
                    <a:pt x="547399" y="0"/>
                  </a:lnTo>
                  <a:cubicBezTo>
                    <a:pt x="562209" y="0"/>
                    <a:pt x="576195" y="6814"/>
                    <a:pt x="585323" y="18476"/>
                  </a:cubicBezTo>
                  <a:cubicBezTo>
                    <a:pt x="594451" y="30139"/>
                    <a:pt x="597705" y="45352"/>
                    <a:pt x="594148" y="59728"/>
                  </a:cubicBezTo>
                  <a:lnTo>
                    <a:pt x="519993" y="359372"/>
                  </a:lnTo>
                  <a:cubicBezTo>
                    <a:pt x="511311" y="394456"/>
                    <a:pt x="479825" y="419100"/>
                    <a:pt x="443682" y="419100"/>
                  </a:cubicBezTo>
                  <a:lnTo>
                    <a:pt x="151876" y="419100"/>
                  </a:lnTo>
                  <a:cubicBezTo>
                    <a:pt x="115733" y="419100"/>
                    <a:pt x="84247" y="394456"/>
                    <a:pt x="75564" y="359372"/>
                  </a:cubicBezTo>
                  <a:lnTo>
                    <a:pt x="1410" y="59728"/>
                  </a:lnTo>
                  <a:cubicBezTo>
                    <a:pt x="-2147" y="45352"/>
                    <a:pt x="1107" y="30139"/>
                    <a:pt x="10235" y="18476"/>
                  </a:cubicBezTo>
                  <a:cubicBezTo>
                    <a:pt x="19363" y="6814"/>
                    <a:pt x="33349" y="0"/>
                    <a:pt x="48159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57289" y="6640564"/>
            <a:ext cx="3173423" cy="1232671"/>
            <a:chOff x="0" y="0"/>
            <a:chExt cx="1078943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712" y="0"/>
              <a:ext cx="1063519" cy="419100"/>
            </a:xfrm>
            <a:custGeom>
              <a:avLst/>
              <a:gdLst/>
              <a:ahLst/>
              <a:cxnLst/>
              <a:rect r="r" b="b" t="t" l="l"/>
              <a:pathLst>
                <a:path h="419100" w="1063519">
                  <a:moveTo>
                    <a:pt x="27777" y="0"/>
                  </a:moveTo>
                  <a:lnTo>
                    <a:pt x="1035742" y="0"/>
                  </a:lnTo>
                  <a:cubicBezTo>
                    <a:pt x="1044284" y="0"/>
                    <a:pt x="1052351" y="3930"/>
                    <a:pt x="1057615" y="10657"/>
                  </a:cubicBezTo>
                  <a:cubicBezTo>
                    <a:pt x="1062880" y="17383"/>
                    <a:pt x="1064757" y="26158"/>
                    <a:pt x="1062705" y="34449"/>
                  </a:cubicBezTo>
                  <a:lnTo>
                    <a:pt x="976039" y="384651"/>
                  </a:lnTo>
                  <a:cubicBezTo>
                    <a:pt x="971031" y="404886"/>
                    <a:pt x="952871" y="419100"/>
                    <a:pt x="932025" y="419100"/>
                  </a:cubicBezTo>
                  <a:lnTo>
                    <a:pt x="131493" y="419100"/>
                  </a:lnTo>
                  <a:cubicBezTo>
                    <a:pt x="110647" y="419100"/>
                    <a:pt x="92487" y="404886"/>
                    <a:pt x="87479" y="384651"/>
                  </a:cubicBezTo>
                  <a:lnTo>
                    <a:pt x="813" y="34449"/>
                  </a:lnTo>
                  <a:cubicBezTo>
                    <a:pt x="-1239" y="26158"/>
                    <a:pt x="639" y="17383"/>
                    <a:pt x="5903" y="10657"/>
                  </a:cubicBezTo>
                  <a:cubicBezTo>
                    <a:pt x="11168" y="3930"/>
                    <a:pt x="19235" y="0"/>
                    <a:pt x="27777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47625"/>
              <a:ext cx="824943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4756" y="5255493"/>
            <a:ext cx="4558487" cy="1232671"/>
            <a:chOff x="0" y="0"/>
            <a:chExt cx="1549855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69" y="0"/>
              <a:ext cx="1539118" cy="419100"/>
            </a:xfrm>
            <a:custGeom>
              <a:avLst/>
              <a:gdLst/>
              <a:ahLst/>
              <a:cxnLst/>
              <a:rect r="r" b="b" t="t" l="l"/>
              <a:pathLst>
                <a:path h="419100" w="1539118">
                  <a:moveTo>
                    <a:pt x="19337" y="0"/>
                  </a:moveTo>
                  <a:lnTo>
                    <a:pt x="1519781" y="0"/>
                  </a:lnTo>
                  <a:cubicBezTo>
                    <a:pt x="1525727" y="0"/>
                    <a:pt x="1531343" y="2736"/>
                    <a:pt x="1535008" y="7419"/>
                  </a:cubicBezTo>
                  <a:cubicBezTo>
                    <a:pt x="1538673" y="12101"/>
                    <a:pt x="1539980" y="18210"/>
                    <a:pt x="1538551" y="23982"/>
                  </a:cubicBezTo>
                  <a:lnTo>
                    <a:pt x="1446704" y="395118"/>
                  </a:lnTo>
                  <a:cubicBezTo>
                    <a:pt x="1443218" y="409205"/>
                    <a:pt x="1430576" y="419100"/>
                    <a:pt x="1416064" y="419100"/>
                  </a:cubicBezTo>
                  <a:lnTo>
                    <a:pt x="123053" y="419100"/>
                  </a:lnTo>
                  <a:cubicBezTo>
                    <a:pt x="108541" y="419100"/>
                    <a:pt x="95899" y="409205"/>
                    <a:pt x="92413" y="395118"/>
                  </a:cubicBezTo>
                  <a:lnTo>
                    <a:pt x="566" y="23982"/>
                  </a:lnTo>
                  <a:cubicBezTo>
                    <a:pt x="-863" y="18210"/>
                    <a:pt x="444" y="12101"/>
                    <a:pt x="4109" y="7419"/>
                  </a:cubicBezTo>
                  <a:cubicBezTo>
                    <a:pt x="7774" y="2736"/>
                    <a:pt x="13390" y="0"/>
                    <a:pt x="19337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47625"/>
              <a:ext cx="1295855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72224" y="3870422"/>
            <a:ext cx="5943552" cy="1232671"/>
            <a:chOff x="0" y="0"/>
            <a:chExt cx="2020768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118" y="0"/>
              <a:ext cx="2012533" cy="419100"/>
            </a:xfrm>
            <a:custGeom>
              <a:avLst/>
              <a:gdLst/>
              <a:ahLst/>
              <a:cxnLst/>
              <a:rect r="r" b="b" t="t" l="l"/>
              <a:pathLst>
                <a:path h="419100" w="2012533">
                  <a:moveTo>
                    <a:pt x="14830" y="0"/>
                  </a:moveTo>
                  <a:lnTo>
                    <a:pt x="1997702" y="0"/>
                  </a:lnTo>
                  <a:cubicBezTo>
                    <a:pt x="2002262" y="0"/>
                    <a:pt x="2006570" y="2098"/>
                    <a:pt x="2009381" y="5690"/>
                  </a:cubicBezTo>
                  <a:cubicBezTo>
                    <a:pt x="2012191" y="9281"/>
                    <a:pt x="2013194" y="13966"/>
                    <a:pt x="2012098" y="18394"/>
                  </a:cubicBezTo>
                  <a:lnTo>
                    <a:pt x="1917485" y="400706"/>
                  </a:lnTo>
                  <a:cubicBezTo>
                    <a:pt x="1914811" y="411511"/>
                    <a:pt x="1905115" y="419100"/>
                    <a:pt x="1893985" y="419100"/>
                  </a:cubicBezTo>
                  <a:lnTo>
                    <a:pt x="118547" y="419100"/>
                  </a:lnTo>
                  <a:cubicBezTo>
                    <a:pt x="107417" y="419100"/>
                    <a:pt x="97721" y="411511"/>
                    <a:pt x="95047" y="400706"/>
                  </a:cubicBezTo>
                  <a:lnTo>
                    <a:pt x="434" y="18394"/>
                  </a:lnTo>
                  <a:cubicBezTo>
                    <a:pt x="-662" y="13966"/>
                    <a:pt x="341" y="9281"/>
                    <a:pt x="3152" y="5690"/>
                  </a:cubicBezTo>
                  <a:cubicBezTo>
                    <a:pt x="5963" y="2098"/>
                    <a:pt x="10270" y="0"/>
                    <a:pt x="14830" y="0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47625"/>
              <a:ext cx="1766768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23244" y="7984178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69219" y="6640564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40356" y="4121081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04344" y="5311563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756304" y="3990338"/>
            <a:ext cx="848424" cy="855919"/>
          </a:xfrm>
          <a:custGeom>
            <a:avLst/>
            <a:gdLst/>
            <a:ahLst/>
            <a:cxnLst/>
            <a:rect r="r" b="b" t="t" l="l"/>
            <a:pathLst>
              <a:path h="855919" w="848424">
                <a:moveTo>
                  <a:pt x="0" y="0"/>
                </a:moveTo>
                <a:lnTo>
                  <a:pt x="848425" y="0"/>
                </a:lnTo>
                <a:lnTo>
                  <a:pt x="848425" y="855919"/>
                </a:lnTo>
                <a:lnTo>
                  <a:pt x="0" y="8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740004" y="8316819"/>
            <a:ext cx="808580" cy="650199"/>
          </a:xfrm>
          <a:custGeom>
            <a:avLst/>
            <a:gdLst/>
            <a:ahLst/>
            <a:cxnLst/>
            <a:rect r="r" b="b" t="t" l="l"/>
            <a:pathLst>
              <a:path h="650199" w="808580">
                <a:moveTo>
                  <a:pt x="0" y="0"/>
                </a:moveTo>
                <a:lnTo>
                  <a:pt x="808581" y="0"/>
                </a:lnTo>
                <a:lnTo>
                  <a:pt x="808581" y="650199"/>
                </a:lnTo>
                <a:lnTo>
                  <a:pt x="0" y="650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530175" y="6679435"/>
            <a:ext cx="1115661" cy="1077969"/>
          </a:xfrm>
          <a:custGeom>
            <a:avLst/>
            <a:gdLst/>
            <a:ahLst/>
            <a:cxnLst/>
            <a:rect r="r" b="b" t="t" l="l"/>
            <a:pathLst>
              <a:path h="1077969" w="1115661">
                <a:moveTo>
                  <a:pt x="0" y="0"/>
                </a:moveTo>
                <a:lnTo>
                  <a:pt x="1115661" y="0"/>
                </a:lnTo>
                <a:lnTo>
                  <a:pt x="1115661" y="1077970"/>
                </a:lnTo>
                <a:lnTo>
                  <a:pt x="0" y="1077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602896" y="5454589"/>
            <a:ext cx="1004496" cy="856996"/>
          </a:xfrm>
          <a:custGeom>
            <a:avLst/>
            <a:gdLst/>
            <a:ahLst/>
            <a:cxnLst/>
            <a:rect r="r" b="b" t="t" l="l"/>
            <a:pathLst>
              <a:path h="856996" w="1004496">
                <a:moveTo>
                  <a:pt x="0" y="0"/>
                </a:moveTo>
                <a:lnTo>
                  <a:pt x="1004496" y="0"/>
                </a:lnTo>
                <a:lnTo>
                  <a:pt x="1004496" y="856996"/>
                </a:lnTo>
                <a:lnTo>
                  <a:pt x="0" y="856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Is Data Center Storage?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2098352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A centralized environment for storing, managing, and distributing five key categories of digital information.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9250" y="4078635"/>
            <a:ext cx="2477756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698590"/>
            <a:ext cx="426217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Websites, media files, and streaming content delivery.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57564" y="7222686"/>
            <a:ext cx="4142525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Financial records, CRM systems, and enterprise databases.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04344" y="5897763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Corporate messaging, collaboration tools, and archives.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23244" y="8566299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User applications, AI datasets, and analytics workloads.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957564" y="6602464"/>
            <a:ext cx="2978306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Data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43590" y="5277809"/>
            <a:ext cx="3167752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Email &amp; Communications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62490" y="7941732"/>
            <a:ext cx="3167752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&amp; Big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0975" y="6172200"/>
            <a:ext cx="2942560" cy="3086100"/>
            <a:chOff x="0" y="0"/>
            <a:chExt cx="520700" cy="546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6A4C9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4464" y="6172200"/>
            <a:ext cx="2942560" cy="3086100"/>
            <a:chOff x="0" y="0"/>
            <a:chExt cx="520700" cy="546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2E86A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6050975" y="2860276"/>
            <a:ext cx="2942560" cy="3086100"/>
            <a:chOff x="0" y="0"/>
            <a:chExt cx="5207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D726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294464" y="2860276"/>
            <a:ext cx="2942560" cy="3086100"/>
            <a:chOff x="0" y="0"/>
            <a:chExt cx="520700" cy="546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2CB1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17019" y="7058169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17019" y="3547423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68981" y="7071206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68981" y="3547423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007803" y="4237720"/>
            <a:ext cx="1028215" cy="1037631"/>
          </a:xfrm>
          <a:custGeom>
            <a:avLst/>
            <a:gdLst/>
            <a:ahLst/>
            <a:cxnLst/>
            <a:rect r="r" b="b" t="t" l="l"/>
            <a:pathLst>
              <a:path h="1037631" w="1028215">
                <a:moveTo>
                  <a:pt x="0" y="0"/>
                </a:moveTo>
                <a:lnTo>
                  <a:pt x="1028215" y="0"/>
                </a:lnTo>
                <a:lnTo>
                  <a:pt x="1028215" y="1037631"/>
                </a:lnTo>
                <a:lnTo>
                  <a:pt x="0" y="1037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79277" y="6492696"/>
            <a:ext cx="1350126" cy="1251897"/>
          </a:xfrm>
          <a:custGeom>
            <a:avLst/>
            <a:gdLst/>
            <a:ahLst/>
            <a:cxnLst/>
            <a:rect r="r" b="b" t="t" l="l"/>
            <a:pathLst>
              <a:path h="1251897" w="1350126">
                <a:moveTo>
                  <a:pt x="0" y="0"/>
                </a:moveTo>
                <a:lnTo>
                  <a:pt x="1350126" y="0"/>
                </a:lnTo>
                <a:lnTo>
                  <a:pt x="1350126" y="1251897"/>
                </a:lnTo>
                <a:lnTo>
                  <a:pt x="0" y="1251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72678" y="4199113"/>
            <a:ext cx="986140" cy="1190309"/>
          </a:xfrm>
          <a:custGeom>
            <a:avLst/>
            <a:gdLst/>
            <a:ahLst/>
            <a:cxnLst/>
            <a:rect r="r" b="b" t="t" l="l"/>
            <a:pathLst>
              <a:path h="1190309" w="986140">
                <a:moveTo>
                  <a:pt x="0" y="0"/>
                </a:moveTo>
                <a:lnTo>
                  <a:pt x="986140" y="0"/>
                </a:lnTo>
                <a:lnTo>
                  <a:pt x="986140" y="1190309"/>
                </a:lnTo>
                <a:lnTo>
                  <a:pt x="0" y="1190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162701" y="5980165"/>
            <a:ext cx="1466893" cy="2561362"/>
          </a:xfrm>
          <a:custGeom>
            <a:avLst/>
            <a:gdLst/>
            <a:ahLst/>
            <a:cxnLst/>
            <a:rect r="r" b="b" t="t" l="l"/>
            <a:pathLst>
              <a:path h="2561362" w="1466893">
                <a:moveTo>
                  <a:pt x="0" y="0"/>
                </a:moveTo>
                <a:lnTo>
                  <a:pt x="1466893" y="0"/>
                </a:lnTo>
                <a:lnTo>
                  <a:pt x="1466893" y="2561362"/>
                </a:lnTo>
                <a:lnTo>
                  <a:pt x="0" y="2561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Why Storage Is Important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the critical factors that make data center storage essential for modern enterprises.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509323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Accessibility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129278"/>
            <a:ext cx="3761623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24/7 data retrieval for critical business services and operations.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8524" y="7640290"/>
            <a:ext cx="3641975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Expand storage capacity without rebuilding infrastructure.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7020069"/>
            <a:ext cx="3069950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Scalability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8981" y="4133623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Encryption, firewalls, and physical controls protect data.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68981" y="7653327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Deduplication and compression reduce operational expenses.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08228" y="3513668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08228" y="7028760"/>
            <a:ext cx="352773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 Efficiency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1308">
            <a:off x="12081379" y="3883103"/>
            <a:ext cx="3086100" cy="2078394"/>
            <a:chOff x="0" y="0"/>
            <a:chExt cx="622300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39054">
            <a:off x="9753774" y="5202995"/>
            <a:ext cx="3086100" cy="2078394"/>
            <a:chOff x="0" y="0"/>
            <a:chExt cx="622300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4408137">
            <a:off x="8318480" y="7472846"/>
            <a:ext cx="3086100" cy="2078394"/>
            <a:chOff x="0" y="0"/>
            <a:chExt cx="6223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76720">
            <a:off x="14766974" y="3864541"/>
            <a:ext cx="3086100" cy="2078394"/>
            <a:chOff x="0" y="0"/>
            <a:chExt cx="6223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15836" y="7984178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48051" y="3110915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12757" y="4791785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6647" y="6395997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029280" y="4169229"/>
            <a:ext cx="730703" cy="1242195"/>
          </a:xfrm>
          <a:custGeom>
            <a:avLst/>
            <a:gdLst/>
            <a:ahLst/>
            <a:cxnLst/>
            <a:rect r="r" b="b" t="t" l="l"/>
            <a:pathLst>
              <a:path h="1242195" w="730703">
                <a:moveTo>
                  <a:pt x="0" y="0"/>
                </a:moveTo>
                <a:lnTo>
                  <a:pt x="730703" y="0"/>
                </a:lnTo>
                <a:lnTo>
                  <a:pt x="730703" y="1242196"/>
                </a:lnTo>
                <a:lnTo>
                  <a:pt x="0" y="124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124740" y="4349808"/>
            <a:ext cx="1038692" cy="820695"/>
          </a:xfrm>
          <a:custGeom>
            <a:avLst/>
            <a:gdLst/>
            <a:ahLst/>
            <a:cxnLst/>
            <a:rect r="r" b="b" t="t" l="l"/>
            <a:pathLst>
              <a:path h="820695" w="1038692">
                <a:moveTo>
                  <a:pt x="0" y="0"/>
                </a:moveTo>
                <a:lnTo>
                  <a:pt x="1038692" y="0"/>
                </a:lnTo>
                <a:lnTo>
                  <a:pt x="1038692" y="820696"/>
                </a:lnTo>
                <a:lnTo>
                  <a:pt x="0" y="820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43651" y="5723638"/>
            <a:ext cx="902230" cy="1370126"/>
          </a:xfrm>
          <a:custGeom>
            <a:avLst/>
            <a:gdLst/>
            <a:ahLst/>
            <a:cxnLst/>
            <a:rect r="r" b="b" t="t" l="l"/>
            <a:pathLst>
              <a:path h="1370126" w="902230">
                <a:moveTo>
                  <a:pt x="0" y="0"/>
                </a:moveTo>
                <a:lnTo>
                  <a:pt x="902229" y="0"/>
                </a:lnTo>
                <a:lnTo>
                  <a:pt x="902229" y="1370125"/>
                </a:lnTo>
                <a:lnTo>
                  <a:pt x="0" y="1370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041144" y="7974374"/>
            <a:ext cx="1346536" cy="1222636"/>
          </a:xfrm>
          <a:custGeom>
            <a:avLst/>
            <a:gdLst/>
            <a:ahLst/>
            <a:cxnLst/>
            <a:rect r="r" b="b" t="t" l="l"/>
            <a:pathLst>
              <a:path h="1222636" w="1346536">
                <a:moveTo>
                  <a:pt x="0" y="0"/>
                </a:moveTo>
                <a:lnTo>
                  <a:pt x="1346535" y="0"/>
                </a:lnTo>
                <a:lnTo>
                  <a:pt x="1346535" y="1222636"/>
                </a:lnTo>
                <a:lnTo>
                  <a:pt x="0" y="1222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Hardware Components &amp; Physical Layout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88030"/>
            <a:ext cx="13882286" cy="2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the hierarchical structure from individual drives to complete data center facilities.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49751" y="3072815"/>
            <a:ext cx="2927913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Drive &amp; Tray Level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64614" y="4753685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Rack &amp; Row Level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48504" y="6357897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Hall Level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49751" y="3740394"/>
            <a:ext cx="3761623" cy="57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Individual drives (1-30 TB) housed in trays for organized deployment.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64614" y="5383165"/>
            <a:ext cx="3761623" cy="57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Multiple trays form racks (1 PB+), arranged in rows for efficiency.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48504" y="6987377"/>
            <a:ext cx="3761623" cy="57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Rows combine into data halls supporting 1-100 PB capacity.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7517" y="8575824"/>
            <a:ext cx="3641975" cy="57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7"/>
              </a:lnSpc>
              <a:spcBef>
                <a:spcPct val="0"/>
              </a:spcBef>
            </a:pPr>
            <a:r>
              <a:rPr lang="en-US" sz="1705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Complete facilities house multiple halls achieving multi-petabyte scale.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7517" y="7946078"/>
            <a:ext cx="3069950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Facility Level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43500"/>
            <a:ext cx="4578760" cy="1543050"/>
            <a:chOff x="0" y="0"/>
            <a:chExt cx="1205929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59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05929">
                  <a:moveTo>
                    <a:pt x="100272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02729" y="406400"/>
                  </a:lnTo>
                  <a:lnTo>
                    <a:pt x="1205929" y="203200"/>
                  </a:lnTo>
                  <a:lnTo>
                    <a:pt x="1002729" y="0"/>
                  </a:ln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47625"/>
              <a:ext cx="90112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34004" y="5915025"/>
            <a:ext cx="4578760" cy="1543050"/>
            <a:chOff x="0" y="0"/>
            <a:chExt cx="120592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59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05929">
                  <a:moveTo>
                    <a:pt x="100272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02729" y="406400"/>
                  </a:lnTo>
                  <a:lnTo>
                    <a:pt x="1205929" y="203200"/>
                  </a:lnTo>
                  <a:lnTo>
                    <a:pt x="1002729" y="0"/>
                  </a:ln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-47625"/>
              <a:ext cx="90112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24150" y="5143500"/>
            <a:ext cx="4578760" cy="1543050"/>
            <a:chOff x="0" y="0"/>
            <a:chExt cx="120592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59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05929">
                  <a:moveTo>
                    <a:pt x="100272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02729" y="406400"/>
                  </a:lnTo>
                  <a:lnTo>
                    <a:pt x="1205929" y="203200"/>
                  </a:lnTo>
                  <a:lnTo>
                    <a:pt x="1002729" y="0"/>
                  </a:ln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47625"/>
              <a:ext cx="90112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88553" y="5915025"/>
            <a:ext cx="4578760" cy="1543050"/>
            <a:chOff x="0" y="0"/>
            <a:chExt cx="1205929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5929" cy="406400"/>
            </a:xfrm>
            <a:custGeom>
              <a:avLst/>
              <a:gdLst/>
              <a:ahLst/>
              <a:cxnLst/>
              <a:rect r="r" b="b" t="t" l="l"/>
              <a:pathLst>
                <a:path h="406400" w="1205929">
                  <a:moveTo>
                    <a:pt x="100272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02729" y="406400"/>
                  </a:lnTo>
                  <a:lnTo>
                    <a:pt x="1205929" y="203200"/>
                  </a:lnTo>
                  <a:lnTo>
                    <a:pt x="1002729" y="0"/>
                  </a:ln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-47625"/>
              <a:ext cx="90112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651548" y="5090965"/>
            <a:ext cx="1339468" cy="1363246"/>
          </a:xfrm>
          <a:custGeom>
            <a:avLst/>
            <a:gdLst/>
            <a:ahLst/>
            <a:cxnLst/>
            <a:rect r="r" b="b" t="t" l="l"/>
            <a:pathLst>
              <a:path h="1363246" w="1339468">
                <a:moveTo>
                  <a:pt x="0" y="0"/>
                </a:moveTo>
                <a:lnTo>
                  <a:pt x="1339468" y="0"/>
                </a:lnTo>
                <a:lnTo>
                  <a:pt x="1339468" y="1363246"/>
                </a:lnTo>
                <a:lnTo>
                  <a:pt x="0" y="1363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087066" y="5564170"/>
            <a:ext cx="811504" cy="2526082"/>
          </a:xfrm>
          <a:custGeom>
            <a:avLst/>
            <a:gdLst/>
            <a:ahLst/>
            <a:cxnLst/>
            <a:rect r="r" b="b" t="t" l="l"/>
            <a:pathLst>
              <a:path h="2526082" w="811504">
                <a:moveTo>
                  <a:pt x="0" y="0"/>
                </a:moveTo>
                <a:lnTo>
                  <a:pt x="811504" y="0"/>
                </a:lnTo>
                <a:lnTo>
                  <a:pt x="811504" y="2526081"/>
                </a:lnTo>
                <a:lnTo>
                  <a:pt x="0" y="2526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14575" y="5297775"/>
            <a:ext cx="838118" cy="1028293"/>
          </a:xfrm>
          <a:custGeom>
            <a:avLst/>
            <a:gdLst/>
            <a:ahLst/>
            <a:cxnLst/>
            <a:rect r="r" b="b" t="t" l="l"/>
            <a:pathLst>
              <a:path h="1028293" w="838118">
                <a:moveTo>
                  <a:pt x="0" y="0"/>
                </a:moveTo>
                <a:lnTo>
                  <a:pt x="838118" y="0"/>
                </a:lnTo>
                <a:lnTo>
                  <a:pt x="838118" y="1028294"/>
                </a:lnTo>
                <a:lnTo>
                  <a:pt x="0" y="1028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16652" y="5996823"/>
            <a:ext cx="1500787" cy="1078690"/>
          </a:xfrm>
          <a:custGeom>
            <a:avLst/>
            <a:gdLst/>
            <a:ahLst/>
            <a:cxnLst/>
            <a:rect r="r" b="b" t="t" l="l"/>
            <a:pathLst>
              <a:path h="1078690" w="1500787">
                <a:moveTo>
                  <a:pt x="0" y="0"/>
                </a:moveTo>
                <a:lnTo>
                  <a:pt x="1500787" y="0"/>
                </a:lnTo>
                <a:lnTo>
                  <a:pt x="1500787" y="1078691"/>
                </a:lnTo>
                <a:lnTo>
                  <a:pt x="0" y="1078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Wiring &amp; Cabling Infrastructure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02857" y="1978505"/>
            <a:ext cx="13882286" cy="32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6"/>
              </a:lnSpc>
              <a:spcBef>
                <a:spcPct val="0"/>
              </a:spcBef>
            </a:pPr>
            <a:r>
              <a:rPr lang="en-US" sz="1883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cable types and routing paths for optimal data center connectivity.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66902" y="8036148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Fibre Channel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29074" y="3713833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Ethernet Cat6/6A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43708" y="8036148"/>
            <a:ext cx="2939644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SATA/SAS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54763" y="3713833"/>
            <a:ext cx="4095963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PCIe &amp; Twinax DAC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4694" y="8566299"/>
            <a:ext cx="4262172" cy="65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6"/>
              </a:lnSpc>
              <a:spcBef>
                <a:spcPct val="0"/>
              </a:spcBef>
            </a:pPr>
            <a:r>
              <a:rPr lang="en-US" sz="1883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High-speed SAN connectivity via overhead trays for enterprise storage.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36866" y="4243983"/>
            <a:ext cx="4262172" cy="65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6"/>
              </a:lnSpc>
              <a:spcBef>
                <a:spcPct val="0"/>
              </a:spcBef>
            </a:pPr>
            <a:r>
              <a:rPr lang="en-US" sz="1883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Network connectivity through raised floor trays for LAN infrastructure.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82444" y="8504424"/>
            <a:ext cx="4262172" cy="65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6"/>
              </a:lnSpc>
              <a:spcBef>
                <a:spcPct val="0"/>
              </a:spcBef>
            </a:pPr>
            <a:r>
              <a:rPr lang="en-US" sz="1883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Internal drive connections within rack enclosures.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88553" y="4243983"/>
            <a:ext cx="4262172" cy="65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6"/>
              </a:lnSpc>
              <a:spcBef>
                <a:spcPct val="0"/>
              </a:spcBef>
            </a:pPr>
            <a:r>
              <a:rPr lang="en-US" sz="1883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Direct attach cables for short-range high-bandwidth links.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20703" y="4550287"/>
            <a:ext cx="1818690" cy="18186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95073" y="4550287"/>
            <a:ext cx="1818690" cy="1818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44418" y="5468055"/>
            <a:ext cx="1848509" cy="184850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118788" y="5468055"/>
            <a:ext cx="1848509" cy="184850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88934" y="6234336"/>
            <a:ext cx="1082228" cy="108222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63304" y="6234336"/>
            <a:ext cx="1082228" cy="108222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18686" y="4501396"/>
            <a:ext cx="1099973" cy="109997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5397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93056" y="4501396"/>
            <a:ext cx="1099973" cy="109997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5397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72648" y="3996025"/>
            <a:ext cx="4114800" cy="2062003"/>
          </a:xfrm>
          <a:custGeom>
            <a:avLst/>
            <a:gdLst/>
            <a:ahLst/>
            <a:cxnLst/>
            <a:rect r="r" b="b" t="t" l="l"/>
            <a:pathLst>
              <a:path h="2062003" w="4114800">
                <a:moveTo>
                  <a:pt x="0" y="0"/>
                </a:moveTo>
                <a:lnTo>
                  <a:pt x="4114800" y="0"/>
                </a:lnTo>
                <a:lnTo>
                  <a:pt x="4114800" y="2062003"/>
                </a:lnTo>
                <a:lnTo>
                  <a:pt x="0" y="2062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99553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045427" y="3996025"/>
            <a:ext cx="4114800" cy="2062003"/>
          </a:xfrm>
          <a:custGeom>
            <a:avLst/>
            <a:gdLst/>
            <a:ahLst/>
            <a:cxnLst/>
            <a:rect r="r" b="b" t="t" l="l"/>
            <a:pathLst>
              <a:path h="2062003" w="4114800">
                <a:moveTo>
                  <a:pt x="0" y="0"/>
                </a:moveTo>
                <a:lnTo>
                  <a:pt x="4114800" y="0"/>
                </a:lnTo>
                <a:lnTo>
                  <a:pt x="4114800" y="2062003"/>
                </a:lnTo>
                <a:lnTo>
                  <a:pt x="0" y="2062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99553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0">
            <a:off x="5111273" y="6058028"/>
            <a:ext cx="4114800" cy="2062003"/>
          </a:xfrm>
          <a:custGeom>
            <a:avLst/>
            <a:gdLst/>
            <a:ahLst/>
            <a:cxnLst/>
            <a:rect r="r" b="b" t="t" l="l"/>
            <a:pathLst>
              <a:path h="2062003" w="4114800">
                <a:moveTo>
                  <a:pt x="0" y="2062003"/>
                </a:moveTo>
                <a:lnTo>
                  <a:pt x="4114800" y="2062003"/>
                </a:lnTo>
                <a:lnTo>
                  <a:pt x="4114800" y="0"/>
                </a:lnTo>
                <a:lnTo>
                  <a:pt x="0" y="0"/>
                </a:lnTo>
                <a:lnTo>
                  <a:pt x="0" y="206200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99553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true" rot="0">
            <a:off x="12984052" y="6058028"/>
            <a:ext cx="4114800" cy="2062003"/>
          </a:xfrm>
          <a:custGeom>
            <a:avLst/>
            <a:gdLst/>
            <a:ahLst/>
            <a:cxnLst/>
            <a:rect r="r" b="b" t="t" l="l"/>
            <a:pathLst>
              <a:path h="2062003" w="4114800">
                <a:moveTo>
                  <a:pt x="0" y="2062003"/>
                </a:moveTo>
                <a:lnTo>
                  <a:pt x="4114800" y="2062003"/>
                </a:lnTo>
                <a:lnTo>
                  <a:pt x="4114800" y="0"/>
                </a:lnTo>
                <a:lnTo>
                  <a:pt x="0" y="0"/>
                </a:lnTo>
                <a:lnTo>
                  <a:pt x="0" y="206200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99553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790289" y="4970541"/>
            <a:ext cx="682097" cy="1084395"/>
          </a:xfrm>
          <a:custGeom>
            <a:avLst/>
            <a:gdLst/>
            <a:ahLst/>
            <a:cxnLst/>
            <a:rect r="r" b="b" t="t" l="l"/>
            <a:pathLst>
              <a:path h="1084395" w="682097">
                <a:moveTo>
                  <a:pt x="0" y="0"/>
                </a:moveTo>
                <a:lnTo>
                  <a:pt x="682096" y="0"/>
                </a:lnTo>
                <a:lnTo>
                  <a:pt x="682096" y="1084395"/>
                </a:lnTo>
                <a:lnTo>
                  <a:pt x="0" y="10843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673610" y="6022072"/>
            <a:ext cx="817198" cy="721289"/>
          </a:xfrm>
          <a:custGeom>
            <a:avLst/>
            <a:gdLst/>
            <a:ahLst/>
            <a:cxnLst/>
            <a:rect r="r" b="b" t="t" l="l"/>
            <a:pathLst>
              <a:path h="721289" w="817198">
                <a:moveTo>
                  <a:pt x="0" y="0"/>
                </a:moveTo>
                <a:lnTo>
                  <a:pt x="817198" y="0"/>
                </a:lnTo>
                <a:lnTo>
                  <a:pt x="817198" y="721289"/>
                </a:lnTo>
                <a:lnTo>
                  <a:pt x="0" y="7212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836941" y="5933144"/>
            <a:ext cx="628763" cy="967222"/>
          </a:xfrm>
          <a:custGeom>
            <a:avLst/>
            <a:gdLst/>
            <a:ahLst/>
            <a:cxnLst/>
            <a:rect r="r" b="b" t="t" l="l"/>
            <a:pathLst>
              <a:path h="967222" w="628763">
                <a:moveTo>
                  <a:pt x="0" y="0"/>
                </a:moveTo>
                <a:lnTo>
                  <a:pt x="628763" y="0"/>
                </a:lnTo>
                <a:lnTo>
                  <a:pt x="628763" y="967221"/>
                </a:lnTo>
                <a:lnTo>
                  <a:pt x="0" y="9672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830783" y="4834537"/>
            <a:ext cx="853324" cy="1116470"/>
          </a:xfrm>
          <a:custGeom>
            <a:avLst/>
            <a:gdLst/>
            <a:ahLst/>
            <a:cxnLst/>
            <a:rect r="r" b="b" t="t" l="l"/>
            <a:pathLst>
              <a:path h="1116470" w="853324">
                <a:moveTo>
                  <a:pt x="0" y="0"/>
                </a:moveTo>
                <a:lnTo>
                  <a:pt x="853324" y="0"/>
                </a:lnTo>
                <a:lnTo>
                  <a:pt x="853324" y="1116470"/>
                </a:lnTo>
                <a:lnTo>
                  <a:pt x="0" y="11164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Storage Architectures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the four primary storage architecture approaches for modern data centers.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1170" y="8036148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23402" y="8036148"/>
            <a:ext cx="2962031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47198" y="3028639"/>
            <a:ext cx="2962031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Hybrid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10811" y="2955623"/>
            <a:ext cx="3567374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8962" y="8566299"/>
            <a:ext cx="426217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Direct-Attached Storage with fastest latency and simple connectivity.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73331" y="8504424"/>
            <a:ext cx="426217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Dedicated high-speed network for enterprise-grade performance.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97128" y="3496914"/>
            <a:ext cx="426217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Combines on-premise and cloud for flexible scalability.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63412" y="3527852"/>
            <a:ext cx="426217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Network-Attached Storage enabling multi-user file sharing.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1392" y="2675589"/>
            <a:ext cx="7775082" cy="7721387"/>
          </a:xfrm>
          <a:custGeom>
            <a:avLst/>
            <a:gdLst/>
            <a:ahLst/>
            <a:cxnLst/>
            <a:rect r="r" b="b" t="t" l="l"/>
            <a:pathLst>
              <a:path h="7721387" w="7775082">
                <a:moveTo>
                  <a:pt x="0" y="0"/>
                </a:moveTo>
                <a:lnTo>
                  <a:pt x="7775082" y="0"/>
                </a:lnTo>
                <a:lnTo>
                  <a:pt x="7775082" y="7721386"/>
                </a:lnTo>
                <a:lnTo>
                  <a:pt x="0" y="772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80692" y="7195922"/>
            <a:ext cx="305896" cy="30589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40356" y="7191577"/>
            <a:ext cx="305896" cy="30589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40356" y="3680830"/>
            <a:ext cx="305896" cy="3058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80692" y="3672139"/>
            <a:ext cx="305896" cy="30589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107002" y="8359195"/>
            <a:ext cx="1067077" cy="793626"/>
          </a:xfrm>
          <a:custGeom>
            <a:avLst/>
            <a:gdLst/>
            <a:ahLst/>
            <a:cxnLst/>
            <a:rect r="r" b="b" t="t" l="l"/>
            <a:pathLst>
              <a:path h="793626" w="1067077">
                <a:moveTo>
                  <a:pt x="0" y="0"/>
                </a:moveTo>
                <a:lnTo>
                  <a:pt x="1067077" y="0"/>
                </a:lnTo>
                <a:lnTo>
                  <a:pt x="1067077" y="793626"/>
                </a:lnTo>
                <a:lnTo>
                  <a:pt x="0" y="793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86665" y="4007407"/>
            <a:ext cx="741389" cy="795133"/>
          </a:xfrm>
          <a:custGeom>
            <a:avLst/>
            <a:gdLst/>
            <a:ahLst/>
            <a:cxnLst/>
            <a:rect r="r" b="b" t="t" l="l"/>
            <a:pathLst>
              <a:path h="795133" w="741389">
                <a:moveTo>
                  <a:pt x="0" y="0"/>
                </a:moveTo>
                <a:lnTo>
                  <a:pt x="741389" y="0"/>
                </a:lnTo>
                <a:lnTo>
                  <a:pt x="741389" y="795133"/>
                </a:lnTo>
                <a:lnTo>
                  <a:pt x="0" y="7951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693916" y="8265526"/>
            <a:ext cx="869343" cy="870836"/>
          </a:xfrm>
          <a:custGeom>
            <a:avLst/>
            <a:gdLst/>
            <a:ahLst/>
            <a:cxnLst/>
            <a:rect r="r" b="b" t="t" l="l"/>
            <a:pathLst>
              <a:path h="870836" w="869343">
                <a:moveTo>
                  <a:pt x="0" y="0"/>
                </a:moveTo>
                <a:lnTo>
                  <a:pt x="869342" y="0"/>
                </a:lnTo>
                <a:lnTo>
                  <a:pt x="869342" y="870836"/>
                </a:lnTo>
                <a:lnTo>
                  <a:pt x="0" y="870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36923" y="3966549"/>
            <a:ext cx="682229" cy="652257"/>
          </a:xfrm>
          <a:custGeom>
            <a:avLst/>
            <a:gdLst/>
            <a:ahLst/>
            <a:cxnLst/>
            <a:rect r="r" b="b" t="t" l="l"/>
            <a:pathLst>
              <a:path h="652257" w="682229">
                <a:moveTo>
                  <a:pt x="0" y="0"/>
                </a:moveTo>
                <a:lnTo>
                  <a:pt x="682230" y="0"/>
                </a:lnTo>
                <a:lnTo>
                  <a:pt x="682230" y="652257"/>
                </a:lnTo>
                <a:lnTo>
                  <a:pt x="0" y="6522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DAS Architecture Flow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9250" y="3628860"/>
            <a:ext cx="2477756" cy="34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  <a:spcBef>
                <a:spcPct val="0"/>
              </a:spcBef>
            </a:pPr>
            <a:r>
              <a:rPr lang="en-US" b="true" sz="1946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Request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258339"/>
            <a:ext cx="426217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Application initiates file access request to retrieve or store data from local storage.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2857" y="2098352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Direct-Attached Storage provides the fastest latency with direct cable connections between server and storage drives.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773698"/>
            <a:ext cx="4142525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Operating system translates request into block-level SCSI/SATA commands.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0692" y="4258339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RAID controller identifies target drive and manages data striping or mirroring.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0692" y="7778043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Retrieved data is sent directly to server RAM for application processing.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302" y="7143952"/>
            <a:ext cx="2630704" cy="34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  <a:spcBef>
                <a:spcPct val="0"/>
              </a:spcBef>
            </a:pPr>
            <a:r>
              <a:rPr lang="en-US" b="true" sz="1946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 Block Command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19938" y="3628860"/>
            <a:ext cx="3167752" cy="34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  <a:spcBef>
                <a:spcPct val="0"/>
              </a:spcBef>
            </a:pPr>
            <a:r>
              <a:rPr lang="en-US" b="true" sz="1946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RAID Controller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19938" y="7143952"/>
            <a:ext cx="3167752" cy="34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  <a:spcBef>
                <a:spcPct val="0"/>
              </a:spcBef>
            </a:pPr>
            <a:r>
              <a:rPr lang="en-US" b="true" sz="1946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to 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1092" y="2684717"/>
            <a:ext cx="7776710" cy="8116619"/>
          </a:xfrm>
          <a:custGeom>
            <a:avLst/>
            <a:gdLst/>
            <a:ahLst/>
            <a:cxnLst/>
            <a:rect r="r" b="b" t="t" l="l"/>
            <a:pathLst>
              <a:path h="8116619" w="7776710">
                <a:moveTo>
                  <a:pt x="0" y="0"/>
                </a:moveTo>
                <a:lnTo>
                  <a:pt x="7776711" y="0"/>
                </a:lnTo>
                <a:lnTo>
                  <a:pt x="7776711" y="8116620"/>
                </a:lnTo>
                <a:lnTo>
                  <a:pt x="0" y="811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80692" y="7195922"/>
            <a:ext cx="305896" cy="30589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40356" y="7191577"/>
            <a:ext cx="305896" cy="30589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40356" y="3680830"/>
            <a:ext cx="305896" cy="3058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80692" y="3672139"/>
            <a:ext cx="305896" cy="30589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973586" y="8470373"/>
            <a:ext cx="1330516" cy="564405"/>
          </a:xfrm>
          <a:custGeom>
            <a:avLst/>
            <a:gdLst/>
            <a:ahLst/>
            <a:cxnLst/>
            <a:rect r="r" b="b" t="t" l="l"/>
            <a:pathLst>
              <a:path h="564405" w="1330516">
                <a:moveTo>
                  <a:pt x="0" y="0"/>
                </a:moveTo>
                <a:lnTo>
                  <a:pt x="1330516" y="0"/>
                </a:lnTo>
                <a:lnTo>
                  <a:pt x="1330516" y="564406"/>
                </a:lnTo>
                <a:lnTo>
                  <a:pt x="0" y="56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30386" y="4036628"/>
            <a:ext cx="726243" cy="710014"/>
          </a:xfrm>
          <a:custGeom>
            <a:avLst/>
            <a:gdLst/>
            <a:ahLst/>
            <a:cxnLst/>
            <a:rect r="r" b="b" t="t" l="l"/>
            <a:pathLst>
              <a:path h="710014" w="726243">
                <a:moveTo>
                  <a:pt x="0" y="0"/>
                </a:moveTo>
                <a:lnTo>
                  <a:pt x="726243" y="0"/>
                </a:lnTo>
                <a:lnTo>
                  <a:pt x="726243" y="710014"/>
                </a:lnTo>
                <a:lnTo>
                  <a:pt x="0" y="71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92850" y="8397693"/>
            <a:ext cx="478931" cy="593148"/>
          </a:xfrm>
          <a:custGeom>
            <a:avLst/>
            <a:gdLst/>
            <a:ahLst/>
            <a:cxnLst/>
            <a:rect r="r" b="b" t="t" l="l"/>
            <a:pathLst>
              <a:path h="593148" w="478931">
                <a:moveTo>
                  <a:pt x="0" y="0"/>
                </a:moveTo>
                <a:lnTo>
                  <a:pt x="478931" y="0"/>
                </a:lnTo>
                <a:lnTo>
                  <a:pt x="478931" y="593148"/>
                </a:lnTo>
                <a:lnTo>
                  <a:pt x="0" y="59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35970" y="3870188"/>
            <a:ext cx="677549" cy="720638"/>
          </a:xfrm>
          <a:custGeom>
            <a:avLst/>
            <a:gdLst/>
            <a:ahLst/>
            <a:cxnLst/>
            <a:rect r="r" b="b" t="t" l="l"/>
            <a:pathLst>
              <a:path h="720638" w="677549">
                <a:moveTo>
                  <a:pt x="0" y="0"/>
                </a:moveTo>
                <a:lnTo>
                  <a:pt x="677549" y="0"/>
                </a:lnTo>
                <a:lnTo>
                  <a:pt x="677549" y="720639"/>
                </a:lnTo>
                <a:lnTo>
                  <a:pt x="0" y="720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NAS Architecture Flow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9250" y="3638385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Request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258339"/>
            <a:ext cx="426217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User or application initiates a file request through the network interface.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2857" y="2098352"/>
            <a:ext cx="13882286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Network-Attached Storage enables multi-user file access over Ethernet, providing shared storage with moderate speed and excellent accessibility.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773698"/>
            <a:ext cx="4142525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Request travels via Ethernet switch to the NAS device over the local network.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0692" y="4258339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NAS operating system processes the request and locates the requested file.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0692" y="7778043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Data is returned over the network to the requesting user or application.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302" y="7153477"/>
            <a:ext cx="2630704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Ethernet Switch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19938" y="3638385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NAS OS Locates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19938" y="7153477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File Returned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629" y="3854776"/>
            <a:ext cx="8794765" cy="5408780"/>
          </a:xfrm>
          <a:custGeom>
            <a:avLst/>
            <a:gdLst/>
            <a:ahLst/>
            <a:cxnLst/>
            <a:rect r="r" b="b" t="t" l="l"/>
            <a:pathLst>
              <a:path h="5408780" w="8794765">
                <a:moveTo>
                  <a:pt x="0" y="0"/>
                </a:moveTo>
                <a:lnTo>
                  <a:pt x="8794765" y="0"/>
                </a:lnTo>
                <a:lnTo>
                  <a:pt x="8794765" y="5408780"/>
                </a:lnTo>
                <a:lnTo>
                  <a:pt x="0" y="540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80692" y="7195922"/>
            <a:ext cx="305896" cy="30589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40356" y="7191577"/>
            <a:ext cx="305896" cy="30589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40356" y="3680830"/>
            <a:ext cx="305896" cy="3058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80692" y="3672139"/>
            <a:ext cx="305896" cy="30589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387971" y="8431267"/>
            <a:ext cx="499964" cy="647555"/>
          </a:xfrm>
          <a:custGeom>
            <a:avLst/>
            <a:gdLst/>
            <a:ahLst/>
            <a:cxnLst/>
            <a:rect r="r" b="b" t="t" l="l"/>
            <a:pathLst>
              <a:path h="647555" w="499964">
                <a:moveTo>
                  <a:pt x="0" y="0"/>
                </a:moveTo>
                <a:lnTo>
                  <a:pt x="499964" y="0"/>
                </a:lnTo>
                <a:lnTo>
                  <a:pt x="499964" y="647555"/>
                </a:lnTo>
                <a:lnTo>
                  <a:pt x="0" y="647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72523" y="4140829"/>
            <a:ext cx="1164889" cy="516136"/>
          </a:xfrm>
          <a:custGeom>
            <a:avLst/>
            <a:gdLst/>
            <a:ahLst/>
            <a:cxnLst/>
            <a:rect r="r" b="b" t="t" l="l"/>
            <a:pathLst>
              <a:path h="516136" w="1164889">
                <a:moveTo>
                  <a:pt x="0" y="0"/>
                </a:moveTo>
                <a:lnTo>
                  <a:pt x="1164889" y="0"/>
                </a:lnTo>
                <a:lnTo>
                  <a:pt x="1164889" y="516135"/>
                </a:lnTo>
                <a:lnTo>
                  <a:pt x="0" y="516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656548" y="8308334"/>
            <a:ext cx="942184" cy="792204"/>
          </a:xfrm>
          <a:custGeom>
            <a:avLst/>
            <a:gdLst/>
            <a:ahLst/>
            <a:cxnLst/>
            <a:rect r="r" b="b" t="t" l="l"/>
            <a:pathLst>
              <a:path h="792204" w="942184">
                <a:moveTo>
                  <a:pt x="0" y="0"/>
                </a:moveTo>
                <a:lnTo>
                  <a:pt x="942184" y="0"/>
                </a:lnTo>
                <a:lnTo>
                  <a:pt x="942184" y="792203"/>
                </a:lnTo>
                <a:lnTo>
                  <a:pt x="0" y="792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387168" y="3951198"/>
            <a:ext cx="791962" cy="701058"/>
          </a:xfrm>
          <a:custGeom>
            <a:avLst/>
            <a:gdLst/>
            <a:ahLst/>
            <a:cxnLst/>
            <a:rect r="r" b="b" t="t" l="l"/>
            <a:pathLst>
              <a:path h="701058" w="791962">
                <a:moveTo>
                  <a:pt x="0" y="0"/>
                </a:moveTo>
                <a:lnTo>
                  <a:pt x="791961" y="0"/>
                </a:lnTo>
                <a:lnTo>
                  <a:pt x="791961" y="701059"/>
                </a:lnTo>
                <a:lnTo>
                  <a:pt x="0" y="701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SAN Architecture Process Flow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9250" y="3638385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HBA Command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267864"/>
            <a:ext cx="4262172" cy="61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Server Host Bus Adapter (HBA) initiates SCSI command to request data blocks.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2857" y="2107877"/>
            <a:ext cx="13882286" cy="61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Storage Area Network (SAN) delivers high-performance, enterprise-grade storage through dedicated Fibre Channel networks for mission-critical applications.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783223"/>
            <a:ext cx="4142525" cy="92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Fibre Channel switch receives request and routes to appropriate storage array port.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0692" y="4267864"/>
            <a:ext cx="3779502" cy="92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Storage array controller locates requested data blocks and prepares retrieval.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0692" y="7787568"/>
            <a:ext cx="3779502" cy="61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8"/>
              </a:lnSpc>
              <a:spcBef>
                <a:spcPct val="0"/>
              </a:spcBef>
            </a:pPr>
            <a:r>
              <a:rPr lang="en-US" sz="182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Data returned via FC frames through switch back to server HBA.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302" y="7153477"/>
            <a:ext cx="2630704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FC Switch Routing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19938" y="3638385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Array Processing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19938" y="7153477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FC Frame Return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86308" y="2943225"/>
            <a:ext cx="3086100" cy="3086100"/>
            <a:chOff x="0" y="0"/>
            <a:chExt cx="622300" cy="622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186690" y="0"/>
                  </a:moveTo>
                  <a:cubicBezTo>
                    <a:pt x="426720" y="0"/>
                    <a:pt x="622300" y="195580"/>
                    <a:pt x="622300" y="435610"/>
                  </a:cubicBezTo>
                  <a:lnTo>
                    <a:pt x="622300" y="622300"/>
                  </a:lnTo>
                  <a:lnTo>
                    <a:pt x="435610" y="622300"/>
                  </a:lnTo>
                  <a:cubicBezTo>
                    <a:pt x="195580" y="622300"/>
                    <a:pt x="0" y="426720"/>
                    <a:pt x="0" y="186690"/>
                  </a:cubicBezTo>
                  <a:lnTo>
                    <a:pt x="0" y="0"/>
                  </a:lnTo>
                  <a:lnTo>
                    <a:pt x="186690" y="0"/>
                  </a:ln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4450" y="-41275"/>
              <a:ext cx="5334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9215592" y="6172200"/>
            <a:ext cx="3086100" cy="3086100"/>
            <a:chOff x="0" y="0"/>
            <a:chExt cx="622300" cy="622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186690" y="0"/>
                  </a:moveTo>
                  <a:cubicBezTo>
                    <a:pt x="426720" y="0"/>
                    <a:pt x="622300" y="195580"/>
                    <a:pt x="622300" y="435610"/>
                  </a:cubicBezTo>
                  <a:lnTo>
                    <a:pt x="622300" y="622300"/>
                  </a:lnTo>
                  <a:lnTo>
                    <a:pt x="435610" y="622300"/>
                  </a:lnTo>
                  <a:cubicBezTo>
                    <a:pt x="195580" y="622300"/>
                    <a:pt x="0" y="426720"/>
                    <a:pt x="0" y="186690"/>
                  </a:cubicBezTo>
                  <a:lnTo>
                    <a:pt x="0" y="0"/>
                  </a:lnTo>
                  <a:lnTo>
                    <a:pt x="186690" y="0"/>
                  </a:ln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4450" y="-41275"/>
              <a:ext cx="5334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9215592" y="2943225"/>
            <a:ext cx="3086100" cy="3086100"/>
            <a:chOff x="0" y="0"/>
            <a:chExt cx="622300" cy="622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186690" y="0"/>
                  </a:moveTo>
                  <a:cubicBezTo>
                    <a:pt x="426720" y="0"/>
                    <a:pt x="622300" y="195580"/>
                    <a:pt x="622300" y="435610"/>
                  </a:cubicBezTo>
                  <a:lnTo>
                    <a:pt x="622300" y="622300"/>
                  </a:lnTo>
                  <a:lnTo>
                    <a:pt x="435610" y="622300"/>
                  </a:lnTo>
                  <a:cubicBezTo>
                    <a:pt x="195580" y="622300"/>
                    <a:pt x="0" y="426720"/>
                    <a:pt x="0" y="186690"/>
                  </a:cubicBezTo>
                  <a:lnTo>
                    <a:pt x="0" y="0"/>
                  </a:lnTo>
                  <a:lnTo>
                    <a:pt x="186690" y="0"/>
                  </a:ln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44450" y="-41275"/>
              <a:ext cx="5334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5986308" y="6172200"/>
            <a:ext cx="3086100" cy="3086100"/>
            <a:chOff x="0" y="0"/>
            <a:chExt cx="622300" cy="62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186690" y="0"/>
                  </a:moveTo>
                  <a:cubicBezTo>
                    <a:pt x="426720" y="0"/>
                    <a:pt x="622300" y="195580"/>
                    <a:pt x="622300" y="435610"/>
                  </a:cubicBezTo>
                  <a:lnTo>
                    <a:pt x="622300" y="622300"/>
                  </a:lnTo>
                  <a:lnTo>
                    <a:pt x="435610" y="622300"/>
                  </a:lnTo>
                  <a:cubicBezTo>
                    <a:pt x="195580" y="622300"/>
                    <a:pt x="0" y="426720"/>
                    <a:pt x="0" y="186690"/>
                  </a:cubicBezTo>
                  <a:lnTo>
                    <a:pt x="0" y="0"/>
                  </a:lnTo>
                  <a:lnTo>
                    <a:pt x="186690" y="0"/>
                  </a:ln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44450" y="-41275"/>
              <a:ext cx="5334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17019" y="7058169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17019" y="3547423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68981" y="7071206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68981" y="3547423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684691" y="3811378"/>
            <a:ext cx="2113980" cy="1369209"/>
          </a:xfrm>
          <a:custGeom>
            <a:avLst/>
            <a:gdLst/>
            <a:ahLst/>
            <a:cxnLst/>
            <a:rect r="r" b="b" t="t" l="l"/>
            <a:pathLst>
              <a:path h="1369209" w="2113980">
                <a:moveTo>
                  <a:pt x="0" y="0"/>
                </a:moveTo>
                <a:lnTo>
                  <a:pt x="2113980" y="0"/>
                </a:lnTo>
                <a:lnTo>
                  <a:pt x="2113980" y="1369209"/>
                </a:lnTo>
                <a:lnTo>
                  <a:pt x="0" y="1369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541931" y="3437317"/>
            <a:ext cx="2193280" cy="2097173"/>
          </a:xfrm>
          <a:custGeom>
            <a:avLst/>
            <a:gdLst/>
            <a:ahLst/>
            <a:cxnLst/>
            <a:rect r="r" b="b" t="t" l="l"/>
            <a:pathLst>
              <a:path h="2097173" w="2193280">
                <a:moveTo>
                  <a:pt x="0" y="0"/>
                </a:moveTo>
                <a:lnTo>
                  <a:pt x="2193280" y="0"/>
                </a:lnTo>
                <a:lnTo>
                  <a:pt x="2193280" y="2097173"/>
                </a:lnTo>
                <a:lnTo>
                  <a:pt x="0" y="2097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09427" y="7104940"/>
            <a:ext cx="1216536" cy="1221297"/>
          </a:xfrm>
          <a:custGeom>
            <a:avLst/>
            <a:gdLst/>
            <a:ahLst/>
            <a:cxnLst/>
            <a:rect r="r" b="b" t="t" l="l"/>
            <a:pathLst>
              <a:path h="1221297" w="1216536">
                <a:moveTo>
                  <a:pt x="0" y="0"/>
                </a:moveTo>
                <a:lnTo>
                  <a:pt x="1216536" y="0"/>
                </a:lnTo>
                <a:lnTo>
                  <a:pt x="1216536" y="1221297"/>
                </a:lnTo>
                <a:lnTo>
                  <a:pt x="0" y="122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899383" y="6943669"/>
            <a:ext cx="1217336" cy="1241906"/>
          </a:xfrm>
          <a:custGeom>
            <a:avLst/>
            <a:gdLst/>
            <a:ahLst/>
            <a:cxnLst/>
            <a:rect r="r" b="b" t="t" l="l"/>
            <a:pathLst>
              <a:path h="1241906" w="1217336">
                <a:moveTo>
                  <a:pt x="0" y="0"/>
                </a:moveTo>
                <a:lnTo>
                  <a:pt x="1217336" y="0"/>
                </a:lnTo>
                <a:lnTo>
                  <a:pt x="1217336" y="1241906"/>
                </a:lnTo>
                <a:lnTo>
                  <a:pt x="0" y="1241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DAS vs NAS vs SAN Comparison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key differences in connectivity, protocols, performance, and scalability.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8876" y="3509323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Connectivity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8876" y="4129278"/>
            <a:ext cx="3761623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DAS: Direct cable to server. NAS: Ethernet network. SAN: Dedicated FC network.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7640290"/>
            <a:ext cx="3641975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DAS: SATA/SAS. NAS: NFS/SMB over TCP/IP. SAN: Fibre Channel/iSCSI.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7020069"/>
            <a:ext cx="3069950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Protocols Used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8981" y="4133623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DAS: Lowest latency. NAS: Moderate speed. SAN: High throughput for enterprise.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68981" y="7653327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DAS: Limited to server. NAS: Easy expansion. SAN: Enterprise-grade scaling.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08228" y="3513668"/>
            <a:ext cx="355107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08228" y="7028760"/>
            <a:ext cx="352773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Scalability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1308">
            <a:off x="12081379" y="3883103"/>
            <a:ext cx="3086100" cy="2078394"/>
            <a:chOff x="0" y="0"/>
            <a:chExt cx="622300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39054">
            <a:off x="9753774" y="5202995"/>
            <a:ext cx="3086100" cy="2078394"/>
            <a:chOff x="0" y="0"/>
            <a:chExt cx="622300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4408137">
            <a:off x="8318480" y="7472846"/>
            <a:ext cx="3086100" cy="2078394"/>
            <a:chOff x="0" y="0"/>
            <a:chExt cx="6223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76720">
            <a:off x="14766974" y="3864541"/>
            <a:ext cx="3086100" cy="2078394"/>
            <a:chOff x="0" y="0"/>
            <a:chExt cx="6223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930" y="0"/>
              <a:ext cx="606440" cy="419100"/>
            </a:xfrm>
            <a:custGeom>
              <a:avLst/>
              <a:gdLst/>
              <a:ahLst/>
              <a:cxnLst/>
              <a:rect r="r" b="b" t="t" l="l"/>
              <a:pathLst>
                <a:path h="419100" w="606440">
                  <a:moveTo>
                    <a:pt x="28563" y="0"/>
                  </a:moveTo>
                  <a:lnTo>
                    <a:pt x="577877" y="0"/>
                  </a:lnTo>
                  <a:cubicBezTo>
                    <a:pt x="586661" y="0"/>
                    <a:pt x="594956" y="4041"/>
                    <a:pt x="600369" y="10958"/>
                  </a:cubicBezTo>
                  <a:cubicBezTo>
                    <a:pt x="605783" y="17875"/>
                    <a:pt x="607713" y="26898"/>
                    <a:pt x="605603" y="35424"/>
                  </a:cubicBezTo>
                  <a:lnTo>
                    <a:pt x="519420" y="383676"/>
                  </a:lnTo>
                  <a:cubicBezTo>
                    <a:pt x="514270" y="404484"/>
                    <a:pt x="495596" y="419100"/>
                    <a:pt x="474160" y="419100"/>
                  </a:cubicBezTo>
                  <a:lnTo>
                    <a:pt x="132280" y="419100"/>
                  </a:lnTo>
                  <a:cubicBezTo>
                    <a:pt x="110844" y="419100"/>
                    <a:pt x="92170" y="404484"/>
                    <a:pt x="87020" y="383676"/>
                  </a:cubicBezTo>
                  <a:lnTo>
                    <a:pt x="837" y="35424"/>
                  </a:lnTo>
                  <a:cubicBezTo>
                    <a:pt x="-1273" y="26898"/>
                    <a:pt x="657" y="17875"/>
                    <a:pt x="6071" y="10958"/>
                  </a:cubicBezTo>
                  <a:cubicBezTo>
                    <a:pt x="11484" y="4041"/>
                    <a:pt x="19779" y="0"/>
                    <a:pt x="28563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47625"/>
              <a:ext cx="3683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15836" y="7984178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48051" y="3110915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12757" y="4791785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6647" y="6395997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846980" y="4243551"/>
            <a:ext cx="1098074" cy="1090943"/>
          </a:xfrm>
          <a:custGeom>
            <a:avLst/>
            <a:gdLst/>
            <a:ahLst/>
            <a:cxnLst/>
            <a:rect r="r" b="b" t="t" l="l"/>
            <a:pathLst>
              <a:path h="1090943" w="1098074">
                <a:moveTo>
                  <a:pt x="0" y="0"/>
                </a:moveTo>
                <a:lnTo>
                  <a:pt x="1098074" y="0"/>
                </a:lnTo>
                <a:lnTo>
                  <a:pt x="1098074" y="1090944"/>
                </a:lnTo>
                <a:lnTo>
                  <a:pt x="0" y="1090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077398" y="4240507"/>
            <a:ext cx="1132232" cy="1095968"/>
          </a:xfrm>
          <a:custGeom>
            <a:avLst/>
            <a:gdLst/>
            <a:ahLst/>
            <a:cxnLst/>
            <a:rect r="r" b="b" t="t" l="l"/>
            <a:pathLst>
              <a:path h="1095968" w="1132232">
                <a:moveTo>
                  <a:pt x="0" y="0"/>
                </a:moveTo>
                <a:lnTo>
                  <a:pt x="1132232" y="0"/>
                </a:lnTo>
                <a:lnTo>
                  <a:pt x="1132232" y="1095969"/>
                </a:lnTo>
                <a:lnTo>
                  <a:pt x="0" y="109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716692" y="5911764"/>
            <a:ext cx="1156084" cy="978665"/>
          </a:xfrm>
          <a:custGeom>
            <a:avLst/>
            <a:gdLst/>
            <a:ahLst/>
            <a:cxnLst/>
            <a:rect r="r" b="b" t="t" l="l"/>
            <a:pathLst>
              <a:path h="978665" w="1156084">
                <a:moveTo>
                  <a:pt x="0" y="0"/>
                </a:moveTo>
                <a:lnTo>
                  <a:pt x="1156083" y="0"/>
                </a:lnTo>
                <a:lnTo>
                  <a:pt x="1156083" y="978665"/>
                </a:lnTo>
                <a:lnTo>
                  <a:pt x="0" y="978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181637" y="8022248"/>
            <a:ext cx="1083147" cy="1104261"/>
          </a:xfrm>
          <a:custGeom>
            <a:avLst/>
            <a:gdLst/>
            <a:ahLst/>
            <a:cxnLst/>
            <a:rect r="r" b="b" t="t" l="l"/>
            <a:pathLst>
              <a:path h="1104261" w="1083147">
                <a:moveTo>
                  <a:pt x="0" y="0"/>
                </a:moveTo>
                <a:lnTo>
                  <a:pt x="1083147" y="0"/>
                </a:lnTo>
                <a:lnTo>
                  <a:pt x="1083147" y="1104261"/>
                </a:lnTo>
                <a:lnTo>
                  <a:pt x="0" y="1104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Flow — End-to-End Process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how data moves from user action to storage confirmation.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49751" y="3082340"/>
            <a:ext cx="2927913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Saves Data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64614" y="4763210"/>
            <a:ext cx="2477756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Encoding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48504" y="6367422"/>
            <a:ext cx="2477756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Network Transmission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49751" y="3730869"/>
            <a:ext cx="3761623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OS breaks data into blocks for processing.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64614" y="5373640"/>
            <a:ext cx="3761623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Controller encodes blocks for transmission.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48504" y="6977852"/>
            <a:ext cx="3761623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Data transmitted via cable or network switch.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7517" y="8566299"/>
            <a:ext cx="3641975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Storage array writes data and returns ACK confirmation.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7517" y="7955603"/>
            <a:ext cx="3069950" cy="28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  <a:spcBef>
                <a:spcPct val="0"/>
              </a:spcBef>
            </a:pPr>
            <a:r>
              <a:rPr lang="en-US" b="true" sz="1715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Storage Write &amp; ACK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0975" y="6172200"/>
            <a:ext cx="2942560" cy="3086100"/>
            <a:chOff x="0" y="0"/>
            <a:chExt cx="520700" cy="546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6A4C9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4464" y="6172200"/>
            <a:ext cx="2942560" cy="3086100"/>
            <a:chOff x="0" y="0"/>
            <a:chExt cx="520700" cy="546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2E86A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6050975" y="2860276"/>
            <a:ext cx="2942560" cy="3086100"/>
            <a:chOff x="0" y="0"/>
            <a:chExt cx="5207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D726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294464" y="2860276"/>
            <a:ext cx="2942560" cy="3086100"/>
            <a:chOff x="0" y="0"/>
            <a:chExt cx="520700" cy="546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2CB1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17019" y="7058169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17019" y="3547423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68981" y="7071206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68981" y="3547423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894144" y="4293107"/>
            <a:ext cx="1259946" cy="908850"/>
          </a:xfrm>
          <a:custGeom>
            <a:avLst/>
            <a:gdLst/>
            <a:ahLst/>
            <a:cxnLst/>
            <a:rect r="r" b="b" t="t" l="l"/>
            <a:pathLst>
              <a:path h="908850" w="1259946">
                <a:moveTo>
                  <a:pt x="0" y="0"/>
                </a:moveTo>
                <a:lnTo>
                  <a:pt x="1259947" y="0"/>
                </a:lnTo>
                <a:lnTo>
                  <a:pt x="1259947" y="908851"/>
                </a:lnTo>
                <a:lnTo>
                  <a:pt x="0" y="908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032803" y="6539112"/>
            <a:ext cx="980922" cy="1499336"/>
          </a:xfrm>
          <a:custGeom>
            <a:avLst/>
            <a:gdLst/>
            <a:ahLst/>
            <a:cxnLst/>
            <a:rect r="r" b="b" t="t" l="l"/>
            <a:pathLst>
              <a:path h="1499336" w="980922">
                <a:moveTo>
                  <a:pt x="0" y="0"/>
                </a:moveTo>
                <a:lnTo>
                  <a:pt x="980922" y="0"/>
                </a:lnTo>
                <a:lnTo>
                  <a:pt x="980922" y="1499336"/>
                </a:lnTo>
                <a:lnTo>
                  <a:pt x="0" y="149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40635" y="4245686"/>
            <a:ext cx="1054110" cy="1077205"/>
          </a:xfrm>
          <a:custGeom>
            <a:avLst/>
            <a:gdLst/>
            <a:ahLst/>
            <a:cxnLst/>
            <a:rect r="r" b="b" t="t" l="l"/>
            <a:pathLst>
              <a:path h="1077205" w="1054110">
                <a:moveTo>
                  <a:pt x="0" y="0"/>
                </a:moveTo>
                <a:lnTo>
                  <a:pt x="1054110" y="0"/>
                </a:lnTo>
                <a:lnTo>
                  <a:pt x="1054110" y="1077205"/>
                </a:lnTo>
                <a:lnTo>
                  <a:pt x="0" y="1077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72198" y="6333985"/>
            <a:ext cx="1342954" cy="1697817"/>
          </a:xfrm>
          <a:custGeom>
            <a:avLst/>
            <a:gdLst/>
            <a:ahLst/>
            <a:cxnLst/>
            <a:rect r="r" b="b" t="t" l="l"/>
            <a:pathLst>
              <a:path h="1697817" w="1342954">
                <a:moveTo>
                  <a:pt x="0" y="0"/>
                </a:moveTo>
                <a:lnTo>
                  <a:pt x="1342954" y="0"/>
                </a:lnTo>
                <a:lnTo>
                  <a:pt x="1342954" y="1697816"/>
                </a:lnTo>
                <a:lnTo>
                  <a:pt x="0" y="1697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RAID Overview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Redundant Array of Independent Disks — balancing performance, capacity, and fault tolerance.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518848"/>
            <a:ext cx="2477756" cy="24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0"/>
              </a:lnSpc>
              <a:spcBef>
                <a:spcPct val="0"/>
              </a:spcBef>
            </a:pPr>
            <a:r>
              <a:rPr lang="en-US" b="true" sz="1464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RAID 0/1 — Speed &amp; Mirror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129278"/>
            <a:ext cx="3761623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RAID 0 stripes data for maximum speed. RAID 1 mirrors for full redundancy.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8524" y="7640290"/>
            <a:ext cx="3641975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Distributed parity enables fault tolerance with efficient storage utilization.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7029594"/>
            <a:ext cx="3069950" cy="24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0"/>
              </a:lnSpc>
              <a:spcBef>
                <a:spcPct val="0"/>
              </a:spcBef>
            </a:pPr>
            <a:r>
              <a:rPr lang="en-US" b="true" sz="1464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RAID 5/6 — Parity Protection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8981" y="4133623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Combines mirroring and striping for high performance and redundancy.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68981" y="7653327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Match RAID level to workload: databases, archival, OS drives, or NAS arrays.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08228" y="3523193"/>
            <a:ext cx="3167752" cy="24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0"/>
              </a:lnSpc>
              <a:spcBef>
                <a:spcPct val="0"/>
              </a:spcBef>
            </a:pPr>
            <a:r>
              <a:rPr lang="en-US" b="true" sz="1464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RAID 10 — Hybrid Performance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08228" y="7038285"/>
            <a:ext cx="3527736" cy="24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0"/>
              </a:lnSpc>
              <a:spcBef>
                <a:spcPct val="0"/>
              </a:spcBef>
            </a:pPr>
            <a:r>
              <a:rPr lang="en-US" b="true" sz="1464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Cases &amp; Selection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1852" y="2857500"/>
            <a:ext cx="3086100" cy="3086100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9280048" y="2857500"/>
            <a:ext cx="3086100" cy="3086100"/>
            <a:chOff x="0" y="0"/>
            <a:chExt cx="5588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9280048" y="6172200"/>
            <a:ext cx="3086100" cy="3086100"/>
            <a:chOff x="0" y="0"/>
            <a:chExt cx="5588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5921852" y="6172200"/>
            <a:ext cx="3086100" cy="3086100"/>
            <a:chOff x="0" y="0"/>
            <a:chExt cx="558800" cy="55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79375"/>
              <a:ext cx="304800" cy="3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40356" y="7191577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40356" y="3680830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92318" y="7204613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92318" y="3680830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655541" y="3931521"/>
            <a:ext cx="1212229" cy="997081"/>
          </a:xfrm>
          <a:custGeom>
            <a:avLst/>
            <a:gdLst/>
            <a:ahLst/>
            <a:cxnLst/>
            <a:rect r="r" b="b" t="t" l="l"/>
            <a:pathLst>
              <a:path h="997081" w="1212229">
                <a:moveTo>
                  <a:pt x="0" y="0"/>
                </a:moveTo>
                <a:lnTo>
                  <a:pt x="1212229" y="0"/>
                </a:lnTo>
                <a:lnTo>
                  <a:pt x="1212229" y="997082"/>
                </a:lnTo>
                <a:lnTo>
                  <a:pt x="0" y="99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387709" y="3888780"/>
            <a:ext cx="1380040" cy="1002966"/>
          </a:xfrm>
          <a:custGeom>
            <a:avLst/>
            <a:gdLst/>
            <a:ahLst/>
            <a:cxnLst/>
            <a:rect r="r" b="b" t="t" l="l"/>
            <a:pathLst>
              <a:path h="1002966" w="1380040">
                <a:moveTo>
                  <a:pt x="0" y="0"/>
                </a:moveTo>
                <a:lnTo>
                  <a:pt x="1380040" y="0"/>
                </a:lnTo>
                <a:lnTo>
                  <a:pt x="1380040" y="1002965"/>
                </a:lnTo>
                <a:lnTo>
                  <a:pt x="0" y="1002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760117" y="7162731"/>
            <a:ext cx="1010167" cy="1007329"/>
          </a:xfrm>
          <a:custGeom>
            <a:avLst/>
            <a:gdLst/>
            <a:ahLst/>
            <a:cxnLst/>
            <a:rect r="r" b="b" t="t" l="l"/>
            <a:pathLst>
              <a:path h="1007329" w="1010167">
                <a:moveTo>
                  <a:pt x="0" y="0"/>
                </a:moveTo>
                <a:lnTo>
                  <a:pt x="1010167" y="0"/>
                </a:lnTo>
                <a:lnTo>
                  <a:pt x="1010167" y="1007329"/>
                </a:lnTo>
                <a:lnTo>
                  <a:pt x="0" y="1007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596145" y="7271379"/>
            <a:ext cx="1117863" cy="891837"/>
          </a:xfrm>
          <a:custGeom>
            <a:avLst/>
            <a:gdLst/>
            <a:ahLst/>
            <a:cxnLst/>
            <a:rect r="r" b="b" t="t" l="l"/>
            <a:pathLst>
              <a:path h="891837" w="1117863">
                <a:moveTo>
                  <a:pt x="0" y="0"/>
                </a:moveTo>
                <a:lnTo>
                  <a:pt x="1117863" y="0"/>
                </a:lnTo>
                <a:lnTo>
                  <a:pt x="1117863" y="891837"/>
                </a:lnTo>
                <a:lnTo>
                  <a:pt x="0" y="891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Virtualization &amp; Cloud Storage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Modern storage solutions combining virtualization, cloud infrastructure, and content delivery.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6302" y="3652255"/>
            <a:ext cx="2477756" cy="29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Storage Virtualization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6302" y="4262685"/>
            <a:ext cx="3761623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Combines multiple arrays into one logical pool.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6302" y="7773698"/>
            <a:ext cx="3641975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Data accessed via HTTPS/REST API from cloud providers.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6302" y="7163002"/>
            <a:ext cx="2630704" cy="29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Cloud Storage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92318" y="4267031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Content delivery networks for faster global access.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92318" y="7786734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AWS, Azure, GCP connectivity and management.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31564" y="3656601"/>
            <a:ext cx="3167752" cy="29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CDN Integration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31564" y="7171693"/>
            <a:ext cx="3527736" cy="29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CSP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85837" y="4795864"/>
            <a:ext cx="2556527" cy="2179070"/>
            <a:chOff x="0" y="0"/>
            <a:chExt cx="1071375" cy="913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77470" y="5957861"/>
            <a:ext cx="2556527" cy="2179070"/>
            <a:chOff x="0" y="0"/>
            <a:chExt cx="1071375" cy="913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77470" y="3649179"/>
            <a:ext cx="2556527" cy="2179070"/>
            <a:chOff x="0" y="0"/>
            <a:chExt cx="1071375" cy="913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85837" y="7079230"/>
            <a:ext cx="2556527" cy="2179070"/>
            <a:chOff x="0" y="0"/>
            <a:chExt cx="1071375" cy="9131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10824" y="6974934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10824" y="3995950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8161" y="8253402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18161" y="4956788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434159" y="4116847"/>
            <a:ext cx="1243039" cy="1240307"/>
          </a:xfrm>
          <a:custGeom>
            <a:avLst/>
            <a:gdLst/>
            <a:ahLst/>
            <a:cxnLst/>
            <a:rect r="r" b="b" t="t" l="l"/>
            <a:pathLst>
              <a:path h="1240307" w="1243039">
                <a:moveTo>
                  <a:pt x="0" y="0"/>
                </a:moveTo>
                <a:lnTo>
                  <a:pt x="1243039" y="0"/>
                </a:lnTo>
                <a:lnTo>
                  <a:pt x="1243039" y="1240307"/>
                </a:lnTo>
                <a:lnTo>
                  <a:pt x="0" y="1240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840813" y="5285453"/>
            <a:ext cx="865842" cy="1215130"/>
          </a:xfrm>
          <a:custGeom>
            <a:avLst/>
            <a:gdLst/>
            <a:ahLst/>
            <a:cxnLst/>
            <a:rect r="r" b="b" t="t" l="l"/>
            <a:pathLst>
              <a:path h="1215130" w="865842">
                <a:moveTo>
                  <a:pt x="0" y="0"/>
                </a:moveTo>
                <a:lnTo>
                  <a:pt x="865842" y="0"/>
                </a:lnTo>
                <a:lnTo>
                  <a:pt x="865842" y="1215130"/>
                </a:lnTo>
                <a:lnTo>
                  <a:pt x="0" y="1215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626813" y="6510670"/>
            <a:ext cx="893151" cy="1186055"/>
          </a:xfrm>
          <a:custGeom>
            <a:avLst/>
            <a:gdLst/>
            <a:ahLst/>
            <a:cxnLst/>
            <a:rect r="r" b="b" t="t" l="l"/>
            <a:pathLst>
              <a:path h="1186055" w="893151">
                <a:moveTo>
                  <a:pt x="0" y="0"/>
                </a:moveTo>
                <a:lnTo>
                  <a:pt x="893151" y="0"/>
                </a:lnTo>
                <a:lnTo>
                  <a:pt x="893151" y="1186055"/>
                </a:lnTo>
                <a:lnTo>
                  <a:pt x="0" y="1186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536570" y="7632213"/>
            <a:ext cx="1451545" cy="893106"/>
          </a:xfrm>
          <a:custGeom>
            <a:avLst/>
            <a:gdLst/>
            <a:ahLst/>
            <a:cxnLst/>
            <a:rect r="r" b="b" t="t" l="l"/>
            <a:pathLst>
              <a:path h="893106" w="1451545">
                <a:moveTo>
                  <a:pt x="0" y="0"/>
                </a:moveTo>
                <a:lnTo>
                  <a:pt x="1451546" y="0"/>
                </a:lnTo>
                <a:lnTo>
                  <a:pt x="1451546" y="893106"/>
                </a:lnTo>
                <a:lnTo>
                  <a:pt x="0" y="8931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Next-Generation Storage Technologies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88030"/>
            <a:ext cx="13882286" cy="28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1"/>
              </a:lnSpc>
              <a:spcBef>
                <a:spcPct val="0"/>
              </a:spcBef>
            </a:pPr>
            <a:r>
              <a:rPr lang="en-US" sz="1736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Emerging innovations driving the future of data center storage infrastructure.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62681" y="3957850"/>
            <a:ext cx="3129774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All-Flash Arrays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62681" y="4587329"/>
            <a:ext cx="3761623" cy="59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1"/>
              </a:lnSpc>
              <a:spcBef>
                <a:spcPct val="0"/>
              </a:spcBef>
            </a:pPr>
            <a:r>
              <a:rPr lang="en-US" sz="1736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100% SSD-based storage delivering ultra-low latency and high IOPS.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22505" y="7566580"/>
            <a:ext cx="3641975" cy="59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1"/>
              </a:lnSpc>
              <a:spcBef>
                <a:spcPct val="0"/>
              </a:spcBef>
            </a:pPr>
            <a:r>
              <a:rPr lang="en-US" sz="1736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Decoupling storage software from hardware for flexible management.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51188" y="6936834"/>
            <a:ext cx="3241267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Software-Defined Storage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18161" y="5552514"/>
            <a:ext cx="3779502" cy="59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1"/>
              </a:lnSpc>
              <a:spcBef>
                <a:spcPct val="0"/>
              </a:spcBef>
            </a:pPr>
            <a:r>
              <a:rPr lang="en-US" sz="1736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Extending NVMe protocol across network fabrics for faster access.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18161" y="8845048"/>
            <a:ext cx="3779502" cy="59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1"/>
              </a:lnSpc>
              <a:spcBef>
                <a:spcPct val="0"/>
              </a:spcBef>
            </a:pPr>
            <a:r>
              <a:rPr lang="en-US" sz="1736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Heat-assisted recording and scalable object storage for massive datasets.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57407" y="4923034"/>
            <a:ext cx="3167752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NVMe-over-Fabrics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57407" y="8210956"/>
            <a:ext cx="3527736" cy="34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  <a:spcBef>
                <a:spcPct val="0"/>
              </a:spcBef>
            </a:pPr>
            <a:r>
              <a:rPr lang="en-US" b="true" sz="198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HAMR &amp; Object Storage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2279" y="4442092"/>
            <a:ext cx="3086100" cy="2480982"/>
            <a:chOff x="0" y="0"/>
            <a:chExt cx="647700" cy="52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157" y="14078"/>
              <a:ext cx="609385" cy="492543"/>
            </a:xfrm>
            <a:custGeom>
              <a:avLst/>
              <a:gdLst/>
              <a:ahLst/>
              <a:cxnLst/>
              <a:rect r="r" b="b" t="t" l="l"/>
              <a:pathLst>
                <a:path h="492543" w="609385">
                  <a:moveTo>
                    <a:pt x="335854" y="10973"/>
                  </a:moveTo>
                  <a:lnTo>
                    <a:pt x="597382" y="221221"/>
                  </a:lnTo>
                  <a:cubicBezTo>
                    <a:pt x="604971" y="227322"/>
                    <a:pt x="609386" y="236535"/>
                    <a:pt x="609386" y="246272"/>
                  </a:cubicBezTo>
                  <a:cubicBezTo>
                    <a:pt x="609386" y="256009"/>
                    <a:pt x="604971" y="265222"/>
                    <a:pt x="597382" y="271323"/>
                  </a:cubicBezTo>
                  <a:lnTo>
                    <a:pt x="335854" y="481571"/>
                  </a:lnTo>
                  <a:cubicBezTo>
                    <a:pt x="317656" y="496201"/>
                    <a:pt x="291730" y="496201"/>
                    <a:pt x="273532" y="481571"/>
                  </a:cubicBezTo>
                  <a:lnTo>
                    <a:pt x="12004" y="271323"/>
                  </a:lnTo>
                  <a:cubicBezTo>
                    <a:pt x="4415" y="265222"/>
                    <a:pt x="0" y="256009"/>
                    <a:pt x="0" y="246272"/>
                  </a:cubicBezTo>
                  <a:cubicBezTo>
                    <a:pt x="0" y="236535"/>
                    <a:pt x="4415" y="227322"/>
                    <a:pt x="12004" y="221221"/>
                  </a:cubicBezTo>
                  <a:lnTo>
                    <a:pt x="273532" y="10973"/>
                  </a:lnTo>
                  <a:cubicBezTo>
                    <a:pt x="291730" y="-3657"/>
                    <a:pt x="317656" y="-3657"/>
                    <a:pt x="335854" y="10973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03198" y="3085838"/>
            <a:ext cx="3086100" cy="2480982"/>
            <a:chOff x="0" y="0"/>
            <a:chExt cx="647700" cy="520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157" y="14078"/>
              <a:ext cx="609385" cy="492543"/>
            </a:xfrm>
            <a:custGeom>
              <a:avLst/>
              <a:gdLst/>
              <a:ahLst/>
              <a:cxnLst/>
              <a:rect r="r" b="b" t="t" l="l"/>
              <a:pathLst>
                <a:path h="492543" w="609385">
                  <a:moveTo>
                    <a:pt x="335854" y="10973"/>
                  </a:moveTo>
                  <a:lnTo>
                    <a:pt x="597382" y="221221"/>
                  </a:lnTo>
                  <a:cubicBezTo>
                    <a:pt x="604971" y="227322"/>
                    <a:pt x="609386" y="236535"/>
                    <a:pt x="609386" y="246272"/>
                  </a:cubicBezTo>
                  <a:cubicBezTo>
                    <a:pt x="609386" y="256009"/>
                    <a:pt x="604971" y="265222"/>
                    <a:pt x="597382" y="271323"/>
                  </a:cubicBezTo>
                  <a:lnTo>
                    <a:pt x="335854" y="481571"/>
                  </a:lnTo>
                  <a:cubicBezTo>
                    <a:pt x="317656" y="496201"/>
                    <a:pt x="291730" y="496201"/>
                    <a:pt x="273532" y="481571"/>
                  </a:cubicBezTo>
                  <a:lnTo>
                    <a:pt x="12004" y="271323"/>
                  </a:lnTo>
                  <a:cubicBezTo>
                    <a:pt x="4415" y="265222"/>
                    <a:pt x="0" y="256009"/>
                    <a:pt x="0" y="246272"/>
                  </a:cubicBezTo>
                  <a:cubicBezTo>
                    <a:pt x="0" y="236535"/>
                    <a:pt x="4415" y="227322"/>
                    <a:pt x="12004" y="221221"/>
                  </a:cubicBezTo>
                  <a:lnTo>
                    <a:pt x="273532" y="10973"/>
                  </a:lnTo>
                  <a:cubicBezTo>
                    <a:pt x="291730" y="-3657"/>
                    <a:pt x="317656" y="-3657"/>
                    <a:pt x="335854" y="10973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40442" y="7254199"/>
            <a:ext cx="3086100" cy="2480982"/>
            <a:chOff x="0" y="0"/>
            <a:chExt cx="647700" cy="520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157" y="14078"/>
              <a:ext cx="609385" cy="492543"/>
            </a:xfrm>
            <a:custGeom>
              <a:avLst/>
              <a:gdLst/>
              <a:ahLst/>
              <a:cxnLst/>
              <a:rect r="r" b="b" t="t" l="l"/>
              <a:pathLst>
                <a:path h="492543" w="609385">
                  <a:moveTo>
                    <a:pt x="335854" y="10973"/>
                  </a:moveTo>
                  <a:lnTo>
                    <a:pt x="597382" y="221221"/>
                  </a:lnTo>
                  <a:cubicBezTo>
                    <a:pt x="604971" y="227322"/>
                    <a:pt x="609386" y="236535"/>
                    <a:pt x="609386" y="246272"/>
                  </a:cubicBezTo>
                  <a:cubicBezTo>
                    <a:pt x="609386" y="256009"/>
                    <a:pt x="604971" y="265222"/>
                    <a:pt x="597382" y="271323"/>
                  </a:cubicBezTo>
                  <a:lnTo>
                    <a:pt x="335854" y="481571"/>
                  </a:lnTo>
                  <a:cubicBezTo>
                    <a:pt x="317656" y="496201"/>
                    <a:pt x="291730" y="496201"/>
                    <a:pt x="273532" y="481571"/>
                  </a:cubicBezTo>
                  <a:lnTo>
                    <a:pt x="12004" y="271323"/>
                  </a:lnTo>
                  <a:cubicBezTo>
                    <a:pt x="4415" y="265222"/>
                    <a:pt x="0" y="256009"/>
                    <a:pt x="0" y="246272"/>
                  </a:cubicBezTo>
                  <a:cubicBezTo>
                    <a:pt x="0" y="236535"/>
                    <a:pt x="4415" y="227322"/>
                    <a:pt x="12004" y="221221"/>
                  </a:cubicBezTo>
                  <a:lnTo>
                    <a:pt x="273532" y="10973"/>
                  </a:lnTo>
                  <a:cubicBezTo>
                    <a:pt x="291730" y="-3657"/>
                    <a:pt x="317656" y="-3657"/>
                    <a:pt x="335854" y="10973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82094" y="5852001"/>
            <a:ext cx="3086100" cy="2480982"/>
            <a:chOff x="0" y="0"/>
            <a:chExt cx="647700" cy="520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157" y="14078"/>
              <a:ext cx="609385" cy="492543"/>
            </a:xfrm>
            <a:custGeom>
              <a:avLst/>
              <a:gdLst/>
              <a:ahLst/>
              <a:cxnLst/>
              <a:rect r="r" b="b" t="t" l="l"/>
              <a:pathLst>
                <a:path h="492543" w="609385">
                  <a:moveTo>
                    <a:pt x="335854" y="10973"/>
                  </a:moveTo>
                  <a:lnTo>
                    <a:pt x="597382" y="221221"/>
                  </a:lnTo>
                  <a:cubicBezTo>
                    <a:pt x="604971" y="227322"/>
                    <a:pt x="609386" y="236535"/>
                    <a:pt x="609386" y="246272"/>
                  </a:cubicBezTo>
                  <a:cubicBezTo>
                    <a:pt x="609386" y="256009"/>
                    <a:pt x="604971" y="265222"/>
                    <a:pt x="597382" y="271323"/>
                  </a:cubicBezTo>
                  <a:lnTo>
                    <a:pt x="335854" y="481571"/>
                  </a:lnTo>
                  <a:cubicBezTo>
                    <a:pt x="317656" y="496201"/>
                    <a:pt x="291730" y="496201"/>
                    <a:pt x="273532" y="481571"/>
                  </a:cubicBezTo>
                  <a:lnTo>
                    <a:pt x="12004" y="271323"/>
                  </a:lnTo>
                  <a:cubicBezTo>
                    <a:pt x="4415" y="265222"/>
                    <a:pt x="0" y="256009"/>
                    <a:pt x="0" y="246272"/>
                  </a:cubicBezTo>
                  <a:cubicBezTo>
                    <a:pt x="0" y="236535"/>
                    <a:pt x="4415" y="227322"/>
                    <a:pt x="12004" y="221221"/>
                  </a:cubicBezTo>
                  <a:lnTo>
                    <a:pt x="273532" y="10973"/>
                  </a:lnTo>
                  <a:cubicBezTo>
                    <a:pt x="291730" y="-3657"/>
                    <a:pt x="317656" y="-3657"/>
                    <a:pt x="335854" y="10973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48167" y="3167970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28438" y="5566820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41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68379" y="5975997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06338" y="8456980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146183" y="3840629"/>
            <a:ext cx="1032148" cy="1026469"/>
          </a:xfrm>
          <a:custGeom>
            <a:avLst/>
            <a:gdLst/>
            <a:ahLst/>
            <a:cxnLst/>
            <a:rect r="r" b="b" t="t" l="l"/>
            <a:pathLst>
              <a:path h="1026469" w="1032148">
                <a:moveTo>
                  <a:pt x="0" y="0"/>
                </a:moveTo>
                <a:lnTo>
                  <a:pt x="1032148" y="0"/>
                </a:lnTo>
                <a:lnTo>
                  <a:pt x="1032148" y="1026470"/>
                </a:lnTo>
                <a:lnTo>
                  <a:pt x="0" y="102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50738" y="4952248"/>
            <a:ext cx="1275385" cy="1140186"/>
          </a:xfrm>
          <a:custGeom>
            <a:avLst/>
            <a:gdLst/>
            <a:ahLst/>
            <a:cxnLst/>
            <a:rect r="r" b="b" t="t" l="l"/>
            <a:pathLst>
              <a:path h="1140186" w="1275385">
                <a:moveTo>
                  <a:pt x="0" y="0"/>
                </a:moveTo>
                <a:lnTo>
                  <a:pt x="1275385" y="0"/>
                </a:lnTo>
                <a:lnTo>
                  <a:pt x="1275385" y="1140186"/>
                </a:lnTo>
                <a:lnTo>
                  <a:pt x="0" y="1140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796948" y="6604751"/>
            <a:ext cx="946720" cy="946720"/>
          </a:xfrm>
          <a:custGeom>
            <a:avLst/>
            <a:gdLst/>
            <a:ahLst/>
            <a:cxnLst/>
            <a:rect r="r" b="b" t="t" l="l"/>
            <a:pathLst>
              <a:path h="946720" w="946720">
                <a:moveTo>
                  <a:pt x="0" y="0"/>
                </a:moveTo>
                <a:lnTo>
                  <a:pt x="946720" y="0"/>
                </a:lnTo>
                <a:lnTo>
                  <a:pt x="946720" y="946720"/>
                </a:lnTo>
                <a:lnTo>
                  <a:pt x="0" y="94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Market &amp; Cost Insights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Understanding data growth trends, market revenue, and storage cost dynamics.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59848" y="3750091"/>
            <a:ext cx="3641975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Projected to reach 291 ZB by 2027, up from 20 ZB in 2016.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040119" y="6148942"/>
            <a:ext cx="3641975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Storage market growing from $48B to $62.6B by 2028.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59848" y="3129870"/>
            <a:ext cx="3069950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Data Growth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40119" y="5528720"/>
            <a:ext cx="3069950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 Revenue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68379" y="6562198"/>
            <a:ext cx="3779502" cy="104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HDD: $0.01-$0.10, SSD: $0.04-$0.20, Tape: $0.002-$0.01.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06338" y="9043180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AWS, Azure, Dell EMC, NetApp, Pure Storage, Seagate.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07625" y="5942243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 Per GB Trends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45584" y="8423225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Industry Leaders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5950253" y="7782628"/>
            <a:ext cx="1064294" cy="1555315"/>
          </a:xfrm>
          <a:custGeom>
            <a:avLst/>
            <a:gdLst/>
            <a:ahLst/>
            <a:cxnLst/>
            <a:rect r="r" b="b" t="t" l="l"/>
            <a:pathLst>
              <a:path h="1555315" w="1064294">
                <a:moveTo>
                  <a:pt x="0" y="0"/>
                </a:moveTo>
                <a:lnTo>
                  <a:pt x="1064294" y="0"/>
                </a:lnTo>
                <a:lnTo>
                  <a:pt x="1064294" y="1555314"/>
                </a:lnTo>
                <a:lnTo>
                  <a:pt x="0" y="155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0975" y="6172200"/>
            <a:ext cx="2942560" cy="3086100"/>
            <a:chOff x="0" y="0"/>
            <a:chExt cx="520700" cy="546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6A4C9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4464" y="6172200"/>
            <a:ext cx="2942560" cy="3086100"/>
            <a:chOff x="0" y="0"/>
            <a:chExt cx="520700" cy="546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2E86A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6050975" y="2860276"/>
            <a:ext cx="2942560" cy="3086100"/>
            <a:chOff x="0" y="0"/>
            <a:chExt cx="5207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D726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294464" y="2860276"/>
            <a:ext cx="2942560" cy="3086100"/>
            <a:chOff x="0" y="0"/>
            <a:chExt cx="520700" cy="546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700" cy="537589"/>
            </a:xfrm>
            <a:custGeom>
              <a:avLst/>
              <a:gdLst/>
              <a:ahLst/>
              <a:cxnLst/>
              <a:rect r="r" b="b" t="t" l="l"/>
              <a:pathLst>
                <a:path h="537589" w="520700">
                  <a:moveTo>
                    <a:pt x="0" y="23597"/>
                  </a:moveTo>
                  <a:lnTo>
                    <a:pt x="0" y="306603"/>
                  </a:lnTo>
                  <a:cubicBezTo>
                    <a:pt x="0" y="321551"/>
                    <a:pt x="6658" y="335721"/>
                    <a:pt x="18164" y="345263"/>
                  </a:cubicBezTo>
                  <a:lnTo>
                    <a:pt x="242186" y="531037"/>
                  </a:lnTo>
                  <a:cubicBezTo>
                    <a:pt x="252720" y="539773"/>
                    <a:pt x="267980" y="539773"/>
                    <a:pt x="278514" y="531037"/>
                  </a:cubicBezTo>
                  <a:lnTo>
                    <a:pt x="502536" y="345263"/>
                  </a:lnTo>
                  <a:cubicBezTo>
                    <a:pt x="514042" y="335721"/>
                    <a:pt x="520700" y="321551"/>
                    <a:pt x="520700" y="306603"/>
                  </a:cubicBezTo>
                  <a:lnTo>
                    <a:pt x="520700" y="23597"/>
                  </a:lnTo>
                  <a:cubicBezTo>
                    <a:pt x="520700" y="17339"/>
                    <a:pt x="518214" y="11337"/>
                    <a:pt x="513789" y="6911"/>
                  </a:cubicBezTo>
                  <a:cubicBezTo>
                    <a:pt x="509363" y="2486"/>
                    <a:pt x="503361" y="0"/>
                    <a:pt x="497103" y="0"/>
                  </a:cubicBezTo>
                  <a:lnTo>
                    <a:pt x="23597" y="0"/>
                  </a:lnTo>
                  <a:cubicBezTo>
                    <a:pt x="17339" y="0"/>
                    <a:pt x="11337" y="2486"/>
                    <a:pt x="6911" y="6911"/>
                  </a:cubicBezTo>
                  <a:cubicBezTo>
                    <a:pt x="2486" y="11337"/>
                    <a:pt x="0" y="17339"/>
                    <a:pt x="0" y="23597"/>
                  </a:cubicBezTo>
                  <a:close/>
                </a:path>
              </a:pathLst>
            </a:custGeom>
            <a:solidFill>
              <a:srgbClr val="2CB1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2225"/>
              <a:ext cx="5207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17019" y="7058169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C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17019" y="3547423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263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68981" y="7071206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68981" y="3547423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B1A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063326" y="4111541"/>
            <a:ext cx="917044" cy="1231908"/>
          </a:xfrm>
          <a:custGeom>
            <a:avLst/>
            <a:gdLst/>
            <a:ahLst/>
            <a:cxnLst/>
            <a:rect r="r" b="b" t="t" l="l"/>
            <a:pathLst>
              <a:path h="1231908" w="917044">
                <a:moveTo>
                  <a:pt x="0" y="0"/>
                </a:moveTo>
                <a:lnTo>
                  <a:pt x="917043" y="0"/>
                </a:lnTo>
                <a:lnTo>
                  <a:pt x="917043" y="1231908"/>
                </a:lnTo>
                <a:lnTo>
                  <a:pt x="0" y="1231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832994" y="6635070"/>
            <a:ext cx="1304399" cy="1190264"/>
          </a:xfrm>
          <a:custGeom>
            <a:avLst/>
            <a:gdLst/>
            <a:ahLst/>
            <a:cxnLst/>
            <a:rect r="r" b="b" t="t" l="l"/>
            <a:pathLst>
              <a:path h="1190264" w="1304399">
                <a:moveTo>
                  <a:pt x="0" y="0"/>
                </a:moveTo>
                <a:lnTo>
                  <a:pt x="1304399" y="0"/>
                </a:lnTo>
                <a:lnTo>
                  <a:pt x="1304399" y="1190265"/>
                </a:lnTo>
                <a:lnTo>
                  <a:pt x="0" y="1190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856496" y="4294805"/>
            <a:ext cx="1821642" cy="987177"/>
          </a:xfrm>
          <a:custGeom>
            <a:avLst/>
            <a:gdLst/>
            <a:ahLst/>
            <a:cxnLst/>
            <a:rect r="r" b="b" t="t" l="l"/>
            <a:pathLst>
              <a:path h="987177" w="1821642">
                <a:moveTo>
                  <a:pt x="0" y="0"/>
                </a:moveTo>
                <a:lnTo>
                  <a:pt x="1821643" y="0"/>
                </a:lnTo>
                <a:lnTo>
                  <a:pt x="1821643" y="987177"/>
                </a:lnTo>
                <a:lnTo>
                  <a:pt x="0" y="987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763291" y="6482994"/>
            <a:ext cx="2259238" cy="1373262"/>
          </a:xfrm>
          <a:custGeom>
            <a:avLst/>
            <a:gdLst/>
            <a:ahLst/>
            <a:cxnLst/>
            <a:rect r="r" b="b" t="t" l="l"/>
            <a:pathLst>
              <a:path h="1373262" w="2259238">
                <a:moveTo>
                  <a:pt x="0" y="0"/>
                </a:moveTo>
                <a:lnTo>
                  <a:pt x="2259238" y="0"/>
                </a:lnTo>
                <a:lnTo>
                  <a:pt x="2259238" y="1373262"/>
                </a:lnTo>
                <a:lnTo>
                  <a:pt x="0" y="13732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6302" y="895350"/>
            <a:ext cx="15535397" cy="8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Summary &amp; Key Takeaways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2857" y="1978505"/>
            <a:ext cx="1388228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Essential concepts from Data Center Storage training to remember and apply.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509323"/>
            <a:ext cx="247775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Storage Hierarchy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129278"/>
            <a:ext cx="3761623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Drive → Tray → Rack → Row → Data Hall → Facility scaling.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8524" y="7640290"/>
            <a:ext cx="3641975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NVMe, Fibre Channel, iSCSI, NFS/SMB for data transfer.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7020069"/>
            <a:ext cx="3069950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Protocols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8981" y="4133623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DAS for speed, NAS for sharing, SAN for enterprise.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68981" y="7653327"/>
            <a:ext cx="3779502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All-Flash, NVMe-oF, SDS, HCI, and cloud integration.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08228" y="3513668"/>
            <a:ext cx="3167752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 Models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08228" y="7028760"/>
            <a:ext cx="3527736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DAHHaEqUyis</dc:identifier>
  <dcterms:modified xsi:type="dcterms:W3CDTF">2011-08-01T06:04:30Z</dcterms:modified>
  <cp:revision>1</cp:revision>
</cp:coreProperties>
</file>