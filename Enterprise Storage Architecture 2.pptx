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828800"/>
            <a:ext cx="9144000" cy="45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9144000" cy="45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657600"/>
            <a:ext cx="9144000" cy="45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572000"/>
            <a:ext cx="9144000" cy="457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0"/>
            <a:ext cx="4572" cy="51435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0"/>
            <a:ext cx="4572" cy="51435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0"/>
            <a:ext cx="4572" cy="51435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0"/>
            <a:ext cx="4572" cy="51435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4572" cy="51435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4572" cy="51435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0"/>
            <a:ext cx="4572" cy="51435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0"/>
            <a:ext cx="4572" cy="51435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0"/>
            <a:ext cx="4572" cy="51435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-274320"/>
            <a:ext cx="2743200" cy="2743200"/>
          </a:xfrm>
          <a:prstGeom prst="ellipse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>
                <a:alpha val="1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1097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Center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502920" y="17830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Architecture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502920" y="26517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 ·  SAN  ·  Fibre Channel  ·  SAN Switches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Navdeep    </a:t>
            </a:r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    </a:t>
            </a:r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In-depth Enterprise Storage Understanding</a:t>
            </a:r>
            <a:endParaRPr lang="en-US" sz="12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18872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28600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00400" y="365760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0" y="365760"/>
            <a:ext cx="109728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64992" y="36576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730752" y="41148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Storage in a Data Center?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0" y="1234440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234440"/>
            <a:ext cx="109728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64992" y="123444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730752" y="128016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Enterprises Use Dedicated Storage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00400" y="2103120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0" y="2103120"/>
            <a:ext cx="109728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64992" y="210312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730752" y="214884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Architecture Types (DAS / NAS / SAN)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200400" y="2971800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00400" y="2971800"/>
            <a:ext cx="109728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64992" y="297180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3730752" y="301752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– Concepts, Protocols &amp; Use Cases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200400" y="3840480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200400" y="3840480"/>
            <a:ext cx="109728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364992" y="384048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3730752" y="388620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– Concepts, Block Storage &amp; Use Cases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217920" y="365760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217920" y="365760"/>
            <a:ext cx="109728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82512" y="36576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6748272" y="41148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Channel Overview &amp; Components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217920" y="1234440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217920" y="1234440"/>
            <a:ext cx="109728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82512" y="123444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6748272" y="128016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Switches, Zoning &amp; Multipathing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217920" y="2103120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217920" y="2103120"/>
            <a:ext cx="109728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82512" y="210312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6748272" y="214884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vs SAN Comparison Table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217920" y="2971800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17920" y="2971800"/>
            <a:ext cx="109728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382512" y="297180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6748272" y="301752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Enterprise Storage Design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217920" y="3840480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217920" y="3840480"/>
            <a:ext cx="109728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382512" y="384048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6748272" y="388620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Key Takeaways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Storage in a Data Center?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960120"/>
          </a:xfrm>
          <a:prstGeom prst="rect">
            <a:avLst/>
          </a:prstGeom>
          <a:solidFill>
            <a:srgbClr val="1020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4300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is the core infrastructure layer that permanently preserves enterprise data — including applications, databases, virtual machines, logs, backups, and files — independently of compute servers.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2606040" cy="237744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331720"/>
            <a:ext cx="260604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251460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5488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75488" y="3657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survives server reboots, failures, and replacements without loss.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2331720"/>
            <a:ext cx="2606040" cy="237744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2331720"/>
            <a:ext cx="260604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251460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10128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Accessible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10128" y="3657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servers access shared storage over dedicated high-speed networks.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35040" y="2331720"/>
            <a:ext cx="2606040" cy="237744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35040" y="2331720"/>
            <a:ext cx="26060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251460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44768" y="3246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Centrally Managed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144768" y="3657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management, security policies, snapshots, and capacity planning.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57200" y="46817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Even if a server fails, data must remain safe, accessible, and consistent.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Architecture Types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distinct models — each suited to different performance, cost, and scalability requirements.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417320"/>
            <a:ext cx="2743200" cy="3520440"/>
          </a:xfrm>
          <a:prstGeom prst="rect">
            <a:avLst/>
          </a:prstGeom>
          <a:solidFill>
            <a:srgbClr val="102040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17320"/>
            <a:ext cx="2743200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46304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38912" y="2121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Attached Storage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248716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directly wired to one server. Fast for that server alone — not shareable. Used for OS disks, small apps, test environments.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10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Single-server only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675888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48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 / SAS disks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014216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86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352544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325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scalability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73552" y="1417320"/>
            <a:ext cx="2743200" cy="3520440"/>
          </a:xfrm>
          <a:prstGeom prst="rect">
            <a:avLst/>
          </a:prstGeom>
          <a:solidFill>
            <a:srgbClr val="10204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73552" y="1417320"/>
            <a:ext cx="2743200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46304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364992" y="2121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Attached Storage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64992" y="248716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File-level storage delivered over standard Ethernet. Appears as a shared folder. Uses NFS (Linux) or SMB/CIFS (Windows).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83280" y="3337560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3310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File-level access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83280" y="3675888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3648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Ethernet-based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83280" y="4014216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3986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deploy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83280" y="4352544"/>
            <a:ext cx="128016" cy="12801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0" y="4325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many servers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99632" y="1417320"/>
            <a:ext cx="2743200" cy="3520440"/>
          </a:xfrm>
          <a:prstGeom prst="rect">
            <a:avLst/>
          </a:prstGeom>
          <a:solidFill>
            <a:srgbClr val="10204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99632" y="1417320"/>
            <a:ext cx="274320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91072" y="146304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291072" y="2121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Area Network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91072" y="248716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Block-level storage on a dedicated high-speed fabric. Presented as a raw disk to each server. Ideal for databases and VMs.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09360" y="333756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310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Block-level access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309360" y="367588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3648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FC fabric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09360" y="401421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3986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performance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09360" y="435254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4325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Mission-critical apps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– Network Attached Storage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388620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15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ARCHITECTURE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3832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63677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/ Servers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12848" y="2103120"/>
            <a:ext cx="128016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57984" y="2313432"/>
            <a:ext cx="237744" cy="10972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331720"/>
            <a:ext cx="3383280" cy="50292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36829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Switch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12848" y="2834640"/>
            <a:ext cx="128016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57984" y="3044952"/>
            <a:ext cx="237744" cy="10972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63240"/>
            <a:ext cx="338328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09981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Controller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12848" y="3566160"/>
            <a:ext cx="128016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57984" y="3776472"/>
            <a:ext cx="237744" cy="10972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794760"/>
            <a:ext cx="338328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383133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Pool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4407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(Linux) · SMB/CIFS (Windows) · HTTP/S3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1051560"/>
            <a:ext cx="4297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1051560"/>
            <a:ext cx="137160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10972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File-Level Access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73168" y="1380744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manages entire files and directories. Clients use standard file system calls — no raw disk access.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0" y="2011680"/>
            <a:ext cx="4297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2011680"/>
            <a:ext cx="137160" cy="86868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20574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73168" y="2340864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for Linux/Unix · SMB/CIFS for Windows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travels over standard Ethernet (1G / 10G / 25G).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0" y="2971800"/>
            <a:ext cx="4297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2971800"/>
            <a:ext cx="137160" cy="868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30175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73168" y="3300984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servers · Home directories · Application logs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storage · Collaboration platforms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0" y="3931920"/>
            <a:ext cx="4297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0" y="3931920"/>
            <a:ext cx="137160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39776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73168" y="4261104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deploy · Cost-effective · Centralized sharing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heterogeneous OS environments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– Storage Area Network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182880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ARCHITECTURE FLOW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1463040" cy="10241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53619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0" y="1965960"/>
            <a:ext cx="8229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24912" y="1892808"/>
            <a:ext cx="10972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1481328"/>
            <a:ext cx="1463040" cy="102412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31720" y="153619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49040" y="1965960"/>
            <a:ext cx="8229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62272" y="1892808"/>
            <a:ext cx="10972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0" y="1481328"/>
            <a:ext cx="1463040" cy="102412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069080" y="153619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0" y="1965960"/>
            <a:ext cx="8229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1892808"/>
            <a:ext cx="10972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1481328"/>
            <a:ext cx="1463040" cy="10241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6440" y="153619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23760" y="1965960"/>
            <a:ext cx="8229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36992" y="1892808"/>
            <a:ext cx="109728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0" y="1481328"/>
            <a:ext cx="1463040" cy="10241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52360" y="153619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/ LUNs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2578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Channel (FC 16G/32G) or FCoE over dedicated fabric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2926080"/>
            <a:ext cx="2011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926080"/>
            <a:ext cx="201168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0906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Block-Level Access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52044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presented as raw disk (LUN) to server. OS formats &amp; manages file system. Maximum flexibility.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468880" y="2926080"/>
            <a:ext cx="2011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68880" y="2926080"/>
            <a:ext cx="2011680" cy="109728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30906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 (Host Bus Adapter)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60320" y="352044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PCIe card in the server with a Fibre Channel port. Handles FC protocol offloading from CPU.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2926080"/>
            <a:ext cx="2011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926080"/>
            <a:ext cx="2011680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0906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LUNs (Logical Units)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352044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partitions inside the storage array. Each server maps one or more LUNs as its own local disk.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858000" y="2926080"/>
            <a:ext cx="20116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58000" y="2926080"/>
            <a:ext cx="201168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0" y="30906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49440" y="352044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Oracle/SQL databases · VMware vSphere VMs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High-transaction systems · Mission-critical apps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Channel (FC)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 standard for high-performance, low-latency storage networking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8595360" cy="1143000"/>
          </a:xfrm>
          <a:prstGeom prst="rect">
            <a:avLst/>
          </a:prstGeom>
          <a:solidFill>
            <a:srgbClr val="102040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SPEED EVOLUTION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68680" cy="566928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71907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508760" y="1691640"/>
            <a:ext cx="868680" cy="566928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08760" y="171907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1691640"/>
            <a:ext cx="868680" cy="566928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171907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11880" y="1691640"/>
            <a:ext cx="868680" cy="566928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11880" y="171907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868680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171907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15000" y="1691640"/>
            <a:ext cx="868680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15000" y="171907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66560" y="1691640"/>
            <a:ext cx="868680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171907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818120" y="1691640"/>
            <a:ext cx="868680" cy="56692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818120" y="1719072"/>
            <a:ext cx="868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22860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Legacy               Current Enterprise Standard →                   Future →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697480"/>
            <a:ext cx="2011680" cy="2194560"/>
          </a:xfrm>
          <a:prstGeom prst="rect">
            <a:avLst/>
          </a:prstGeom>
          <a:solidFill>
            <a:srgbClr val="1020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697480"/>
            <a:ext cx="2011680" cy="12801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8712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(Host Bus Adapter)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" y="340156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into server PCIe slot. Has 1-4 FC ports. Offloads FC protocol from CPU for zero-latency performance.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468880" y="2697480"/>
            <a:ext cx="2011680" cy="2194560"/>
          </a:xfrm>
          <a:prstGeom prst="rect">
            <a:avLst/>
          </a:prstGeom>
          <a:solidFill>
            <a:srgbClr val="102040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468880" y="2697480"/>
            <a:ext cx="2011680" cy="1280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28712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SFP+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Transceivers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560320" y="340156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Short-range (SW) or long-range (LW) optical modules. Plug into HBA ports. Carry light pulses over fiber.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2697480"/>
            <a:ext cx="2011680" cy="2194560"/>
          </a:xfrm>
          <a:prstGeom prst="rect">
            <a:avLst/>
          </a:prstGeom>
          <a:solidFill>
            <a:srgbClr val="10204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2697480"/>
            <a:ext cx="2011680" cy="1280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8712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754880" y="340156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OM3/OM4 multimode for rack-scale (up to 100m). OS2 singlemode for inter-building long-distance runs.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858000" y="2697480"/>
            <a:ext cx="2011680" cy="2194560"/>
          </a:xfrm>
          <a:prstGeom prst="rect">
            <a:avLst/>
          </a:prstGeom>
          <a:solidFill>
            <a:srgbClr val="10204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58000" y="2697480"/>
            <a:ext cx="2011680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28712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Switch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/ ASIC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949440" y="3401568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FC switch port runs full-duplex, non-blocking fabric. Buffers large frames for lossless delivery.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Switches, Zoning &amp; Multipathing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3886200"/>
          </a:xfrm>
          <a:prstGeom prst="rect">
            <a:avLst/>
          </a:prstGeom>
          <a:solidFill>
            <a:srgbClr val="EEF4FB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15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FABRIC TOPOLOGY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0" y="1554480"/>
            <a:ext cx="1645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89888" y="1581912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(HBA A + HBA B)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91640" y="2057400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70048" y="2057400"/>
            <a:ext cx="54864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560320"/>
            <a:ext cx="1463040" cy="50292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2587752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Switch 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77440" y="2560320"/>
            <a:ext cx="146304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95728" y="2587752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Switch B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298448" y="3063240"/>
            <a:ext cx="54864" cy="5486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90088" y="3063240"/>
            <a:ext cx="54864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3611880"/>
            <a:ext cx="164592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89888" y="363016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Array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(Dual Controller)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42245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(active)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94560" y="4224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(standby / load-balance)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051560"/>
            <a:ext cx="4297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1051560"/>
            <a:ext cx="137160" cy="1170432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110642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SAN Switch?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73168" y="1435608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Fibre Channel switch that builds the storage fabric. Connects servers and arrays into a switched, non-blocking network.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Vendors: Brocade (HPE/IBM), Cisco MDS Series.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2331720"/>
            <a:ext cx="4297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2331720"/>
            <a:ext cx="137160" cy="1170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38658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73168" y="2715768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Zoning restricts which servers can 'see' which storage. Implemented at the switch level using WWNs (World Wide Names).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 Zoning: enforced in hardware (recommended)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Soft Zoning: name-service based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Security + prevents accidental data access.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3611880"/>
            <a:ext cx="4297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3611880"/>
            <a:ext cx="137160" cy="1170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666744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Multipathing (MPIO)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73168" y="3995928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physical FC paths between server and storage array.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 failover if one path goes down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Load balancing across both paths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Software: MPIO (Windows), DM-Multipath (Linux)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Zero downtime, higher throughput.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vs SAN – Side-by-Side Comparison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19456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33856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4600" y="1078992"/>
            <a:ext cx="306324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1078992"/>
            <a:ext cx="3063240" cy="4206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133856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23560" y="1078992"/>
            <a:ext cx="306324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23560" y="1078992"/>
            <a:ext cx="3063240" cy="42062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1133856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499616"/>
            <a:ext cx="21945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5448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Type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14600" y="1499616"/>
            <a:ext cx="3063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554480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File-level (files &amp; folders)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23560" y="1499616"/>
            <a:ext cx="3063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1554480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Block-level (raw disk LUNs)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1920240"/>
            <a:ext cx="2194560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97510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14600" y="1920240"/>
            <a:ext cx="3063240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1975104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(Linux), SMB/CIFS (Windows)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23560" y="1920240"/>
            <a:ext cx="3063240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1975104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Channel, iSCSI, FCoE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2340864"/>
            <a:ext cx="21945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3957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14600" y="2340864"/>
            <a:ext cx="3063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2395728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Ethernet (1G/10G/25G)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23560" y="2340864"/>
            <a:ext cx="3063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2395728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FC fabric (16G/32G/64G)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2761488"/>
            <a:ext cx="2194560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81635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514600" y="2761488"/>
            <a:ext cx="3063240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06040" y="2816352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– suitable for file workloads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23560" y="2761488"/>
            <a:ext cx="3063240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5000" y="2816352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– sub-ms latency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3182112"/>
            <a:ext cx="21945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236976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514600" y="3182112"/>
            <a:ext cx="3063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06040" y="3236976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NAS controller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23560" y="3182112"/>
            <a:ext cx="3063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3236976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the OS on each server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74320" y="3602736"/>
            <a:ext cx="2194560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65760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514600" y="3602736"/>
            <a:ext cx="3063240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06040" y="3657600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– reuses Ethernet infrastructure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623560" y="3602736"/>
            <a:ext cx="3063240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15000" y="3657600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– requires FC HBAs &amp; switches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74320" y="4023360"/>
            <a:ext cx="21945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078224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514600" y="4023360"/>
            <a:ext cx="3063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06040" y="4078224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– easy to deploy &amp; manage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623560" y="4023360"/>
            <a:ext cx="3063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15000" y="4078224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– requires trained SAN admins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74320" y="4443984"/>
            <a:ext cx="2194560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49884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514600" y="4443984"/>
            <a:ext cx="3063240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06040" y="4498848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servers, logs, home dirs, media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623560" y="4443984"/>
            <a:ext cx="3063240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15000" y="4498848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Databases, VMs, high-IOPS apps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74320" y="4864608"/>
            <a:ext cx="21945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4919472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/ Redundancy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2514600" y="4864608"/>
            <a:ext cx="3063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606040" y="4919472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 bonding + RAID on NAS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5623560" y="4864608"/>
            <a:ext cx="3063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EF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15000" y="4919472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fabric, MPIO, multi-controller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2514600" y="1078992"/>
            <a:ext cx="73152" cy="38039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623560" y="1078992"/>
            <a:ext cx="73152" cy="38039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Enterprise Storage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955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capabilities that protect data, boost performance, and ensure business continuity.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2011680" cy="3611880"/>
          </a:xfrm>
          <a:prstGeom prst="rect">
            <a:avLst/>
          </a:prstGeom>
          <a:solidFill>
            <a:srgbClr val="1020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98448"/>
            <a:ext cx="201168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34416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201168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47472" y="2359152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Failure Protection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02336" y="2761488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2734056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1: Mirroring (exact copy)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02336" y="3236976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320954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5: Parity (1 disk fault tolerance)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02336" y="3712464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" y="368503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6: Dual parity (2 disk tolerance)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02336" y="4187952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4160520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10: Mirror + Stripe (highest perf)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468880" y="1298448"/>
            <a:ext cx="2011680" cy="3611880"/>
          </a:xfrm>
          <a:prstGeom prst="rect">
            <a:avLst/>
          </a:prstGeom>
          <a:solidFill>
            <a:srgbClr val="102040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468880" y="1298448"/>
            <a:ext cx="2011680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1344168"/>
            <a:ext cx="502920" cy="5029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542032" y="201168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2542032" y="2359152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Recovery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596896" y="2761488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761488" y="2734056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point-in-time copy of data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2596896" y="3236976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761488" y="320954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performance impact during snapshot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2596896" y="3712464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761488" y="368503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files in seconds, not hours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2596896" y="4187952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761488" y="4160520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backup and testing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663440" y="1298448"/>
            <a:ext cx="2011680" cy="3611880"/>
          </a:xfrm>
          <a:prstGeom prst="rect">
            <a:avLst/>
          </a:prstGeom>
          <a:solidFill>
            <a:srgbClr val="10204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4663440" y="1298448"/>
            <a:ext cx="2011680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344168"/>
            <a:ext cx="502920" cy="50292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736592" y="201168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4736592" y="2359152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4791456" y="2761488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4956048" y="2734056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Synchronous: zero RPO (local)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4791456" y="3236976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4956048" y="320954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Asynchronous: low RPO (remote site)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4791456" y="3712464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4956048" y="368503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Active-Active: both sites serve data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4791456" y="4187952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4956048" y="4160520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failover on site failure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6858000" y="1298448"/>
            <a:ext cx="2011680" cy="3611880"/>
          </a:xfrm>
          <a:prstGeom prst="rect">
            <a:avLst/>
          </a:prstGeom>
          <a:solidFill>
            <a:srgbClr val="1020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6858000" y="1298448"/>
            <a:ext cx="201168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8" y="1344168"/>
            <a:ext cx="502920" cy="50292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6931152" y="201168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400" dirty="0"/>
          </a:p>
        </p:txBody>
      </p:sp>
      <p:sp>
        <p:nvSpPr>
          <p:cNvPr id="48" name="Text 42"/>
          <p:cNvSpPr/>
          <p:nvPr/>
        </p:nvSpPr>
        <p:spPr>
          <a:xfrm>
            <a:off x="6931152" y="2359152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Acceleration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6986016" y="276148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7150608" y="2734056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NVMe/SSD cache tier for hot data</a:t>
            </a:r>
            <a:endParaRPr lang="en-US" sz="1000" dirty="0"/>
          </a:p>
        </p:txBody>
      </p:sp>
      <p:sp>
        <p:nvSpPr>
          <p:cNvPr id="51" name="Shape 45"/>
          <p:cNvSpPr/>
          <p:nvPr/>
        </p:nvSpPr>
        <p:spPr>
          <a:xfrm>
            <a:off x="6986016" y="323697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7150608" y="320954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cache: frequently accessed blocks</a:t>
            </a:r>
            <a:endParaRPr lang="en-US" sz="1000" dirty="0"/>
          </a:p>
        </p:txBody>
      </p:sp>
      <p:sp>
        <p:nvSpPr>
          <p:cNvPr id="53" name="Shape 47"/>
          <p:cNvSpPr/>
          <p:nvPr/>
        </p:nvSpPr>
        <p:spPr>
          <a:xfrm>
            <a:off x="6986016" y="371246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7150608" y="368503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cache: battery-backed for safety</a:t>
            </a:r>
            <a:endParaRPr lang="en-US" sz="1000" dirty="0"/>
          </a:p>
        </p:txBody>
      </p:sp>
      <p:sp>
        <p:nvSpPr>
          <p:cNvPr id="55" name="Shape 49"/>
          <p:cNvSpPr/>
          <p:nvPr/>
        </p:nvSpPr>
        <p:spPr>
          <a:xfrm>
            <a:off x="6986016" y="418795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7150608" y="4160520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10x-100x IOPS improvement vs HDD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Enterprise Storage Design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3749040" cy="3749040"/>
          </a:xfrm>
          <a:prstGeom prst="rect">
            <a:avLst/>
          </a:prstGeom>
          <a:solidFill>
            <a:srgbClr val="EEF4FB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78992"/>
            <a:ext cx="374904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97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CENTER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600200"/>
            <a:ext cx="3383280" cy="621792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6367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DB Servers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9019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+ Linux VMs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29968" y="2221992"/>
            <a:ext cx="54864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368296"/>
            <a:ext cx="3383280" cy="6217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4048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Switch A + 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670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Brocade Dual Fabric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29968" y="2990088"/>
            <a:ext cx="54864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136392"/>
            <a:ext cx="3383280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1729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SAN Array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4381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&amp; VMs (32G FC)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29968" y="3758184"/>
            <a:ext cx="54864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904488"/>
            <a:ext cx="3383280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9410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Array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206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Shares &amp; Logs (10G ETH)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977640" y="2560320"/>
            <a:ext cx="118872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2450592"/>
            <a:ext cx="128016" cy="31089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77640" y="27432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77640" y="3200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/ DWDM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66360" y="1078992"/>
            <a:ext cx="3749040" cy="3749040"/>
          </a:xfrm>
          <a:prstGeom prst="rect">
            <a:avLst/>
          </a:prstGeom>
          <a:solidFill>
            <a:srgbClr val="FFF5EE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166360" y="1078992"/>
            <a:ext cx="374904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0368" y="1097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/ SECONDARY SITE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49240" y="1600200"/>
            <a:ext cx="338328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40680" y="16367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Standby Servers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0680" y="19019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/ Warm standby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49240" y="2368296"/>
            <a:ext cx="3383280" cy="62179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40680" y="24048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Switch A + B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40680" y="2670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of primary fabric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49240" y="3136392"/>
            <a:ext cx="3383280" cy="62179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40680" y="31729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SAN Array (DR)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40680" y="34381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Replicated volumes (RPO &lt; 15min)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49240" y="3904488"/>
            <a:ext cx="3383280" cy="621792"/>
          </a:xfrm>
          <a:prstGeom prst="rect">
            <a:avLst/>
          </a:prstGeom>
          <a:solidFill>
            <a:srgbClr val="0E4F6F"/>
          </a:solidFill>
          <a:ln w="12700">
            <a:solidFill>
              <a:srgbClr val="0E4F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440680" y="39410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Array (DR)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40680" y="4206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Replicated file shares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3200400" cy="3200400"/>
          </a:xfrm>
          <a:prstGeom prst="ellipse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walk away knowing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4114800" cy="1097280"/>
          </a:xfrm>
          <a:prstGeom prst="rect">
            <a:avLst/>
          </a:prstGeom>
          <a:solidFill>
            <a:srgbClr val="10204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25880"/>
            <a:ext cx="594360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325880"/>
            <a:ext cx="521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32688" y="141732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= File-Based, Simple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32688" y="1746504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delivers shared file storage over Ethernet using NFS/SMB. Easy to deploy, cost-effective, ideal for file servers and collaboration.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560320"/>
            <a:ext cx="4114800" cy="1097280"/>
          </a:xfrm>
          <a:prstGeom prst="rect">
            <a:avLst/>
          </a:prstGeom>
          <a:solidFill>
            <a:srgbClr val="102040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560320"/>
            <a:ext cx="594360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" y="2560320"/>
            <a:ext cx="521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32688" y="265176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= Block-Based, High Perf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32688" y="2980944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presents raw block storage (LUNs) over dedicated Fibre Channel. The OS controls the file system. Best for databases and VMs.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794760"/>
            <a:ext cx="4114800" cy="1097280"/>
          </a:xfrm>
          <a:prstGeom prst="rect">
            <a:avLst/>
          </a:prstGeom>
          <a:solidFill>
            <a:srgbClr val="10204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794760"/>
            <a:ext cx="594360" cy="1097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" y="3794760"/>
            <a:ext cx="521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32688" y="388620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Channel = The Transport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32688" y="4215384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is the dedicated protocol for SAN networks — separate from Ethernet. Delivers 16-64 Gbps with sub-millisecond latency.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325880"/>
            <a:ext cx="4114800" cy="1097280"/>
          </a:xfrm>
          <a:prstGeom prst="rect">
            <a:avLst/>
          </a:prstGeom>
          <a:solidFill>
            <a:srgbClr val="10204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325880"/>
            <a:ext cx="594360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45736" y="1325880"/>
            <a:ext cx="521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67528" y="141732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Switches = The Fabric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367528" y="1746504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switches create the storage fabric. Zoning enforces access security. Multipathing ensures HA with automatic failover.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2560320"/>
            <a:ext cx="4114800" cy="1097280"/>
          </a:xfrm>
          <a:prstGeom prst="rect">
            <a:avLst/>
          </a:prstGeom>
          <a:solidFill>
            <a:srgbClr val="1020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560320"/>
            <a:ext cx="59436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45736" y="2560320"/>
            <a:ext cx="521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367528" y="265176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= Critical Infrastructure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367528" y="2980944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resilient storage (RAID, snapshots, replication), data is at risk. Enterprise storage is the backbone of data center resilience.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3794760"/>
            <a:ext cx="4114800" cy="1097280"/>
          </a:xfrm>
          <a:prstGeom prst="rect">
            <a:avLst/>
          </a:prstGeom>
          <a:solidFill>
            <a:srgbClr val="102040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794760"/>
            <a:ext cx="594360" cy="109728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45736" y="3794760"/>
            <a:ext cx="521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367528" y="388620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Architecture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367528" y="4215384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and SAN are complementary — enterprises use both. NAS for files, SAN for mission-critical block workloads.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Data Center Storage Architecture</dc:title>
  <dc:subject>PptxGenJS Presentation</dc:subject>
  <dc:creator>Navdeep</dc:creator>
  <cp:lastModifiedBy>Navdeep</cp:lastModifiedBy>
  <cp:revision>1</cp:revision>
  <dcterms:created xsi:type="dcterms:W3CDTF">2026-04-16T07:19:53Z</dcterms:created>
  <dcterms:modified xsi:type="dcterms:W3CDTF">2026-04-16T07:19:53Z</dcterms:modified>
</cp:coreProperties>
</file>