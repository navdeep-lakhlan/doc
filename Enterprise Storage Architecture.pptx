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109728" cy="2011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Center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88720" y="28803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NAS, SAN, Fibre Channel, and SAN Switches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4754880" cy="822960"/>
          </a:xfrm>
          <a:prstGeom prst="rect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Navdeep</a:t>
            </a:r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Audience: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0525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90525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Storage in a Data Center?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73352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Use Dedicated Storage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146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5146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Storage Architectures (DAS / NAS / SAN)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927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319272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– Concepts, Architecture &amp; Use Cases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2394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123944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– Concepts, Architecture &amp; Use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905256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905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Overview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673352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09928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709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 &amp; Fabric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14600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5146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vs SAN Comparison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19272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3192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Enterprise Storage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4087368"/>
            <a:ext cx="384048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123944"/>
            <a:ext cx="384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412394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Storage in a Data Center?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1371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41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2527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business application records and operational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1371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47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&amp; NoSQL engines powering enterprise apps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371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535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644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disk images, snapshots, and VM state files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8463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13716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59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Backups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2702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trails, DR copies, and compliance archives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868680"/>
            <a:ext cx="310896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1463040"/>
            <a:ext cx="1737360" cy="1737360"/>
          </a:xfrm>
          <a:prstGeom prst="ellipse">
            <a:avLst/>
          </a:prstGeom>
          <a:solidFill>
            <a:srgbClr val="1565C0">
              <a:alpha val="70000"/>
            </a:srgbClr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57276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8521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9718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exists independently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compute (servers).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0644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 server fails, data must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safe, accessible,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Use Dedicated Storage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Failures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operates independently — server crashes do not destroy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servers access the same datasets simultaneously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I/O for databases, VMs, and high-transaction workloads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8686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2356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1325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capacity without disrupting running applications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23560" y="2331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26974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access control, encryption, and audit logging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188720"/>
          </a:xfrm>
          <a:prstGeom prst="rect">
            <a:avLst/>
          </a:prstGeom>
          <a:solidFill>
            <a:srgbClr val="ECEFF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🛠️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623560" y="37033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Management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40690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Single-pane-of-glass administration and monitoring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Local disks alone are not sufficient for enterprise workloads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Storage Architectures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architecture serves different performance, cost, and scalability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3566160"/>
          </a:xfrm>
          <a:prstGeom prst="rect">
            <a:avLst/>
          </a:prstGeom>
          <a:solidFill>
            <a:srgbClr val="132133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7432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Attached Storage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Fast, Simple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 sharing, Limited scale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2468880" cy="45720"/>
          </a:xfrm>
          <a:prstGeom prst="rect">
            <a:avLst/>
          </a:prstGeom>
          <a:solidFill>
            <a:srgbClr val="F57C00">
              <a:alpha val="60000"/>
            </a:srgbClr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disks, Dev/Test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188720"/>
            <a:ext cx="2743200" cy="3566160"/>
          </a:xfrm>
          <a:prstGeom prst="rect">
            <a:avLst/>
          </a:prstGeom>
          <a:solidFill>
            <a:srgbClr val="132133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188720"/>
            <a:ext cx="27432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0" y="1600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Attached Storage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5661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Easy sharing, Cost-effective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File-level only, Ethernet overhead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3474720"/>
            <a:ext cx="2468880" cy="45720"/>
          </a:xfrm>
          <a:prstGeom prst="rect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66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servers, Logs, Media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188720"/>
            <a:ext cx="2743200" cy="3566160"/>
          </a:xfrm>
          <a:prstGeom prst="rect">
            <a:avLst/>
          </a:prstGeom>
          <a:solidFill>
            <a:srgbClr val="132133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188720"/>
            <a:ext cx="2743200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0" y="1600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Area Network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922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Block-level, High performance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Complex, Higher cost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46520" y="3474720"/>
            <a:ext cx="2468880" cy="45720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566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VMs, ERP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Attached Storage (DAS)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1280160"/>
          </a:xfrm>
          <a:prstGeom prst="rect">
            <a:avLst/>
          </a:prstGeom>
          <a:solidFill>
            <a:srgbClr val="1565C0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18488"/>
            <a:ext cx="21945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+ RAM + 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91440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234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SATA/SAS 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49040" y="914400"/>
            <a:ext cx="2286000" cy="1280160"/>
          </a:xfrm>
          <a:prstGeom prst="rect">
            <a:avLst/>
          </a:prstGeom>
          <a:solidFill>
            <a:srgbClr val="F57C00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1005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💽  DISK ARRAY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1618488"/>
            <a:ext cx="2194560" cy="486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/ SAS / NVMe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377440"/>
            <a:ext cx="1005840" cy="502920"/>
          </a:xfrm>
          <a:prstGeom prst="ellipse">
            <a:avLst/>
          </a:prstGeom>
          <a:solidFill>
            <a:srgbClr val="FFEE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4231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914400"/>
            <a:ext cx="2331720" cy="1143000"/>
          </a:xfrm>
          <a:prstGeom prst="rect">
            <a:avLst/>
          </a:prstGeom>
          <a:solidFill>
            <a:srgbClr val="ECEFF1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0058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32588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for a single server — direct bus connection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2240280"/>
            <a:ext cx="2331720" cy="1143000"/>
          </a:xfrm>
          <a:prstGeom prst="rect">
            <a:avLst/>
          </a:prstGeom>
          <a:solidFill>
            <a:srgbClr val="ECEFF1"/>
          </a:solidFill>
          <a:ln w="254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2331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65176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shared with other servers or clients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566160"/>
            <a:ext cx="2331720" cy="1143000"/>
          </a:xfrm>
          <a:prstGeom prst="rect">
            <a:avLst/>
          </a:prstGeom>
          <a:solidFill>
            <a:srgbClr val="ECEFF1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365760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97764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physical bays inside/near the server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5669280" cy="685800"/>
          </a:xfrm>
          <a:prstGeom prst="rect">
            <a:avLst/>
          </a:prstGeom>
          <a:solidFill>
            <a:srgbClr val="ECEFF1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Use Cases: OS boot drives  |  Small standalone applications  |  Dev/Test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Attached Storage (NAS)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provides file-level storage over a standard Ethernet network. It appears as a shared folder to all users and servers.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55448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Client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673352"/>
            <a:ext cx="91440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31720"/>
            <a:ext cx="155448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Client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2587752"/>
            <a:ext cx="91440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46120"/>
            <a:ext cx="155448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37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3502152"/>
            <a:ext cx="91440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874520"/>
            <a:ext cx="1645920" cy="10515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1920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92608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350008"/>
            <a:ext cx="77724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1508760"/>
            <a:ext cx="1828800" cy="17373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57276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4068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File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 / RAID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2468880" cy="868680"/>
          </a:xfrm>
          <a:prstGeom prst="rect">
            <a:avLst/>
          </a:prstGeom>
          <a:solidFill>
            <a:srgbClr val="ECEFF1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22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Unix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749040"/>
            <a:ext cx="2468880" cy="868680"/>
          </a:xfrm>
          <a:prstGeom prst="rect">
            <a:avLst/>
          </a:prstGeom>
          <a:solidFill>
            <a:srgbClr val="ECEFF1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822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SMB/CIFS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9184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6517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7673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NFS/SMB requests travel 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Ethernet — 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hardware needed.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– Features &amp; Use Cases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441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existing Ethernet — no specialized switches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51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File Sharing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134416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servers and users access the same shared directories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761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existing network infrastructure at low incremental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41148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69280" y="2377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27614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via Active Directory or LDAP integration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Servers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206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User Home Directories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4206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Application Logs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206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Media &amp; Video Storage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4206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Backup Targets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Area Network (SAN)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provides block-level storage over a dedicated high-speed network. Storage appears as a local disk to the server.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73152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accessed in fixed-size blocks — like a raw local disk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73152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219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542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traffic travels on a separate Fibre Channel or iSCSI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73152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06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Controls 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(not storage) formats and manages the file 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73152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593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793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latency, perfect for databases &amp; VMs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1234440"/>
            <a:ext cx="3108960" cy="329184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KEY CONCEPT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783080"/>
            <a:ext cx="2468880" cy="502920"/>
          </a:xfrm>
          <a:prstGeom prst="rect">
            <a:avLst/>
          </a:prstGeom>
          <a:solidFill>
            <a:srgbClr val="1321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828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 A  →  sees  /dev/sdb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2377440"/>
            <a:ext cx="2468880" cy="502920"/>
          </a:xfrm>
          <a:prstGeom prst="rect">
            <a:avLst/>
          </a:prstGeom>
          <a:solidFill>
            <a:srgbClr val="132133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 B  →  sees  /dev/sdc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017520"/>
            <a:ext cx="73152" cy="7772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017520"/>
            <a:ext cx="73152" cy="77724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3840480"/>
            <a:ext cx="2468880" cy="50292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8953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  |  LUN Pool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30906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/ iSCSI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SAN Fabric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Architecture – Components &amp; Data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8288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298448"/>
            <a:ext cx="109728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103120"/>
            <a:ext cx="18288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1762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514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2487168"/>
            <a:ext cx="109728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291840"/>
            <a:ext cx="182880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3649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Server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703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3675888"/>
            <a:ext cx="109728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234440"/>
            <a:ext cx="2011680" cy="2286000"/>
          </a:xfrm>
          <a:prstGeom prst="rect">
            <a:avLst/>
          </a:prstGeom>
          <a:solidFill>
            <a:srgbClr val="0D1B2A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325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91840" y="19659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 Fabric)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5786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331720"/>
            <a:ext cx="9144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280160"/>
            <a:ext cx="2286000" cy="2194560"/>
          </a:xfrm>
          <a:prstGeom prst="rect">
            <a:avLst/>
          </a:prstGeom>
          <a:solidFill>
            <a:srgbClr val="E0F7F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606040"/>
            <a:ext cx="1920240" cy="201168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6060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92240" y="2862072"/>
            <a:ext cx="1920240" cy="201168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862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3118104"/>
            <a:ext cx="1920240" cy="201168"/>
          </a:xfrm>
          <a:prstGeom prst="rect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1181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70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/ iSCSI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 → FC Cable → SAN Switch → Storage Controller → LUN assigned to server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Block Storage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88720" cy="685800"/>
          </a:xfrm>
          <a:prstGeom prst="rect">
            <a:avLst/>
          </a:prstGeom>
          <a:solidFill>
            <a:srgbClr val="1565C0">
              <a:alpha val="6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91640" y="914400"/>
            <a:ext cx="1188720" cy="685800"/>
          </a:xfrm>
          <a:prstGeom prst="rect">
            <a:avLst/>
          </a:prstGeom>
          <a:solidFill>
            <a:srgbClr val="00BCD4">
              <a:alpha val="6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9144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914400"/>
            <a:ext cx="1188720" cy="685800"/>
          </a:xfrm>
          <a:prstGeom prst="rect">
            <a:avLst/>
          </a:prstGeom>
          <a:solidFill>
            <a:srgbClr val="00897B">
              <a:alpha val="6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9144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43400" y="914400"/>
            <a:ext cx="1188720" cy="685800"/>
          </a:xfrm>
          <a:prstGeom prst="rect">
            <a:avLst/>
          </a:prstGeom>
          <a:solidFill>
            <a:srgbClr val="F57C00">
              <a:alpha val="60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9144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1188720" cy="685800"/>
          </a:xfrm>
          <a:prstGeom prst="rect">
            <a:avLst/>
          </a:prstGeom>
          <a:solidFill>
            <a:srgbClr val="1565C0">
              <a:alpha val="6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37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1737360"/>
            <a:ext cx="1188720" cy="685800"/>
          </a:xfrm>
          <a:prstGeom prst="rect">
            <a:avLst/>
          </a:prstGeom>
          <a:solidFill>
            <a:srgbClr val="00BCD4">
              <a:alpha val="6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737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737360"/>
            <a:ext cx="1188720" cy="685800"/>
          </a:xfrm>
          <a:prstGeom prst="rect">
            <a:avLst/>
          </a:prstGeom>
          <a:solidFill>
            <a:srgbClr val="00897B">
              <a:alpha val="6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737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737360"/>
            <a:ext cx="1188720" cy="685800"/>
          </a:xfrm>
          <a:prstGeom prst="rect">
            <a:avLst/>
          </a:prstGeom>
          <a:solidFill>
            <a:srgbClr val="F57C00">
              <a:alpha val="60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7373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7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1188720" cy="685800"/>
          </a:xfrm>
          <a:prstGeom prst="rect">
            <a:avLst/>
          </a:prstGeom>
          <a:solidFill>
            <a:srgbClr val="1E88E5">
              <a:alpha val="60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5603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1640" y="2560320"/>
            <a:ext cx="1188720" cy="685800"/>
          </a:xfrm>
          <a:prstGeom prst="rect">
            <a:avLst/>
          </a:prstGeom>
          <a:solidFill>
            <a:srgbClr val="00897B">
              <a:alpha val="60000"/>
            </a:srgbClr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5603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2560320"/>
            <a:ext cx="1188720" cy="685800"/>
          </a:xfrm>
          <a:prstGeom prst="rect">
            <a:avLst/>
          </a:prstGeom>
          <a:solidFill>
            <a:srgbClr val="00BCD4">
              <a:alpha val="6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5603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2560320"/>
            <a:ext cx="1188720" cy="685800"/>
          </a:xfrm>
          <a:prstGeom prst="rect">
            <a:avLst/>
          </a:prstGeom>
          <a:solidFill>
            <a:srgbClr val="1565C0">
              <a:alpha val="60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5603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337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Block Pool (LUN)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34640" y="3639312"/>
            <a:ext cx="7315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23360"/>
            <a:ext cx="53035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148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formats block device → creates file system (NTFS / ext4 / XFS)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914400"/>
            <a:ext cx="2743200" cy="777240"/>
          </a:xfrm>
          <a:prstGeom prst="rect">
            <a:avLst/>
          </a:prstGeom>
          <a:solidFill>
            <a:srgbClr val="ECEFF1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0" y="9692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latency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12984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block access bypasses file-system overhead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26480" y="1810512"/>
            <a:ext cx="2743200" cy="777240"/>
          </a:xfrm>
          <a:prstGeom prst="rect">
            <a:avLst/>
          </a:prstGeom>
          <a:solidFill>
            <a:srgbClr val="ECEFF1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17920" y="18653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IOPS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performance for OLTP and ERP workloads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706624"/>
            <a:ext cx="2743200" cy="777240"/>
          </a:xfrm>
          <a:prstGeom prst="rect">
            <a:avLst/>
          </a:prstGeom>
          <a:solidFill>
            <a:srgbClr val="ECEFF1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17920" y="2761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OS-managed FS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applies NTFS, ext4, XFS — full control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3602736"/>
            <a:ext cx="2743200" cy="777240"/>
          </a:xfrm>
          <a:prstGeom prst="rect">
            <a:avLst/>
          </a:prstGeom>
          <a:solidFill>
            <a:srgbClr val="ECEFF1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VMs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0" y="39867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VMFS, Hyper-V volumes run natively on SAN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(FC)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dedicated, high-performance storage networking protocol — separate from Ethernet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Gbps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51760" cy="13716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Gbps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651760" cy="1371600"/>
          </a:xfrm>
          <a:prstGeom prst="rect">
            <a:avLst/>
          </a:prstGeom>
          <a:solidFill>
            <a:srgbClr val="0D2137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325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Gbps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Next-gen, AI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Protocol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246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delivery — no dropped frames, critical for storage I/O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88920"/>
            <a:ext cx="40233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28803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 response times for OLTP databases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40233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Fabric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297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isolation — zero contention with IP/Ethernet networks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840480"/>
            <a:ext cx="402336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9319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Support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42976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Dual-fabric, redundant paths with automatic failover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– Key Components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783080"/>
          </a:xfrm>
          <a:prstGeom prst="rect">
            <a:avLst/>
          </a:prstGeom>
          <a:solidFill>
            <a:srgbClr val="ECEFF1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09728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9326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Bus Adapter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298448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in the server. Connects to the FC network. Has a unique 64-bit WWPN identifier.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114800" cy="1783080"/>
          </a:xfrm>
          <a:prstGeom prst="rect">
            <a:avLst/>
          </a:prstGeom>
          <a:solidFill>
            <a:srgbClr val="ECEFF1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22960"/>
            <a:ext cx="1097280" cy="17830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972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🔀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92040" y="18470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Switch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93268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Switch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1298448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storage fabric. Routes frames between hosts and storage using WWPN-based zoning.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783080"/>
          </a:xfrm>
          <a:prstGeom prst="rect">
            <a:avLst/>
          </a:prstGeom>
          <a:solidFill>
            <a:srgbClr val="ECEFF1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1097280" cy="1783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29443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 Controller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3310128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disk pools, presents LUNs, handles RAID, caching, and replication.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4114800" cy="1783080"/>
          </a:xfrm>
          <a:prstGeom prst="rect">
            <a:avLst/>
          </a:prstGeom>
          <a:solidFill>
            <a:srgbClr val="ECEFF1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834640"/>
            <a:ext cx="1097280" cy="17830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92040" y="385876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Cable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9443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OM4 / Single-Mode Fiber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89320" y="3310128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Low-latency, high-bandwidth physical medium. Multi-mode OM4 up to 100m; Single-mode up to 10km.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 &amp; Storage Fabric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Server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280160"/>
            <a:ext cx="123444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417320"/>
            <a:ext cx="12344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240280"/>
            <a:ext cx="1645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30428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Server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2560320"/>
            <a:ext cx="123444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2697480"/>
            <a:ext cx="12344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14400"/>
            <a:ext cx="219456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143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FC Switch 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2194560"/>
            <a:ext cx="219456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FC Switch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1353312"/>
            <a:ext cx="96012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651760"/>
            <a:ext cx="9601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051560"/>
            <a:ext cx="2331720" cy="18288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0972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17190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04825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  |  Port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7132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A (Primary)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2461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B (Redundant)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67588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which servers can see which LUNs. Enforced at switch level.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78224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Multipathing: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14223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fabrics → auto failover if primary path fails.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4456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08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460857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Brocade (HPE SAN) · Cisco MDS · Huawei OceanStor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&amp; Security in SAN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69080" cy="4069080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ZONING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74720" cy="1417320"/>
          </a:xfrm>
          <a:prstGeom prst="rect">
            <a:avLst/>
          </a:prstGeom>
          <a:solidFill>
            <a:srgbClr val="DCEE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 (DB Server ↔ LUN-01, LUN-02)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DB Server  →  🗄 LUN-01, LUN-02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server can see LUN-01/02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3474720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 (App Server ↔ LUN-03)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App Server  →  🗄 LUN-03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isolated from Zone 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822960"/>
            <a:ext cx="4069080" cy="4069080"/>
          </a:xfrm>
          <a:prstGeom prst="rect">
            <a:avLst/>
          </a:prstGeom>
          <a:solidFill>
            <a:srgbClr val="ECEFF1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914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MULTIPATHING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1371600"/>
            <a:ext cx="14630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63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148840"/>
            <a:ext cx="370332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 (Active)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017520"/>
            <a:ext cx="3703320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02920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 (Standby)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874520"/>
            <a:ext cx="1463040" cy="150876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938528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92040" y="3474720"/>
            <a:ext cx="3703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5204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Path 1 fails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MPIO software detects failure and instantly switches I/O to Path 2 with zero data loss.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vs SAN – Side-by-Side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011680" cy="438912"/>
          </a:xfrm>
          <a:prstGeom prst="rect">
            <a:avLst/>
          </a:prstGeom>
          <a:solidFill>
            <a:srgbClr val="1565C0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503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777240"/>
            <a:ext cx="3383280" cy="438912"/>
          </a:xfrm>
          <a:prstGeom prst="rect">
            <a:avLst/>
          </a:prstGeom>
          <a:solidFill>
            <a:srgbClr val="00897B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8503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777240"/>
            <a:ext cx="3383280" cy="438912"/>
          </a:xfrm>
          <a:prstGeom prst="rect">
            <a:avLst/>
          </a:prstGeom>
          <a:solidFill>
            <a:srgbClr val="00BCD4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8503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252728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2588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252728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258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(NFS / SMB)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252728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3258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(LUN)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72821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801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40280" y="1728216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180136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Ethernet (1/10/25 GbE)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728216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80136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/ iSCSI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203704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27685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2203704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22768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– shared file workloads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203704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27685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– database / VM I/O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67919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75234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40280" y="2679192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27523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– easy to deploy &amp; manage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2679192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7523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requires FC expertise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3154680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278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40280" y="3154680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2278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CapEx &amp; OpEx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154680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22783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CapEx (HBA, FC switches)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" y="3630168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03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40280" y="3630168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31720" y="37033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69280" y="3630168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37033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4105656"/>
            <a:ext cx="20116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17880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40280" y="4105656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41788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logs, home dirs, media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0" y="4105656"/>
            <a:ext cx="3383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41788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VMs, ERP, OLTP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82880" y="4581144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65429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240280" y="4581144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46542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NFS, SMB/CIFS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669280" y="4581144"/>
            <a:ext cx="3383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4654296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FC-SCSI, iSCSI, FCoE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Enterprise Storage Capabilities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ECEFF1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RAID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Redundant Array of Independent Disks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RAID 5 / 6 – parity-based protection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RAID 10 – mirroring + striping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single or dual disk failures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ECEFF1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1148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96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Snapshots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Point-in-time copy of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Near-instant recovery from logical errors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Space-efficient (copy-on-write / redirect-on-write)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RPO near zero for DB recovery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ECEFF1"/>
          </a:solidFill>
          <a:ln w="254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411480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99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Replication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Synchronous – zero data loss (RPO=0)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Asynchronous – low bandwidth DR replication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Cross-site to DR / Azure / cloud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Critical for Business Continuity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ECEFF1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26080"/>
            <a:ext cx="411480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99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NVMe Cache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463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NVMe SSD tier for hot data acceleration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cache + write buffer combination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data tiering (hot/warm/cold)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480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10–100× throughput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Enterprise Storage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tiered architecture combining NAS and SAN with DR replication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0" cy="3474720"/>
          </a:xfrm>
          <a:prstGeom prst="rect">
            <a:avLst/>
          </a:prstGeom>
          <a:solidFill>
            <a:srgbClr val="0D2137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CENTER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716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DB Svr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74520" y="1828800"/>
            <a:ext cx="64008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13716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App Svr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2651760"/>
            <a:ext cx="64008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00400"/>
            <a:ext cx="137160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735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Web Svr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3474720"/>
            <a:ext cx="64008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554480"/>
            <a:ext cx="1188720" cy="685800"/>
          </a:xfrm>
          <a:prstGeom prst="rect">
            <a:avLst/>
          </a:prstGeom>
          <a:solidFill>
            <a:srgbClr val="F57C00">
              <a:alpha val="80000"/>
            </a:srgbClr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6733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 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331720"/>
            <a:ext cx="1188720" cy="685800"/>
          </a:xfrm>
          <a:prstGeom prst="rect">
            <a:avLst/>
          </a:prstGeom>
          <a:solidFill>
            <a:srgbClr val="00BCD4">
              <a:alpha val="80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45059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 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31920" y="1508760"/>
            <a:ext cx="1188720" cy="685800"/>
          </a:xfrm>
          <a:prstGeom prst="rect">
            <a:avLst/>
          </a:prstGeom>
          <a:solidFill>
            <a:srgbClr val="132133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53619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2331720"/>
            <a:ext cx="1188720" cy="685800"/>
          </a:xfrm>
          <a:prstGeom prst="rect">
            <a:avLst/>
          </a:prstGeom>
          <a:solidFill>
            <a:srgbClr val="132133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2359152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(Files)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67328" y="1837944"/>
            <a:ext cx="18288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7328" y="2642616"/>
            <a:ext cx="18288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560320"/>
            <a:ext cx="1234440" cy="7315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Replication →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1097280"/>
            <a:ext cx="2148840" cy="3474720"/>
          </a:xfrm>
          <a:prstGeom prst="rect">
            <a:avLst/>
          </a:prstGeom>
          <a:solidFill>
            <a:srgbClr val="0D2137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17043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SITE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55448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Storage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269748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of SAN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NAS volumes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3375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RTO: &lt; 4hr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RPO: &lt; 15min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SAN switches eliminate single points of failure · NAS for files · SAN (FC) for databases · DR replication ensures business continuity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 Storage Matters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932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9144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RAID, snapshots, and replication protect against hardware failure, human error, and site disasters.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69280" y="932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Latency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0" y="9144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47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with NVMe caching delivers consistent sub-millisecond I/O for databases and VMs.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14800" cy="1920240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280160" y="3035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&lt; 4h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Objective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30175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Downtime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502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replication ensures rapid recovery — revenue loss from downtime avoided.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ECEFF1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669280" y="30358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Scale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69280" y="3566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30175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Growth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SAN and NAS scale to petabytes without disrupting production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is file-based, simple to deploy, and ideal for file sharing over Ethernet using NFS or SMB/CIFS.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475488" cy="47548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81051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is block-based, high-performance, and essential for databases, VMs, and enterprise applications.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475488" cy="47548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1518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151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provides a lossless, dedicated, ultra-low-latency storage network at 16/32/64 Gbps.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19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41985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 create a resilient fabric with zoning for security and multipathing for high availability.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475488" cy="475488"/>
          </a:xfrm>
          <a:prstGeom prst="ellipse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245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245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storage = RAID + Snapshots + Replication + Caching — the foundation of resilient data centers.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2744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Storage = The Foundation of Data Center Resilience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331720"/>
            <a:ext cx="27432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Center Storage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Navdeep  ·  Presented to: Arun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Center Storage Architecture</dc:title>
  <dc:subject>PptxGenJS Presentation</dc:subject>
  <dc:creator>PptxGenJS</dc:creator>
  <cp:lastModifiedBy>PptxGenJS</cp:lastModifiedBy>
  <cp:revision>1</cp:revision>
  <dcterms:created xsi:type="dcterms:W3CDTF">2026-04-16T06:46:55Z</dcterms:created>
  <dcterms:modified xsi:type="dcterms:W3CDTF">2026-04-16T06:46:55Z</dcterms:modified>
</cp:coreProperties>
</file>