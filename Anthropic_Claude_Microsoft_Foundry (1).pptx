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Welcome the room and frame the session in one line: "This deck is about how enterprises can run Anthropic's Claude models through Microsoft Foundry — Microsoft's governed AI platform — while keeping security, identity and compliance intact."</a:t>
            </a:r>
          </a:p>
          <a:p/>
          <a:p>
            <a:r>
              <a:t>WHAT TO EXPLAIN</a:t>
            </a:r>
          </a:p>
          <a:p>
            <a:r>
              <a:t>- Microsoft Foundry (formerly Azure AI Foundry) is Microsoft's control-plane for AI: it lets an enterprise discover, deploy, govern and monitor models from many vendors in one place.</a:t>
            </a:r>
          </a:p>
          <a:p>
            <a:r>
              <a:t>- Claude is Anthropic's model family. The core tension this deck resolves: how do you get Claude's intelligence while keeping Microsoft's enterprise guardrails (identity, governance, compliance)?</a:t>
            </a:r>
          </a:p>
          <a:p>
            <a:r>
              <a:t>- Walk the agenda left-to-right, right-to-left column so the audience knows the shape of the talk: platform basics -&gt; model choice -&gt; hosting choice -&gt; identity -&gt; compliance -&gt; hands-on deployment -&gt; architecture patterns -&gt; recommendation.</a:t>
            </a:r>
          </a:p>
          <a:p/>
          <a:p>
            <a:r>
              <a:t>TRANSITION</a:t>
            </a:r>
          </a:p>
          <a:p>
            <a:r>
              <a:t>"Let's start with the business problem this actually solves." -&gt; Slide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State the challenge in plain language: IT and security teams want the best AI models, but they can't sacrifice the controls they already have in Azure — SSO, RBAC, audit logs, data residency, budget control.</a:t>
            </a:r>
          </a:p>
          <a:p/>
          <a:p>
            <a:r>
              <a:t>WHAT TO EXPLAIN</a:t>
            </a:r>
          </a:p>
          <a:p>
            <a:r>
              <a:t>- The six requirements listed (Security, Governance, Compliance, Identity, Cost Control, Monitoring) are the standard checklist any enterprise architecture review will apply to a new AI vendor.</a:t>
            </a:r>
          </a:p>
          <a:p>
            <a:r>
              <a:t>- The solution statement is the thesis of the whole deck: Foundry is the "enterprise control plane," Claude is the "intelligence layer." This is a mental model worth repeating — the audience should leave remembering this split.</a:t>
            </a:r>
          </a:p>
          <a:p>
            <a:r>
              <a:t>- Emphasize "both Azure-hosted AND Anthropic-hosted" — this dual-path capability is unique and is the main technical nuance the rest of the deck unpacks.</a:t>
            </a:r>
          </a:p>
          <a:p/>
          <a:p>
            <a:r>
              <a:t>TRANSITION</a:t>
            </a:r>
          </a:p>
          <a:p>
            <a:r>
              <a:t>"To understand how that works, let's first define what Foundry actually is." -&gt; Slide 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Define Foundry concretely: it's a single pane of glass covering seven capabilities — Models, Agents, Observability, Security, Governance, Deployment, Evaluation.</a:t>
            </a:r>
          </a:p>
          <a:p/>
          <a:p>
            <a:r>
              <a:t>WHAT TO EXPLAIN</a:t>
            </a:r>
          </a:p>
          <a:p>
            <a:r>
              <a:t>- Walk the diagram: Foundry sits above everything; underneath it hangs a catalog of AI Models (multi-vendor), an Agents framework (for building autonomous workflows), AI Search (retrieval), Evaluation tooling, Monitoring, and Governance controls.</a:t>
            </a:r>
          </a:p>
          <a:p>
            <a:r>
              <a:t>- Key point: Foundry is a MODEL CATALOG, not a single model. It carries GPT, Claude, Llama, Mistral and others side-by-side, so organizations aren't locked into one vendor.</a:t>
            </a:r>
          </a:p>
          <a:p>
            <a:r>
              <a:t>- Business value box: centralized governance and a single platform mean one set of policies, one audit trail, one bill — instead of every team standing up its own AI integration.</a:t>
            </a:r>
          </a:p>
          <a:p/>
          <a:p>
            <a:r>
              <a:t>TRANSITION</a:t>
            </a:r>
          </a:p>
          <a:p>
            <a:r>
              <a:t>"With the platform defined, the natural question is: of all those models, why choose Claude?" -&gt; Slide 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Position Claude's differentiators, not as marketing, but as fit-for-purpose reasons an architect would pick it for specific workloads.</a:t>
            </a:r>
          </a:p>
          <a:p/>
          <a:p>
            <a:r>
              <a:t>WHAT TO EXPLAIN</a:t>
            </a:r>
          </a:p>
          <a:p>
            <a:r>
              <a:t>- Strengths list: call out 2-3 that matter most to your audience — e.g. for a technical crowd, emphasize "agentic workflows" and "long-running tasks"; for a business crowd, emphasize "financial analysis" and "enterprise assistants."</a:t>
            </a:r>
          </a:p>
          <a:p>
            <a:r>
              <a:t>- Claude Family tree (right side) is a quick-reference card — walk it top to bottom:</a:t>
            </a:r>
          </a:p>
          <a:p>
            <a:r>
              <a:t>  • Haiku = cheapest/fastest, good for high-volume simple tasks.</a:t>
            </a:r>
          </a:p>
          <a:p>
            <a:r>
              <a:t>  • Sonnet = the default "workhorse" for most production apps — best cost/performance balance.</a:t>
            </a:r>
          </a:p>
          <a:p>
            <a:r>
              <a:t>  • Opus = highest intelligence, used when accuracy matters more than cost/latency (e.g., research, financial modeling).</a:t>
            </a:r>
          </a:p>
          <a:p>
            <a:r>
              <a:t>  • Fable = tuned for autonomous, multi-step agentic work.</a:t>
            </a:r>
          </a:p>
          <a:p>
            <a:r>
              <a:t>  • Mythos = specialized for cybersecurity research use cases.</a:t>
            </a:r>
          </a:p>
          <a:p>
            <a:r>
              <a:t>- Note that Claude is reached through Foundry's partner model catalog — it is not a Microsoft-built model, it's a first-class partner offering.</a:t>
            </a:r>
          </a:p>
          <a:p/>
          <a:p>
            <a:r>
              <a:t>TRANSITION</a:t>
            </a:r>
          </a:p>
          <a:p>
            <a:r>
              <a:t>"Given five different Claude models, how do you actually decide which one to use for a given project? There's a simple framework." -&gt; Slide 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This is the "cheat sheet" slide — useful as a leave-behind reference for engineering teams.</a:t>
            </a:r>
          </a:p>
          <a:p/>
          <a:p>
            <a:r>
              <a:t>WHAT TO EXPLAIN</a:t>
            </a:r>
          </a:p>
          <a:p>
            <a:r>
              <a:t>- Walk a few rows as examples: "If you're building an enterprise copilot or knowledge assistant, Sonnet 5 is the default." "If you need deep financial or research reasoning, move up to Opus 5." "If you're building autonomous multi-step agents, use Fable 5." "For pure security research tooling, Mythos 5 is purpose-built." "For high-volume, low-latency APIs, Haiku 4.5 keeps cost down."</a:t>
            </a:r>
          </a:p>
          <a:p>
            <a:r>
              <a:t>- Land on the recommendation callout: Sonnet 5 covers roughly 80% of enterprise workloads — so if the audience remembers one thing, it's "start with Sonnet, escalate only when you need to."</a:t>
            </a:r>
          </a:p>
          <a:p/>
          <a:p>
            <a:r>
              <a:t>TRANSITION</a:t>
            </a:r>
          </a:p>
          <a:p>
            <a:r>
              <a:t>"Now that we know which model to pick, the next decision is WHERE it runs — and that's where Foundry gives you a real choice." -&gt; Slide 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This is the pivot slide of the whole deck — spend real time here.</a:t>
            </a:r>
          </a:p>
          <a:p/>
          <a:p>
            <a:r>
              <a:t>WHAT TO EXPLAIN</a:t>
            </a:r>
          </a:p>
          <a:p>
            <a:r>
              <a:t>- Lead with the callout: "Foundry is NOT the model — it's the management plane." This corrects a common misconception that Foundry itself runs the AI. It doesn't; it orchestrates access to models that run elsewhere.</a:t>
            </a:r>
          </a:p>
          <a:p>
            <a:r>
              <a:t>- Walk the diagram top-down: a request enters Microsoft Foundry, and Foundry routes it down one of two paths depending on how the deployment was configured:</a:t>
            </a:r>
          </a:p>
          <a:p>
            <a:r>
              <a:t>  1. Azure Hosted Claude -&gt; runs on Azure Infrastructure (inference happens inside Microsoft's cloud).</a:t>
            </a:r>
          </a:p>
          <a:p>
            <a:r>
              <a:t>  2. Anthropic Hosted Claude -&gt; runs on Anthropic Infrastructure (inference happens on Anthropic's own cloud, but still managed/billed/governed through Foundry).</a:t>
            </a:r>
          </a:p>
          <a:p>
            <a:r>
              <a:t>- This is the single most important architectural fact in the deck: same Foundry front door, two different backends. The next two slides zoom into each path individually.</a:t>
            </a:r>
          </a:p>
          <a:p/>
          <a:p>
            <a:r>
              <a:t>TRANSITION</a:t>
            </a:r>
          </a:p>
          <a:p>
            <a:r>
              <a:t>"Let's zoom into the Anthropic-hosted path first, since that's often the less familiar one." -&gt; Slide 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Walk the request flow top to bottom exactly as drawn: User/Application -&gt; Microsoft Foundry -&gt; Anthropic Infrastructure -&gt; Claude Model -&gt; Generated Response.</a:t>
            </a:r>
          </a:p>
          <a:p/>
          <a:p>
            <a:r>
              <a:t>WHAT TO EXPLAIN</a:t>
            </a:r>
          </a:p>
          <a:p>
            <a:r>
              <a:t>- The highlighted box (Anthropic Infrastructure) is the key difference from the Azure path — this is where the prompt and the model weights actually meet; that computation happens on servers Anthropic operates, not Microsoft.</a:t>
            </a:r>
          </a:p>
          <a:p>
            <a:r>
              <a:t>- Even though inference happens off-Azure, Foundry doesn't disappear — call out the "Foundry still handles" list: deployment experience, billing, project management, identity integration, and API access all stay inside the familiar Azure/Foundry experience. The end user or developer sees one consistent interface regardless of backend.</a:t>
            </a:r>
          </a:p>
          <a:p>
            <a:r>
              <a:t>- Selling point: "Latest Claude innovations generally appear here first" — because this path talks directly to Anthropic, new model versions and features often land here before they're certified and rolled into the Azure-hosted catalog.</a:t>
            </a:r>
          </a:p>
          <a:p>
            <a:r>
              <a:t>- Compliance note for the audience: prompts and outputs are processed on Anthropic's infrastructure, so this path is best suited to teams comfortable with Anthropic's own security/compliance posture, not strictly Azure's.</a:t>
            </a:r>
          </a:p>
          <a:p/>
          <a:p>
            <a:r>
              <a:t>TRANSITION</a:t>
            </a:r>
          </a:p>
          <a:p>
            <a:r>
              <a:t>"Now the mirror image — how does it work when Claude runs inside Azure itself?" -&gt; Slide 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Same five-step flow, but this time everything after Foundry stays inside Azure.</a:t>
            </a:r>
          </a:p>
          <a:p/>
          <a:p>
            <a:r>
              <a:t>WHAT TO EXPLAIN</a:t>
            </a:r>
          </a:p>
          <a:p>
            <a:r>
              <a:t>- Contrast directly with the previous slide: identical request flow shape, but the highlighted box is now "Azure Infrastructure," meaning the entire inference path — including where the prompt and Claude's weights interact — never leaves Microsoft's cloud boundary.</a:t>
            </a:r>
          </a:p>
          <a:p>
            <a:r>
              <a:t>- This matters most for regulated industries: because the request never leaves Azure, organizations can lean on Azure's existing compliance certifications (SOC 2, ISO 27001, FedRAMP, HIPAA, etc.) and Azure's data residency guarantees without needing a separate assessment of Anthropic's infrastructure.</a:t>
            </a:r>
          </a:p>
          <a:p>
            <a:r>
              <a:t>- Characteristics to stress: strong compliance alignment, better regulatory support, stronger data residency controls — these are the three reasons a bank, hospital, or government agency would choose this path.</a:t>
            </a:r>
          </a:p>
          <a:p/>
          <a:p>
            <a:r>
              <a:t>TRANSITION</a:t>
            </a:r>
          </a:p>
          <a:p>
            <a:r>
              <a:t>"So we have two valid paths. Let's put them side-by-side so the decision is crystal clear." -&gt; Slide 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This is the decision-matrix slide — many audiences will photograph this one.</a:t>
            </a:r>
          </a:p>
          <a:p/>
          <a:p>
            <a:r>
              <a:t>WHAT TO EXPLAIN</a:t>
            </a:r>
          </a:p>
          <a:p>
            <a:r>
              <a:t>- Walk the table row by row, but don't over-explain every row — hit the ones that drive decisions: Data Residency, Compliance Alignment, Regulatory Workloads, and Latest Features. These four rows are the crux of the trade-off: Azure wins on compliance/control, Anthropic wins on being first with new capability.</a:t>
            </a:r>
          </a:p>
          <a:p>
            <a:r>
              <a:t>- "Research Workloads: Good vs Excellent" — worth calling out because research and innovation teams often prefer the Anthropic-hosted path specifically to get early access to new Claude capabilities.</a:t>
            </a:r>
          </a:p>
          <a:p>
            <a:r>
              <a:t>- Decision Matrix at the bottom translates the table into a plain-English rule of thumb:</a:t>
            </a:r>
          </a:p>
          <a:p>
            <a:r>
              <a:t>  • Choose Azure Hosted for banking, healthcare, government, insurance, or any compliance-heavy environment.</a:t>
            </a:r>
          </a:p>
          <a:p>
            <a:r>
              <a:t>  • Choose Anthropic Hosted for research, innovation, early adoption, and advanced agentic workloads.</a:t>
            </a:r>
          </a:p>
          <a:p>
            <a:r>
              <a:t>- Good line to use: "This isn't Azure vs Anthropic as competitors — it's Foundry giving you both, and you pick per-workload."</a:t>
            </a:r>
          </a:p>
          <a:p/>
          <a:p>
            <a:r>
              <a:t>TRANSITION</a:t>
            </a:r>
          </a:p>
          <a:p>
            <a:r>
              <a:t>"Compliance depends heavily on how data actually flows, so let's go one level deeper into the data path itself." -&gt; Slide 10.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This slide answers the question every security reviewer asks: "Where does my data actually go?"</a:t>
            </a:r>
          </a:p>
          <a:p/>
          <a:p>
            <a:r>
              <a:t>WHAT TO EXPLAIN</a:t>
            </a:r>
          </a:p>
          <a:p>
            <a:r>
              <a:t>- Two mini pipelines side by side make the answer visual: in both cases data flows through Foundry first (so governance/logging is consistent), but then diverges — Azure Processing vs Anthropic Processing — before reaching Claude and returning a response.</a:t>
            </a:r>
          </a:p>
          <a:p>
            <a:r>
              <a:t>- Use the Security Considerations table to go deeper on the same four dimensions as the earlier comparison, but now framed specifically for a security/compliance reviewer: Processing Location, Residency Control, Regulatory Fit, Governance.</a:t>
            </a:r>
          </a:p>
          <a:p>
            <a:r>
              <a:t>- Key nuance worth saying out loud: Anthropic-hosted doesn't mean "unsecured" — it means "shared responsibility" and "review required" rather than "Azure-native by default." Many regulated customers can still use it, they just need to do their own due diligence on Anthropic's contractual and technical safeguards (referenced in the bottom callout).</a:t>
            </a:r>
          </a:p>
          <a:p/>
          <a:p>
            <a:r>
              <a:t>TRANSITION</a:t>
            </a:r>
          </a:p>
          <a:p>
            <a:r>
              <a:t>"Wherever the model runs, the request still needs to be authenticated. Let's talk identity." -&gt; Slide 11.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Introduce Microsoft Entra ID (formerly Azure Active Directory) as the recommended way to authenticate calls into Foundry/Claude — as opposed to static API keys.</a:t>
            </a:r>
          </a:p>
          <a:p/>
          <a:p>
            <a:r>
              <a:t>WHAT TO EXPLAIN</a:t>
            </a:r>
          </a:p>
          <a:p>
            <a:r>
              <a:t>- Walk the flow: Application -&gt; Microsoft Entra ID -&gt; OAuth Token -&gt; Foundry Endpoint -&gt; Claude Deployment. In plain terms: instead of embedding a secret key in code, the application proves its identity to Entra ID, gets back a short-lived token, and uses that token to call Foundry.</a:t>
            </a:r>
          </a:p>
          <a:p>
            <a:r>
              <a:t>- Benefits list maps directly to enterprise pain points: no hardcoded secrets means nothing to leak in source control; RBAC integration means you can restrict which teams/apps can call which models; Conditional Access means you can require MFA or block risky sign-ins; Managed Identity means Azure resources can authenticate without any credential at all; Enterprise auditability means every call is tied to a real identity in the logs.</a:t>
            </a:r>
          </a:p>
          <a:p>
            <a:r>
              <a:t>- This is a standard Azure identity pattern — if the audience already uses Entra ID for other apps, this should feel familiar rather than new.</a:t>
            </a:r>
          </a:p>
          <a:p/>
          <a:p>
            <a:r>
              <a:t>TRANSITION</a:t>
            </a:r>
          </a:p>
          <a:p>
            <a:r>
              <a:t>"So why does this matter more than just using a simple API key? Let's compare directly." -&gt; Slide 12.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Direct, practical comparison — useful for convincing a skeptical engineering team that the extra identity setup is worth it.</a:t>
            </a:r>
          </a:p>
          <a:p/>
          <a:p>
            <a:r>
              <a:t>WHAT TO EXPLAIN</a:t>
            </a:r>
          </a:p>
          <a:p>
            <a:r>
              <a:t>- Walk the table: API keys are simple but weak — medium security, manual rotation, no RBAC, no managed identity, limited audit logs. Entra ID is higher effort to set up once, but strong across every dimension.</a:t>
            </a:r>
          </a:p>
          <a:p>
            <a:r>
              <a:t>- Enterprise Recommendation section gives a pragmatic rule: use API keys for quick proof-of-concept work where speed matters more than governance; require Entra ID for anything going to production; and for large enterprise deployments, make Entra ID the ONLY supported path — don't allow API keys to sneak into production.</a:t>
            </a:r>
          </a:p>
          <a:p>
            <a:r>
              <a:t>- Good talking point: "API keys are fine for a Friday afternoon prototype. They are not fine for a system that's touching customer data in production."</a:t>
            </a:r>
          </a:p>
          <a:p/>
          <a:p>
            <a:r>
              <a:t>TRANSITION</a:t>
            </a:r>
          </a:p>
          <a:p>
            <a:r>
              <a:t>"With identity and hosting sorted, let's actually walk through what deploying this looks like end to end." -&gt; Slide 13.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This is the hands-on, procedural slide — treat it like a runbook.</a:t>
            </a:r>
          </a:p>
          <a:p/>
          <a:p>
            <a:r>
              <a:t>WHAT TO EXPLAIN</a:t>
            </a:r>
          </a:p>
          <a:p>
            <a:r>
              <a:t>- Walk the ten steps in order, they map to a real Azure Portal / Foundry workflow:</a:t>
            </a:r>
          </a:p>
          <a:p>
            <a:r>
              <a:t>  1. Start with an Azure Subscription (billing boundary).</a:t>
            </a:r>
          </a:p>
          <a:p>
            <a:r>
              <a:t>  2. Create/select a Resource Group (organizational container).</a:t>
            </a:r>
          </a:p>
          <a:p>
            <a:r>
              <a:t>  3. Provision a Microsoft Foundry Resource (the Foundry service instance itself).</a:t>
            </a:r>
          </a:p>
          <a:p>
            <a:r>
              <a:t>  4. Create a Foundry Project inside it (workspace for a specific team/app).</a:t>
            </a:r>
          </a:p>
          <a:p>
            <a:r>
              <a:t>  5. Open the Model Catalog (browse available models, including Claude).</a:t>
            </a:r>
          </a:p>
          <a:p>
            <a:r>
              <a:t>  6. Select the Claude Model you want (e.g., Sonnet 5).</a:t>
            </a:r>
          </a:p>
          <a:p>
            <a:r>
              <a:t>  7. Choose the version — specifically calling out "Hosted on Anthropic Infrastructure" as a selectable option at deployment time. This is literally where the Azure-hosted vs Anthropic-hosted decision gets made in the UI.</a:t>
            </a:r>
          </a:p>
          <a:p>
            <a:r>
              <a:t>  8. Deploy the model (Foundry provisions the endpoint).</a:t>
            </a:r>
          </a:p>
          <a:p>
            <a:r>
              <a:t>  9. Test it in the Playground (a built-in chat/test UI before writing any code).</a:t>
            </a:r>
          </a:p>
          <a:p>
            <a:r>
              <a:t>  10. Wire it into your application via Application Integration (SDK/API calls, ideally authenticated with Entra ID as covered earlier).</a:t>
            </a:r>
          </a:p>
          <a:p>
            <a:r>
              <a:t>- Reinforce: this whole flow lives inside the standard Microsoft Foundry deployment process — nothing exotic, no separate Anthropic account needed to get started.</a:t>
            </a:r>
          </a:p>
          <a:p/>
          <a:p>
            <a:r>
              <a:t>TRANSITION</a:t>
            </a:r>
          </a:p>
          <a:p>
            <a:r>
              <a:t>"Once deployed, how do real applications actually use Claude inside an enterprise? Let's look at two proven architecture patterns." -&gt; Slide 14.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Introduce Retrieval-Augmented Generation (RAG) as the single most common enterprise AI pattern.</a:t>
            </a:r>
          </a:p>
          <a:p/>
          <a:p>
            <a:r>
              <a:t>WHAT TO EXPLAIN</a:t>
            </a:r>
          </a:p>
          <a:p>
            <a:r>
              <a:t>- Walk the flow: User asks a question in an Application -&gt; the app queries Azure AI Search over your own indexed enterprise content -&gt; it retrieves the most relevant documents -&gt; those documents get passed into Claude Sonnet as context -&gt; Claude generates a Grounded Response back to the user.</a:t>
            </a:r>
          </a:p>
          <a:p>
            <a:r>
              <a:t>- Explain "grounded" simply: instead of Claude answering purely from what it learned during training, it answers using YOUR company's actual documents, retrieved fresh for that specific question. This directly reduces hallucination because the model is citing/using real, current source material rather than guessing.</a:t>
            </a:r>
          </a:p>
          <a:p>
            <a:r>
              <a:t>- Business Use Cases list gives the audience concrete examples to map onto their own org: HR assistant, policy search, SharePoint search, legal knowledge assistant, contract analysis, enterprise knowledge bot — all "ask a question, get an answer grounded in our own documents" patterns.</a:t>
            </a:r>
          </a:p>
          <a:p/>
          <a:p>
            <a:r>
              <a:t>TRANSITION</a:t>
            </a:r>
          </a:p>
          <a:p>
            <a:r>
              <a:t>"RAG solves the knowledge problem. The second pattern solves a different problem — combining strengths of multiple models." -&gt; Slide 15.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Introduce the idea that you don't have to choose only one model family — Foundry lets you orchestrate several in a single workflow.</a:t>
            </a:r>
          </a:p>
          <a:p/>
          <a:p>
            <a:r>
              <a:t>WHAT TO EXPLAIN</a:t>
            </a:r>
          </a:p>
          <a:p>
            <a:r>
              <a:t>- Walk the diagram: a User request goes to a Foundry Agent, which acts as an orchestrator. The agent routes part of the task to Claude (for deep reasoning) and part to GPT (for structured output), then merges both results into a single Unified Response back to the user.</a:t>
            </a:r>
          </a:p>
          <a:p>
            <a:r>
              <a:t>- Use the Model Distribution table to explain WHY you'd split work this way: Claude tends to be the stronger choice for complex reasoning, research, and coding review; GPT models are often preferred for function calling, structured JSON output, and workflow automation steps. This isn't a hard rule, but it's a practical rule of thumb many teams use.</a:t>
            </a:r>
          </a:p>
          <a:p>
            <a:r>
              <a:t>- Key message: "This pattern only works because Foundry is multi-model by design — you're not locked into a single vendor's strengths, you can use the best tool for each sub-task inside one governed platform."</a:t>
            </a:r>
          </a:p>
          <a:p/>
          <a:p>
            <a:r>
              <a:t>TRANSITION</a:t>
            </a:r>
          </a:p>
          <a:p>
            <a:r>
              <a:t>"Let's zoom back out and pull everything — hosting, identity, patterns — into a single reference architecture and a final decision guide." -&gt; Slide 16.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 TRACK</a:t>
            </a:r>
          </a:p>
          <a:p>
            <a:r>
              <a:t>This is the closing/summary slide — use it to tie every earlier concept together into one picture and one decision rule.</a:t>
            </a:r>
          </a:p>
          <a:p/>
          <a:p>
            <a:r>
              <a:t>WHAT TO EXPLAIN</a:t>
            </a:r>
          </a:p>
          <a:p>
            <a:r>
              <a:t>- Walk the vertical pipeline top to bottom as the "full stack" of a production deployment:</a:t>
            </a:r>
          </a:p>
          <a:p>
            <a:r>
              <a:t>  Users (Web/Teams/Mobile) -&gt; Enterprise App -&gt; API Layer -&gt; Azure AI Search + Business APIs (retrieval/tools) -&gt; Microsoft Foundry -&gt; Foundry Agent -&gt; Claude Sonnet 5 (the orchestration + model layer) -&gt; Monitoring / Evaluation / Content Safety (the operational guardrails) -&gt; Entra ID + RBAC -&gt; Enterprise Data (identity-gated access to the underlying data).</a:t>
            </a:r>
          </a:p>
          <a:p>
            <a:r>
              <a:t>  This single diagram is effectively the whole deck compressed into one slide — every box maps back to something explained earlier (RAG from slide 14, hosting choice from slides 6-9, identity from slides 11-12).</a:t>
            </a:r>
          </a:p>
          <a:p>
            <a:r>
              <a:t>- Close with the two bulleted recommendation lists as your final decision rule:</a:t>
            </a:r>
          </a:p>
          <a:p>
            <a:r>
              <a:t>  • Use Azure Hosted Claude when compliance is critical, data residency matters, you're running production enterprise workloads, or you're in a regulated industry.</a:t>
            </a:r>
          </a:p>
          <a:p>
            <a:r>
              <a:t>  • Use Anthropic Hosted Claude when you need the latest Claude innovation first, you're building advanced agentic workloads, or you're running research/AI-innovation initiatives.</a:t>
            </a:r>
          </a:p>
          <a:p>
            <a:r>
              <a:t>- End on the thesis from slide 2: "Foundry is the control plane, Claude is the intelligence layer — and now you know exactly how to choose where that intelligence actually runs."</a:t>
            </a:r>
          </a:p>
          <a:p/>
          <a:p>
            <a:r>
              <a:t>Q&amp;A</a:t>
            </a:r>
          </a:p>
          <a:p>
            <a:r>
              <a:t>Good moment to open the floor — common questions to anticipate: cost/pricing model, latency differences between hosting paths, how model version upgrades are handled, and how to migrate an existing Azure-hosted deployment to Anthropic-hosted (or vice versa) later.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D4AF37"/>
          </a:solidFill>
          <a:ln/>
        </p:spPr>
      </p:sp>
      <p:sp>
        <p:nvSpPr>
          <p:cNvPr id="3" name="Shape 1"/>
          <p:cNvSpPr/>
          <p:nvPr/>
        </p:nvSpPr>
        <p:spPr>
          <a:xfrm>
            <a:off x="0" y="6775704"/>
            <a:ext cx="12188952" cy="82296"/>
          </a:xfrm>
          <a:prstGeom prst="rect">
            <a:avLst/>
          </a:prstGeom>
          <a:solidFill>
            <a:srgbClr val="D4AF37"/>
          </a:solidFill>
          <a:ln/>
        </p:spPr>
      </p:sp>
      <p:sp>
        <p:nvSpPr>
          <p:cNvPr id="4" name="Text 2"/>
          <p:cNvSpPr/>
          <p:nvPr/>
        </p:nvSpPr>
        <p:spPr>
          <a:xfrm>
            <a:off x="822960" y="1417320"/>
            <a:ext cx="10515600" cy="365760"/>
          </a:xfrm>
          <a:prstGeom prst="rect">
            <a:avLst/>
          </a:prstGeom>
          <a:noFill/>
          <a:ln/>
        </p:spPr>
        <p:txBody>
          <a:bodyPr wrap="square" lIns="0" tIns="0" rIns="0" bIns="0" rtlCol="0" anchor="ctr"/>
          <a:lstStyle/>
          <a:p>
            <a:pPr indent="0" marL="0">
              <a:buNone/>
            </a:pPr>
            <a:r>
              <a:rPr lang="en-US" sz="1400" b="1" spc="300" kern="0" dirty="0">
                <a:solidFill>
                  <a:srgbClr val="D4AF37"/>
                </a:solidFill>
                <a:latin typeface="Calibri" pitchFamily="34" charset="0"/>
                <a:ea typeface="Calibri" pitchFamily="34" charset="-122"/>
                <a:cs typeface="Calibri" pitchFamily="34" charset="-120"/>
              </a:rPr>
              <a:t>ENTERPRISE AI ON MICROSOFT FOUNDRY</a:t>
            </a:r>
            <a:endParaRPr lang="en-US" sz="1400" dirty="0"/>
          </a:p>
        </p:txBody>
      </p:sp>
      <p:sp>
        <p:nvSpPr>
          <p:cNvPr id="5" name="Text 3"/>
          <p:cNvSpPr/>
          <p:nvPr/>
        </p:nvSpPr>
        <p:spPr>
          <a:xfrm>
            <a:off x="822960" y="1828800"/>
            <a:ext cx="10515600" cy="1051560"/>
          </a:xfrm>
          <a:prstGeom prst="rect">
            <a:avLst/>
          </a:prstGeom>
          <a:noFill/>
          <a:ln/>
        </p:spPr>
        <p:txBody>
          <a:bodyPr wrap="square" lIns="0" tIns="0" rIns="0" bIns="0" rtlCol="0" anchor="ctr"/>
          <a:lstStyle/>
          <a:p>
            <a:pPr indent="0" marL="0">
              <a:buNone/>
            </a:pPr>
            <a:r>
              <a:rPr lang="en-US" sz="5800" b="1" dirty="0">
                <a:solidFill>
                  <a:srgbClr val="F3EEE1"/>
                </a:solidFill>
                <a:latin typeface="Cambria" pitchFamily="34" charset="0"/>
                <a:ea typeface="Cambria" pitchFamily="34" charset="-122"/>
                <a:cs typeface="Cambria" pitchFamily="34" charset="-120"/>
              </a:rPr>
              <a:t>Anthropic Claude</a:t>
            </a:r>
            <a:endParaRPr lang="en-US" sz="5800" dirty="0"/>
          </a:p>
        </p:txBody>
      </p:sp>
      <p:sp>
        <p:nvSpPr>
          <p:cNvPr id="6" name="Text 4"/>
          <p:cNvSpPr/>
          <p:nvPr/>
        </p:nvSpPr>
        <p:spPr>
          <a:xfrm>
            <a:off x="822960" y="2697480"/>
            <a:ext cx="10515600" cy="822960"/>
          </a:xfrm>
          <a:prstGeom prst="rect">
            <a:avLst/>
          </a:prstGeom>
          <a:noFill/>
          <a:ln/>
        </p:spPr>
        <p:txBody>
          <a:bodyPr wrap="square" lIns="0" tIns="0" rIns="0" bIns="0" rtlCol="0" anchor="ctr"/>
          <a:lstStyle/>
          <a:p>
            <a:pPr indent="0" marL="0">
              <a:buNone/>
            </a:pPr>
            <a:r>
              <a:rPr lang="en-US" sz="4200" b="1" dirty="0">
                <a:solidFill>
                  <a:srgbClr val="E8CC6B"/>
                </a:solidFill>
                <a:latin typeface="Cambria" pitchFamily="34" charset="0"/>
                <a:ea typeface="Cambria" pitchFamily="34" charset="-122"/>
                <a:cs typeface="Cambria" pitchFamily="34" charset="-120"/>
              </a:rPr>
              <a:t>on Microsoft Foundry</a:t>
            </a:r>
            <a:endParaRPr lang="en-US" sz="4200" dirty="0"/>
          </a:p>
        </p:txBody>
      </p:sp>
      <p:sp>
        <p:nvSpPr>
          <p:cNvPr id="7" name="Shape 5"/>
          <p:cNvSpPr/>
          <p:nvPr/>
        </p:nvSpPr>
        <p:spPr>
          <a:xfrm>
            <a:off x="841248" y="3611880"/>
            <a:ext cx="1371600" cy="32004"/>
          </a:xfrm>
          <a:prstGeom prst="rect">
            <a:avLst/>
          </a:prstGeom>
          <a:solidFill>
            <a:srgbClr val="8A6D1D"/>
          </a:solidFill>
          <a:ln/>
        </p:spPr>
      </p:sp>
      <p:sp>
        <p:nvSpPr>
          <p:cNvPr id="8" name="Text 6"/>
          <p:cNvSpPr/>
          <p:nvPr/>
        </p:nvSpPr>
        <p:spPr>
          <a:xfrm>
            <a:off x="822960" y="3794760"/>
            <a:ext cx="10058400" cy="457200"/>
          </a:xfrm>
          <a:prstGeom prst="rect">
            <a:avLst/>
          </a:prstGeom>
          <a:noFill/>
          <a:ln/>
        </p:spPr>
        <p:txBody>
          <a:bodyPr wrap="square" lIns="0" tIns="0" rIns="0" bIns="0" rtlCol="0" anchor="ctr"/>
          <a:lstStyle/>
          <a:p>
            <a:pPr indent="0" marL="0">
              <a:buNone/>
            </a:pPr>
            <a:r>
              <a:rPr lang="en-US" sz="1700" i="1" dirty="0">
                <a:solidFill>
                  <a:srgbClr val="B9B2A0"/>
                </a:solidFill>
                <a:latin typeface="Calibri" pitchFamily="34" charset="0"/>
                <a:ea typeface="Calibri" pitchFamily="34" charset="-122"/>
                <a:cs typeface="Calibri" pitchFamily="34" charset="-120"/>
              </a:rPr>
              <a:t>Enterprise Deployment, Security, Identity &amp; Architecture Patterns</a:t>
            </a:r>
            <a:endParaRPr lang="en-US" sz="1700" dirty="0"/>
          </a:p>
        </p:txBody>
      </p:sp>
      <p:sp>
        <p:nvSpPr>
          <p:cNvPr id="9" name="Shape 7"/>
          <p:cNvSpPr/>
          <p:nvPr/>
        </p:nvSpPr>
        <p:spPr>
          <a:xfrm>
            <a:off x="822960" y="4407408"/>
            <a:ext cx="10543032" cy="2057400"/>
          </a:xfrm>
          <a:prstGeom prst="roundRect">
            <a:avLst>
              <a:gd name="adj" fmla="val 3111"/>
            </a:avLst>
          </a:prstGeom>
          <a:solidFill>
            <a:srgbClr val="161616"/>
          </a:solidFill>
          <a:ln w="12700">
            <a:solidFill>
              <a:srgbClr val="3A3226"/>
            </a:solidFill>
            <a:prstDash val="solid"/>
          </a:ln>
          <a:effectLst>
            <a:outerShdw sx="100000" sy="100000" kx="0" ky="0" algn="bl" rotWithShape="0" blurRad="101600" dist="38100" dir="5400000">
              <a:srgbClr val="000000">
                <a:alpha val="40000"/>
              </a:srgbClr>
            </a:outerShdw>
          </a:effectLst>
        </p:spPr>
      </p:sp>
      <p:sp>
        <p:nvSpPr>
          <p:cNvPr id="10" name="Text 8"/>
          <p:cNvSpPr/>
          <p:nvPr/>
        </p:nvSpPr>
        <p:spPr>
          <a:xfrm>
            <a:off x="1097280" y="4553712"/>
            <a:ext cx="365760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AGENDA</a:t>
            </a:r>
            <a:endParaRPr lang="en-US" sz="1150" dirty="0"/>
          </a:p>
        </p:txBody>
      </p:sp>
      <p:sp>
        <p:nvSpPr>
          <p:cNvPr id="11" name="Text 9"/>
          <p:cNvSpPr/>
          <p:nvPr/>
        </p:nvSpPr>
        <p:spPr>
          <a:xfrm>
            <a:off x="1097280" y="4892040"/>
            <a:ext cx="4846320" cy="1508760"/>
          </a:xfrm>
          <a:prstGeom prst="rect">
            <a:avLst/>
          </a:prstGeom>
          <a:noFill/>
          <a:ln/>
        </p:spPr>
        <p:txBody>
          <a:bodyPr wrap="square" lIns="0" tIns="0" rIns="0" bIns="0" rtlCol="0" anchor="t"/>
          <a:lstStyle/>
          <a:p>
            <a:pPr marL="177800" indent="-177800">
              <a:lnSpc>
                <a:spcPct val="108000"/>
              </a:lnSpc>
              <a:spcAft>
                <a:spcPts val="800"/>
              </a:spcAft>
              <a:buSzPct val="100000"/>
              <a:buChar char="▪"/>
            </a:pPr>
            <a:r>
              <a:rPr lang="en-US" sz="1250" dirty="0">
                <a:solidFill>
                  <a:srgbClr val="F3EEE1"/>
                </a:solidFill>
                <a:latin typeface="Calibri" pitchFamily="34" charset="0"/>
                <a:ea typeface="Calibri" pitchFamily="34" charset="-122"/>
                <a:cs typeface="Calibri" pitchFamily="34" charset="-120"/>
              </a:rPr>
              <a:t>Microsoft Foundry Overview</a:t>
            </a:r>
            <a:endParaRPr lang="en-US" sz="1250" dirty="0"/>
          </a:p>
          <a:p>
            <a:pPr marL="177800" indent="-177800">
              <a:lnSpc>
                <a:spcPct val="108000"/>
              </a:lnSpc>
              <a:spcAft>
                <a:spcPts val="800"/>
              </a:spcAft>
              <a:buSzPct val="100000"/>
              <a:buChar char="▪"/>
            </a:pPr>
            <a:r>
              <a:rPr lang="en-US" sz="1250" dirty="0">
                <a:solidFill>
                  <a:srgbClr val="F3EEE1"/>
                </a:solidFill>
                <a:latin typeface="Calibri" pitchFamily="34" charset="0"/>
                <a:ea typeface="Calibri" pitchFamily="34" charset="-122"/>
                <a:cs typeface="Calibri" pitchFamily="34" charset="-120"/>
              </a:rPr>
              <a:t>Claude Deployment Models</a:t>
            </a:r>
            <a:endParaRPr lang="en-US" sz="1250" dirty="0"/>
          </a:p>
          <a:p>
            <a:pPr marL="177800" indent="-177800">
              <a:lnSpc>
                <a:spcPct val="108000"/>
              </a:lnSpc>
              <a:spcAft>
                <a:spcPts val="800"/>
              </a:spcAft>
              <a:buSzPct val="100000"/>
              <a:buChar char="▪"/>
            </a:pPr>
            <a:r>
              <a:rPr lang="en-US" sz="1250" dirty="0">
                <a:solidFill>
                  <a:srgbClr val="F3EEE1"/>
                </a:solidFill>
                <a:latin typeface="Calibri" pitchFamily="34" charset="0"/>
                <a:ea typeface="Calibri" pitchFamily="34" charset="-122"/>
                <a:cs typeface="Calibri" pitchFamily="34" charset="-120"/>
              </a:rPr>
              <a:t>Anthropic vs Azure Hosting</a:t>
            </a:r>
            <a:endParaRPr lang="en-US" sz="1250" dirty="0"/>
          </a:p>
          <a:p>
            <a:pPr marL="177800" indent="-177800">
              <a:lnSpc>
                <a:spcPct val="108000"/>
              </a:lnSpc>
              <a:spcAft>
                <a:spcPts val="800"/>
              </a:spcAft>
              <a:buSzPct val="100000"/>
              <a:buChar char="▪"/>
            </a:pPr>
            <a:r>
              <a:rPr lang="en-US" sz="1250" dirty="0">
                <a:solidFill>
                  <a:srgbClr val="F3EEE1"/>
                </a:solidFill>
                <a:latin typeface="Calibri" pitchFamily="34" charset="0"/>
                <a:ea typeface="Calibri" pitchFamily="34" charset="-122"/>
                <a:cs typeface="Calibri" pitchFamily="34" charset="-120"/>
              </a:rPr>
              <a:t>Microsoft Entra ID Authentication</a:t>
            </a:r>
            <a:endParaRPr lang="en-US" sz="1250" dirty="0"/>
          </a:p>
          <a:p>
            <a:pPr marL="177800" indent="-177800">
              <a:lnSpc>
                <a:spcPct val="108000"/>
              </a:lnSpc>
              <a:spcAft>
                <a:spcPts val="800"/>
              </a:spcAft>
              <a:buSzPct val="100000"/>
              <a:buChar char="▪"/>
            </a:pPr>
            <a:r>
              <a:rPr lang="en-US" sz="1250" dirty="0">
                <a:solidFill>
                  <a:srgbClr val="F3EEE1"/>
                </a:solidFill>
                <a:latin typeface="Calibri" pitchFamily="34" charset="0"/>
                <a:ea typeface="Calibri" pitchFamily="34" charset="-122"/>
                <a:cs typeface="Calibri" pitchFamily="34" charset="-120"/>
              </a:rPr>
              <a:t>Data Privacy &amp; Compliance</a:t>
            </a:r>
            <a:endParaRPr lang="en-US" sz="1250" dirty="0"/>
          </a:p>
        </p:txBody>
      </p:sp>
      <p:sp>
        <p:nvSpPr>
          <p:cNvPr id="12" name="Text 10"/>
          <p:cNvSpPr/>
          <p:nvPr/>
        </p:nvSpPr>
        <p:spPr>
          <a:xfrm>
            <a:off x="6217920" y="4892040"/>
            <a:ext cx="4846320" cy="1508760"/>
          </a:xfrm>
          <a:prstGeom prst="rect">
            <a:avLst/>
          </a:prstGeom>
          <a:noFill/>
          <a:ln/>
        </p:spPr>
        <p:txBody>
          <a:bodyPr wrap="square" lIns="0" tIns="0" rIns="0" bIns="0" rtlCol="0" anchor="t"/>
          <a:lstStyle/>
          <a:p>
            <a:pPr marL="177800" indent="-177800">
              <a:lnSpc>
                <a:spcPct val="108000"/>
              </a:lnSpc>
              <a:spcAft>
                <a:spcPts val="800"/>
              </a:spcAft>
              <a:buSzPct val="100000"/>
              <a:buChar char="▪"/>
            </a:pPr>
            <a:r>
              <a:rPr lang="en-US" sz="1250" dirty="0">
                <a:solidFill>
                  <a:srgbClr val="F3EEE1"/>
                </a:solidFill>
                <a:latin typeface="Calibri" pitchFamily="34" charset="0"/>
                <a:ea typeface="Calibri" pitchFamily="34" charset="-122"/>
                <a:cs typeface="Calibri" pitchFamily="34" charset="-120"/>
              </a:rPr>
              <a:t>Deployment Walkthrough</a:t>
            </a:r>
            <a:endParaRPr lang="en-US" sz="1250" dirty="0"/>
          </a:p>
          <a:p>
            <a:pPr marL="177800" indent="-177800">
              <a:lnSpc>
                <a:spcPct val="108000"/>
              </a:lnSpc>
              <a:spcAft>
                <a:spcPts val="800"/>
              </a:spcAft>
              <a:buSzPct val="100000"/>
              <a:buChar char="▪"/>
            </a:pPr>
            <a:r>
              <a:rPr lang="en-US" sz="1250" dirty="0">
                <a:solidFill>
                  <a:srgbClr val="F3EEE1"/>
                </a:solidFill>
                <a:latin typeface="Calibri" pitchFamily="34" charset="0"/>
                <a:ea typeface="Calibri" pitchFamily="34" charset="-122"/>
                <a:cs typeface="Calibri" pitchFamily="34" charset="-120"/>
              </a:rPr>
              <a:t>Enterprise Architecture Patterns</a:t>
            </a:r>
            <a:endParaRPr lang="en-US" sz="1250" dirty="0"/>
          </a:p>
          <a:p>
            <a:pPr marL="177800" indent="-177800">
              <a:lnSpc>
                <a:spcPct val="108000"/>
              </a:lnSpc>
              <a:spcAft>
                <a:spcPts val="800"/>
              </a:spcAft>
              <a:buSzPct val="100000"/>
              <a:buChar char="▪"/>
            </a:pPr>
            <a:r>
              <a:rPr lang="en-US" sz="1250" dirty="0">
                <a:solidFill>
                  <a:srgbClr val="F3EEE1"/>
                </a:solidFill>
                <a:latin typeface="Calibri" pitchFamily="34" charset="0"/>
                <a:ea typeface="Calibri" pitchFamily="34" charset="-122"/>
                <a:cs typeface="Calibri" pitchFamily="34" charset="-120"/>
              </a:rPr>
              <a:t>Claude + Azure AI Search</a:t>
            </a:r>
            <a:endParaRPr lang="en-US" sz="1250" dirty="0"/>
          </a:p>
          <a:p>
            <a:pPr marL="177800" indent="-177800">
              <a:lnSpc>
                <a:spcPct val="108000"/>
              </a:lnSpc>
              <a:spcAft>
                <a:spcPts val="800"/>
              </a:spcAft>
              <a:buSzPct val="100000"/>
              <a:buChar char="▪"/>
            </a:pPr>
            <a:r>
              <a:rPr lang="en-US" sz="1250" dirty="0">
                <a:solidFill>
                  <a:srgbClr val="F3EEE1"/>
                </a:solidFill>
                <a:latin typeface="Calibri" pitchFamily="34" charset="0"/>
                <a:ea typeface="Calibri" pitchFamily="34" charset="-122"/>
                <a:cs typeface="Calibri" pitchFamily="34" charset="-120"/>
              </a:rPr>
              <a:t>Claude + OpenAI</a:t>
            </a:r>
            <a:endParaRPr lang="en-US" sz="1250" dirty="0"/>
          </a:p>
          <a:p>
            <a:pPr marL="177800" indent="-177800">
              <a:lnSpc>
                <a:spcPct val="108000"/>
              </a:lnSpc>
              <a:spcAft>
                <a:spcPts val="800"/>
              </a:spcAft>
              <a:buSzPct val="100000"/>
              <a:buChar char="▪"/>
            </a:pPr>
            <a:r>
              <a:rPr lang="en-US" sz="1250" dirty="0">
                <a:solidFill>
                  <a:srgbClr val="F3EEE1"/>
                </a:solidFill>
                <a:latin typeface="Calibri" pitchFamily="34" charset="0"/>
                <a:ea typeface="Calibri" pitchFamily="34" charset="-122"/>
                <a:cs typeface="Calibri" pitchFamily="34" charset="-120"/>
              </a:rPr>
              <a:t>Enterprise Recommendations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EXECUTIVE SUMMARY</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800" b="1" dirty="0">
                <a:solidFill>
                  <a:srgbClr val="F3EEE1"/>
                </a:solidFill>
                <a:latin typeface="Cambria" pitchFamily="34" charset="0"/>
                <a:ea typeface="Cambria" pitchFamily="34" charset="-122"/>
                <a:cs typeface="Cambria" pitchFamily="34" charset="-120"/>
              </a:rPr>
              <a:t>The Business Challenge</a:t>
            </a:r>
            <a:endParaRPr lang="en-US" sz="2800" dirty="0"/>
          </a:p>
        </p:txBody>
      </p:sp>
      <p:sp>
        <p:nvSpPr>
          <p:cNvPr id="5" name="Shape 3"/>
          <p:cNvSpPr/>
          <p:nvPr/>
        </p:nvSpPr>
        <p:spPr>
          <a:xfrm>
            <a:off x="457200" y="1463040"/>
            <a:ext cx="5394960" cy="4297680"/>
          </a:xfrm>
          <a:prstGeom prst="roundRect">
            <a:avLst>
              <a:gd name="adj" fmla="val 1489"/>
            </a:avLst>
          </a:prstGeom>
          <a:solidFill>
            <a:srgbClr val="161616"/>
          </a:solidFill>
          <a:ln w="12700">
            <a:solidFill>
              <a:srgbClr val="3A3226"/>
            </a:solidFill>
            <a:prstDash val="solid"/>
          </a:ln>
          <a:effectLst>
            <a:outerShdw sx="100000" sy="100000" kx="0" ky="0" algn="bl" rotWithShape="0" blurRad="101600" dist="38100" dir="5400000">
              <a:srgbClr val="000000">
                <a:alpha val="40000"/>
              </a:srgbClr>
            </a:outerShdw>
          </a:effectLst>
        </p:spPr>
      </p:sp>
      <p:sp>
        <p:nvSpPr>
          <p:cNvPr id="6" name="Text 4"/>
          <p:cNvSpPr/>
          <p:nvPr/>
        </p:nvSpPr>
        <p:spPr>
          <a:xfrm>
            <a:off x="731520" y="1691640"/>
            <a:ext cx="493776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ORGANIZATIONS WANT TO ADOPT CLAUDE WHILE MAINTAINING:</a:t>
            </a:r>
            <a:endParaRPr lang="en-US" sz="1150" dirty="0"/>
          </a:p>
        </p:txBody>
      </p:sp>
      <p:sp>
        <p:nvSpPr>
          <p:cNvPr id="7" name="Text 5"/>
          <p:cNvSpPr/>
          <p:nvPr/>
        </p:nvSpPr>
        <p:spPr>
          <a:xfrm>
            <a:off x="731520" y="2148840"/>
            <a:ext cx="4754880" cy="3383280"/>
          </a:xfrm>
          <a:prstGeom prst="rect">
            <a:avLst/>
          </a:prstGeom>
          <a:noFill/>
          <a:ln/>
        </p:spPr>
        <p:txBody>
          <a:bodyPr wrap="square" lIns="0" tIns="0" rIns="0" bIns="0" rtlCol="0" anchor="t"/>
          <a:lstStyle/>
          <a:p>
            <a:pPr marL="177800" indent="-177800">
              <a:lnSpc>
                <a:spcPct val="108000"/>
              </a:lnSpc>
              <a:spcAft>
                <a:spcPts val="1600"/>
              </a:spcAft>
              <a:buSzPct val="100000"/>
              <a:buChar char="▪"/>
            </a:pPr>
            <a:r>
              <a:rPr lang="en-US" sz="1500" dirty="0">
                <a:solidFill>
                  <a:srgbClr val="F3EEE1"/>
                </a:solidFill>
                <a:latin typeface="Calibri" pitchFamily="34" charset="0"/>
                <a:ea typeface="Calibri" pitchFamily="34" charset="-122"/>
                <a:cs typeface="Calibri" pitchFamily="34" charset="-120"/>
              </a:rPr>
              <a:t>Enterprise Security</a:t>
            </a:r>
            <a:endParaRPr lang="en-US" sz="1500" dirty="0"/>
          </a:p>
          <a:p>
            <a:pPr marL="177800" indent="-177800">
              <a:lnSpc>
                <a:spcPct val="108000"/>
              </a:lnSpc>
              <a:spcAft>
                <a:spcPts val="1600"/>
              </a:spcAft>
              <a:buSzPct val="100000"/>
              <a:buChar char="▪"/>
            </a:pPr>
            <a:r>
              <a:rPr lang="en-US" sz="1500" dirty="0">
                <a:solidFill>
                  <a:srgbClr val="F3EEE1"/>
                </a:solidFill>
                <a:latin typeface="Calibri" pitchFamily="34" charset="0"/>
                <a:ea typeface="Calibri" pitchFamily="34" charset="-122"/>
                <a:cs typeface="Calibri" pitchFamily="34" charset="-120"/>
              </a:rPr>
              <a:t>Governance</a:t>
            </a:r>
            <a:endParaRPr lang="en-US" sz="1500" dirty="0"/>
          </a:p>
          <a:p>
            <a:pPr marL="177800" indent="-177800">
              <a:lnSpc>
                <a:spcPct val="108000"/>
              </a:lnSpc>
              <a:spcAft>
                <a:spcPts val="1600"/>
              </a:spcAft>
              <a:buSzPct val="100000"/>
              <a:buChar char="▪"/>
            </a:pPr>
            <a:r>
              <a:rPr lang="en-US" sz="1500" dirty="0">
                <a:solidFill>
                  <a:srgbClr val="F3EEE1"/>
                </a:solidFill>
                <a:latin typeface="Calibri" pitchFamily="34" charset="0"/>
                <a:ea typeface="Calibri" pitchFamily="34" charset="-122"/>
                <a:cs typeface="Calibri" pitchFamily="34" charset="-120"/>
              </a:rPr>
              <a:t>Compliance</a:t>
            </a:r>
            <a:endParaRPr lang="en-US" sz="1500" dirty="0"/>
          </a:p>
          <a:p>
            <a:pPr marL="177800" indent="-177800">
              <a:lnSpc>
                <a:spcPct val="108000"/>
              </a:lnSpc>
              <a:spcAft>
                <a:spcPts val="1600"/>
              </a:spcAft>
              <a:buSzPct val="100000"/>
              <a:buChar char="▪"/>
            </a:pPr>
            <a:r>
              <a:rPr lang="en-US" sz="1500" dirty="0">
                <a:solidFill>
                  <a:srgbClr val="F3EEE1"/>
                </a:solidFill>
                <a:latin typeface="Calibri" pitchFamily="34" charset="0"/>
                <a:ea typeface="Calibri" pitchFamily="34" charset="-122"/>
                <a:cs typeface="Calibri" pitchFamily="34" charset="-120"/>
              </a:rPr>
              <a:t>Identity Management</a:t>
            </a:r>
            <a:endParaRPr lang="en-US" sz="1500" dirty="0"/>
          </a:p>
          <a:p>
            <a:pPr marL="177800" indent="-177800">
              <a:lnSpc>
                <a:spcPct val="108000"/>
              </a:lnSpc>
              <a:spcAft>
                <a:spcPts val="1600"/>
              </a:spcAft>
              <a:buSzPct val="100000"/>
              <a:buChar char="▪"/>
            </a:pPr>
            <a:r>
              <a:rPr lang="en-US" sz="1500" dirty="0">
                <a:solidFill>
                  <a:srgbClr val="F3EEE1"/>
                </a:solidFill>
                <a:latin typeface="Calibri" pitchFamily="34" charset="0"/>
                <a:ea typeface="Calibri" pitchFamily="34" charset="-122"/>
                <a:cs typeface="Calibri" pitchFamily="34" charset="-120"/>
              </a:rPr>
              <a:t>Cost Control</a:t>
            </a:r>
            <a:endParaRPr lang="en-US" sz="1500" dirty="0"/>
          </a:p>
          <a:p>
            <a:pPr marL="177800" indent="-177800">
              <a:lnSpc>
                <a:spcPct val="108000"/>
              </a:lnSpc>
              <a:spcAft>
                <a:spcPts val="1600"/>
              </a:spcAft>
              <a:buSzPct val="100000"/>
              <a:buChar char="▪"/>
            </a:pPr>
            <a:r>
              <a:rPr lang="en-US" sz="1500" dirty="0">
                <a:solidFill>
                  <a:srgbClr val="F3EEE1"/>
                </a:solidFill>
                <a:latin typeface="Calibri" pitchFamily="34" charset="0"/>
                <a:ea typeface="Calibri" pitchFamily="34" charset="-122"/>
                <a:cs typeface="Calibri" pitchFamily="34" charset="-120"/>
              </a:rPr>
              <a:t>Monitoring</a:t>
            </a:r>
            <a:endParaRPr lang="en-US" sz="1500" dirty="0"/>
          </a:p>
        </p:txBody>
      </p:sp>
      <p:sp>
        <p:nvSpPr>
          <p:cNvPr id="8" name="Shape 6"/>
          <p:cNvSpPr/>
          <p:nvPr/>
        </p:nvSpPr>
        <p:spPr>
          <a:xfrm>
            <a:off x="6126480" y="1463040"/>
            <a:ext cx="5605272" cy="2331720"/>
          </a:xfrm>
          <a:prstGeom prst="roundRect">
            <a:avLst>
              <a:gd name="adj" fmla="val 2745"/>
            </a:avLst>
          </a:prstGeom>
          <a:solidFill>
            <a:srgbClr val="1F1B10"/>
          </a:solidFill>
          <a:ln w="12700">
            <a:solidFill>
              <a:srgbClr val="3A3226"/>
            </a:solidFill>
            <a:prstDash val="solid"/>
          </a:ln>
          <a:effectLst>
            <a:outerShdw sx="100000" sy="100000" kx="0" ky="0" algn="bl" rotWithShape="0" blurRad="101600" dist="38100" dir="5400000">
              <a:srgbClr val="000000">
                <a:alpha val="40000"/>
              </a:srgbClr>
            </a:outerShdw>
          </a:effectLst>
        </p:spPr>
      </p:sp>
      <p:sp>
        <p:nvSpPr>
          <p:cNvPr id="9" name="Text 7"/>
          <p:cNvSpPr/>
          <p:nvPr/>
        </p:nvSpPr>
        <p:spPr>
          <a:xfrm>
            <a:off x="6400800" y="1645920"/>
            <a:ext cx="502920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SOLUTION</a:t>
            </a:r>
            <a:endParaRPr lang="en-US" sz="1150" dirty="0"/>
          </a:p>
        </p:txBody>
      </p:sp>
      <p:sp>
        <p:nvSpPr>
          <p:cNvPr id="10" name="Text 8"/>
          <p:cNvSpPr/>
          <p:nvPr/>
        </p:nvSpPr>
        <p:spPr>
          <a:xfrm>
            <a:off x="6400800" y="2011680"/>
            <a:ext cx="5074920" cy="1691640"/>
          </a:xfrm>
          <a:prstGeom prst="rect">
            <a:avLst/>
          </a:prstGeom>
          <a:noFill/>
          <a:ln/>
        </p:spPr>
        <p:txBody>
          <a:bodyPr wrap="square" lIns="0" tIns="0" rIns="0" bIns="0" rtlCol="0" anchor="t"/>
          <a:lstStyle/>
          <a:p>
            <a:pPr indent="0" marL="0">
              <a:lnSpc>
                <a:spcPct val="125000"/>
              </a:lnSpc>
              <a:buNone/>
            </a:pPr>
            <a:r>
              <a:rPr lang="en-US" sz="1350" dirty="0">
                <a:solidFill>
                  <a:srgbClr val="F3EEE1"/>
                </a:solidFill>
                <a:latin typeface="Calibri" pitchFamily="34" charset="0"/>
                <a:ea typeface="Calibri" pitchFamily="34" charset="-122"/>
                <a:cs typeface="Calibri" pitchFamily="34" charset="-120"/>
              </a:rPr>
              <a:t>Microsoft Foundry provides a unified AI platform where organizations can discover, deploy, govern and operate Claude models using Azure enterprise controls. Foundry supports both Azure-hosted and Anthropic-hosted Claude deployments.</a:t>
            </a:r>
            <a:endParaRPr lang="en-US" sz="1350" dirty="0"/>
          </a:p>
        </p:txBody>
      </p:sp>
      <p:sp>
        <p:nvSpPr>
          <p:cNvPr id="11" name="Shape 9"/>
          <p:cNvSpPr/>
          <p:nvPr/>
        </p:nvSpPr>
        <p:spPr>
          <a:xfrm>
            <a:off x="6126480" y="3977640"/>
            <a:ext cx="5605272" cy="1783080"/>
          </a:xfrm>
          <a:prstGeom prst="roundRect">
            <a:avLst>
              <a:gd name="adj" fmla="val 3590"/>
            </a:avLst>
          </a:prstGeom>
          <a:solidFill>
            <a:srgbClr val="141008"/>
          </a:solidFill>
          <a:ln w="12700">
            <a:solidFill>
              <a:srgbClr val="3A3226"/>
            </a:solidFill>
            <a:prstDash val="solid"/>
          </a:ln>
          <a:effectLst>
            <a:outerShdw sx="100000" sy="100000" kx="0" ky="0" algn="bl" rotWithShape="0" blurRad="101600" dist="38100" dir="5400000">
              <a:srgbClr val="000000">
                <a:alpha val="40000"/>
              </a:srgbClr>
            </a:outerShdw>
          </a:effectLst>
        </p:spPr>
      </p:sp>
      <p:sp>
        <p:nvSpPr>
          <p:cNvPr id="12" name="Shape 10"/>
          <p:cNvSpPr/>
          <p:nvPr/>
        </p:nvSpPr>
        <p:spPr>
          <a:xfrm>
            <a:off x="6126480" y="3977640"/>
            <a:ext cx="54864" cy="1783080"/>
          </a:xfrm>
          <a:prstGeom prst="rect">
            <a:avLst/>
          </a:prstGeom>
          <a:solidFill>
            <a:srgbClr val="D4AF37"/>
          </a:solidFill>
          <a:ln/>
        </p:spPr>
      </p:sp>
      <p:sp>
        <p:nvSpPr>
          <p:cNvPr id="13" name="Text 11"/>
          <p:cNvSpPr/>
          <p:nvPr/>
        </p:nvSpPr>
        <p:spPr>
          <a:xfrm>
            <a:off x="6400800" y="4160520"/>
            <a:ext cx="502920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KEY TAKEAWAY</a:t>
            </a:r>
            <a:endParaRPr lang="en-US" sz="1150" dirty="0"/>
          </a:p>
        </p:txBody>
      </p:sp>
      <p:sp>
        <p:nvSpPr>
          <p:cNvPr id="14" name="Text 12"/>
          <p:cNvSpPr/>
          <p:nvPr/>
        </p:nvSpPr>
        <p:spPr>
          <a:xfrm>
            <a:off x="6400800" y="4526280"/>
            <a:ext cx="5074920" cy="1097280"/>
          </a:xfrm>
          <a:prstGeom prst="rect">
            <a:avLst/>
          </a:prstGeom>
          <a:noFill/>
          <a:ln/>
        </p:spPr>
        <p:txBody>
          <a:bodyPr wrap="square" lIns="0" tIns="0" rIns="0" bIns="0" rtlCol="0" anchor="t"/>
          <a:lstStyle/>
          <a:p>
            <a:pPr indent="0" marL="0">
              <a:lnSpc>
                <a:spcPct val="120000"/>
              </a:lnSpc>
              <a:buNone/>
            </a:pPr>
            <a:r>
              <a:rPr lang="en-US" sz="1600" i="1" dirty="0">
                <a:solidFill>
                  <a:srgbClr val="E8CC6B"/>
                </a:solidFill>
                <a:latin typeface="Cambria" pitchFamily="34" charset="0"/>
                <a:ea typeface="Cambria" pitchFamily="34" charset="-122"/>
                <a:cs typeface="Cambria" pitchFamily="34" charset="-120"/>
              </a:rPr>
              <a:t>Microsoft Foundry becomes the enterprise control plane while Claude provides the intelligence layer.</a:t>
            </a:r>
            <a:endParaRPr lang="en-US" sz="1600" dirty="0"/>
          </a:p>
        </p:txBody>
      </p:sp>
      <p:sp>
        <p:nvSpPr>
          <p:cNvPr id="15" name="Text 13"/>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16" name="Text 14"/>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PLATFORM OVERVIEW</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800" b="1" dirty="0">
                <a:solidFill>
                  <a:srgbClr val="F3EEE1"/>
                </a:solidFill>
                <a:latin typeface="Cambria" pitchFamily="34" charset="0"/>
                <a:ea typeface="Cambria" pitchFamily="34" charset="-122"/>
                <a:cs typeface="Cambria" pitchFamily="34" charset="-120"/>
              </a:rPr>
              <a:t>What is Microsoft Foundry?</a:t>
            </a:r>
            <a:endParaRPr lang="en-US" sz="2800" dirty="0"/>
          </a:p>
        </p:txBody>
      </p:sp>
      <p:sp>
        <p:nvSpPr>
          <p:cNvPr id="5" name="Text 3"/>
          <p:cNvSpPr/>
          <p:nvPr/>
        </p:nvSpPr>
        <p:spPr>
          <a:xfrm>
            <a:off x="457200" y="1417320"/>
            <a:ext cx="457200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DEFINITION</a:t>
            </a:r>
            <a:endParaRPr lang="en-US" sz="1150" dirty="0"/>
          </a:p>
        </p:txBody>
      </p:sp>
      <p:sp>
        <p:nvSpPr>
          <p:cNvPr id="6" name="Text 4"/>
          <p:cNvSpPr/>
          <p:nvPr/>
        </p:nvSpPr>
        <p:spPr>
          <a:xfrm>
            <a:off x="457200" y="1691640"/>
            <a:ext cx="5120640" cy="365760"/>
          </a:xfrm>
          <a:prstGeom prst="rect">
            <a:avLst/>
          </a:prstGeom>
          <a:noFill/>
          <a:ln/>
        </p:spPr>
        <p:txBody>
          <a:bodyPr wrap="square" lIns="0" tIns="0" rIns="0" bIns="0" rtlCol="0" anchor="ctr"/>
          <a:lstStyle/>
          <a:p>
            <a:pPr indent="0" marL="0">
              <a:buNone/>
            </a:pPr>
            <a:r>
              <a:rPr lang="en-US" sz="1300" dirty="0">
                <a:solidFill>
                  <a:srgbClr val="B9B2A0"/>
                </a:solidFill>
                <a:latin typeface="Calibri" pitchFamily="34" charset="0"/>
                <a:ea typeface="Calibri" pitchFamily="34" charset="-122"/>
                <a:cs typeface="Calibri" pitchFamily="34" charset="-120"/>
              </a:rPr>
              <a:t>Microsoft Foundry is Microsoft's unified AI platform for:</a:t>
            </a:r>
            <a:endParaRPr lang="en-US" sz="1300" dirty="0"/>
          </a:p>
        </p:txBody>
      </p:sp>
      <p:sp>
        <p:nvSpPr>
          <p:cNvPr id="7" name="Text 5"/>
          <p:cNvSpPr/>
          <p:nvPr/>
        </p:nvSpPr>
        <p:spPr>
          <a:xfrm>
            <a:off x="457200" y="2057400"/>
            <a:ext cx="4937760" cy="2377440"/>
          </a:xfrm>
          <a:prstGeom prst="rect">
            <a:avLst/>
          </a:prstGeom>
          <a:noFill/>
          <a:ln/>
        </p:spPr>
        <p:txBody>
          <a:bodyPr wrap="square" lIns="0" tIns="0" rIns="0" bIns="0" rtlCol="0" anchor="t"/>
          <a:lstStyle/>
          <a:p>
            <a:pPr marL="177800" indent="-177800">
              <a:lnSpc>
                <a:spcPct val="108000"/>
              </a:lnSpc>
              <a:spcAft>
                <a:spcPts val="700"/>
              </a:spcAft>
              <a:buSzPct val="100000"/>
              <a:buChar char="▪"/>
            </a:pPr>
            <a:r>
              <a:rPr lang="en-US" sz="1300" dirty="0">
                <a:solidFill>
                  <a:srgbClr val="F3EEE1"/>
                </a:solidFill>
                <a:latin typeface="Calibri" pitchFamily="34" charset="0"/>
                <a:ea typeface="Calibri" pitchFamily="34" charset="-122"/>
                <a:cs typeface="Calibri" pitchFamily="34" charset="-120"/>
              </a:rPr>
              <a:t>Models</a:t>
            </a:r>
            <a:endParaRPr lang="en-US" sz="1300" dirty="0"/>
          </a:p>
          <a:p>
            <a:pPr marL="177800" indent="-177800">
              <a:lnSpc>
                <a:spcPct val="108000"/>
              </a:lnSpc>
              <a:spcAft>
                <a:spcPts val="700"/>
              </a:spcAft>
              <a:buSzPct val="100000"/>
              <a:buChar char="▪"/>
            </a:pPr>
            <a:r>
              <a:rPr lang="en-US" sz="1300" dirty="0">
                <a:solidFill>
                  <a:srgbClr val="F3EEE1"/>
                </a:solidFill>
                <a:latin typeface="Calibri" pitchFamily="34" charset="0"/>
                <a:ea typeface="Calibri" pitchFamily="34" charset="-122"/>
                <a:cs typeface="Calibri" pitchFamily="34" charset="-120"/>
              </a:rPr>
              <a:t>Agents</a:t>
            </a:r>
            <a:endParaRPr lang="en-US" sz="1300" dirty="0"/>
          </a:p>
          <a:p>
            <a:pPr marL="177800" indent="-177800">
              <a:lnSpc>
                <a:spcPct val="108000"/>
              </a:lnSpc>
              <a:spcAft>
                <a:spcPts val="700"/>
              </a:spcAft>
              <a:buSzPct val="100000"/>
              <a:buChar char="▪"/>
            </a:pPr>
            <a:r>
              <a:rPr lang="en-US" sz="1300" dirty="0">
                <a:solidFill>
                  <a:srgbClr val="F3EEE1"/>
                </a:solidFill>
                <a:latin typeface="Calibri" pitchFamily="34" charset="0"/>
                <a:ea typeface="Calibri" pitchFamily="34" charset="-122"/>
                <a:cs typeface="Calibri" pitchFamily="34" charset="-120"/>
              </a:rPr>
              <a:t>Observability</a:t>
            </a:r>
            <a:endParaRPr lang="en-US" sz="1300" dirty="0"/>
          </a:p>
          <a:p>
            <a:pPr marL="177800" indent="-177800">
              <a:lnSpc>
                <a:spcPct val="108000"/>
              </a:lnSpc>
              <a:spcAft>
                <a:spcPts val="700"/>
              </a:spcAft>
              <a:buSzPct val="100000"/>
              <a:buChar char="▪"/>
            </a:pPr>
            <a:r>
              <a:rPr lang="en-US" sz="1300" dirty="0">
                <a:solidFill>
                  <a:srgbClr val="F3EEE1"/>
                </a:solidFill>
                <a:latin typeface="Calibri" pitchFamily="34" charset="0"/>
                <a:ea typeface="Calibri" pitchFamily="34" charset="-122"/>
                <a:cs typeface="Calibri" pitchFamily="34" charset="-120"/>
              </a:rPr>
              <a:t>Security</a:t>
            </a:r>
            <a:endParaRPr lang="en-US" sz="1300" dirty="0"/>
          </a:p>
          <a:p>
            <a:pPr marL="177800" indent="-177800">
              <a:lnSpc>
                <a:spcPct val="108000"/>
              </a:lnSpc>
              <a:spcAft>
                <a:spcPts val="700"/>
              </a:spcAft>
              <a:buSzPct val="100000"/>
              <a:buChar char="▪"/>
            </a:pPr>
            <a:r>
              <a:rPr lang="en-US" sz="1300" dirty="0">
                <a:solidFill>
                  <a:srgbClr val="F3EEE1"/>
                </a:solidFill>
                <a:latin typeface="Calibri" pitchFamily="34" charset="0"/>
                <a:ea typeface="Calibri" pitchFamily="34" charset="-122"/>
                <a:cs typeface="Calibri" pitchFamily="34" charset="-120"/>
              </a:rPr>
              <a:t>Governance</a:t>
            </a:r>
            <a:endParaRPr lang="en-US" sz="1300" dirty="0"/>
          </a:p>
          <a:p>
            <a:pPr marL="177800" indent="-177800">
              <a:lnSpc>
                <a:spcPct val="108000"/>
              </a:lnSpc>
              <a:spcAft>
                <a:spcPts val="700"/>
              </a:spcAft>
              <a:buSzPct val="100000"/>
              <a:buChar char="▪"/>
            </a:pPr>
            <a:r>
              <a:rPr lang="en-US" sz="1300" dirty="0">
                <a:solidFill>
                  <a:srgbClr val="F3EEE1"/>
                </a:solidFill>
                <a:latin typeface="Calibri" pitchFamily="34" charset="0"/>
                <a:ea typeface="Calibri" pitchFamily="34" charset="-122"/>
                <a:cs typeface="Calibri" pitchFamily="34" charset="-120"/>
              </a:rPr>
              <a:t>Deployment</a:t>
            </a:r>
            <a:endParaRPr lang="en-US" sz="1300" dirty="0"/>
          </a:p>
          <a:p>
            <a:pPr marL="177800" indent="-177800">
              <a:lnSpc>
                <a:spcPct val="108000"/>
              </a:lnSpc>
              <a:spcAft>
                <a:spcPts val="700"/>
              </a:spcAft>
              <a:buSzPct val="100000"/>
              <a:buChar char="▪"/>
            </a:pPr>
            <a:r>
              <a:rPr lang="en-US" sz="1300" dirty="0">
                <a:solidFill>
                  <a:srgbClr val="F3EEE1"/>
                </a:solidFill>
                <a:latin typeface="Calibri" pitchFamily="34" charset="0"/>
                <a:ea typeface="Calibri" pitchFamily="34" charset="-122"/>
                <a:cs typeface="Calibri" pitchFamily="34" charset="-120"/>
              </a:rPr>
              <a:t>Evaluation</a:t>
            </a:r>
            <a:endParaRPr lang="en-US" sz="1300" dirty="0"/>
          </a:p>
        </p:txBody>
      </p:sp>
      <p:sp>
        <p:nvSpPr>
          <p:cNvPr id="8" name="Text 6"/>
          <p:cNvSpPr/>
          <p:nvPr/>
        </p:nvSpPr>
        <p:spPr>
          <a:xfrm>
            <a:off x="457200" y="4617720"/>
            <a:ext cx="5120640" cy="822960"/>
          </a:xfrm>
          <a:prstGeom prst="rect">
            <a:avLst/>
          </a:prstGeom>
          <a:noFill/>
          <a:ln/>
        </p:spPr>
        <p:txBody>
          <a:bodyPr wrap="square" lIns="0" tIns="0" rIns="0" bIns="0" rtlCol="0" anchor="ctr"/>
          <a:lstStyle/>
          <a:p>
            <a:pPr indent="0" marL="0">
              <a:lnSpc>
                <a:spcPct val="120000"/>
              </a:lnSpc>
              <a:buNone/>
            </a:pPr>
            <a:r>
              <a:rPr lang="en-US" sz="1200" i="1" dirty="0">
                <a:solidFill>
                  <a:srgbClr val="B9B2A0"/>
                </a:solidFill>
                <a:latin typeface="Calibri" pitchFamily="34" charset="0"/>
                <a:ea typeface="Calibri" pitchFamily="34" charset="-122"/>
                <a:cs typeface="Calibri" pitchFamily="34" charset="-120"/>
              </a:rPr>
              <a:t>It provides access to models from Microsoft, OpenAI, Anthropic, Meta, Mistral, Cohere and many others.</a:t>
            </a:r>
            <a:endParaRPr lang="en-US" sz="1200" dirty="0"/>
          </a:p>
        </p:txBody>
      </p:sp>
      <p:sp>
        <p:nvSpPr>
          <p:cNvPr id="9" name="Shape 7"/>
          <p:cNvSpPr/>
          <p:nvPr/>
        </p:nvSpPr>
        <p:spPr>
          <a:xfrm>
            <a:off x="6903720" y="1417320"/>
            <a:ext cx="3383280" cy="685800"/>
          </a:xfrm>
          <a:prstGeom prst="roundRect">
            <a:avLst>
              <a:gd name="adj" fmla="val 8000"/>
            </a:avLst>
          </a:prstGeom>
          <a:solidFill>
            <a:srgbClr val="1F1B10"/>
          </a:solidFill>
          <a:ln w="15875">
            <a:solidFill>
              <a:srgbClr val="D4AF37"/>
            </a:solidFill>
            <a:prstDash val="solid"/>
          </a:ln>
        </p:spPr>
      </p:sp>
      <p:sp>
        <p:nvSpPr>
          <p:cNvPr id="10" name="Text 8"/>
          <p:cNvSpPr/>
          <p:nvPr/>
        </p:nvSpPr>
        <p:spPr>
          <a:xfrm>
            <a:off x="6949440" y="1417320"/>
            <a:ext cx="3291840" cy="685800"/>
          </a:xfrm>
          <a:prstGeom prst="rect">
            <a:avLst/>
          </a:prstGeom>
          <a:noFill/>
          <a:ln/>
        </p:spPr>
        <p:txBody>
          <a:bodyPr wrap="square" lIns="0" tIns="0" rIns="0" bIns="0" rtlCol="0" anchor="ctr"/>
          <a:lstStyle/>
          <a:p>
            <a:pPr algn="ctr" indent="0" marL="0">
              <a:lnSpc>
                <a:spcPct val="105000"/>
              </a:lnSpc>
              <a:buNone/>
            </a:pPr>
            <a:r>
              <a:rPr lang="en-US" sz="1500" b="1" dirty="0">
                <a:solidFill>
                  <a:srgbClr val="F3EEE1"/>
                </a:solidFill>
              </a:rPr>
              <a:t>Microsoft Foundry</a:t>
            </a:r>
            <a:endParaRPr lang="en-US" sz="1500" dirty="0"/>
          </a:p>
          <a:p>
            <a:pPr algn="ctr" indent="0" marL="0">
              <a:lnSpc>
                <a:spcPct val="105000"/>
              </a:lnSpc>
              <a:buNone/>
            </a:pPr>
            <a:r>
              <a:rPr lang="en-US" sz="1000" dirty="0">
                <a:solidFill>
                  <a:srgbClr val="E8CC6B"/>
                </a:solidFill>
              </a:rPr>
              <a:t>Enterprise AI Platform</a:t>
            </a:r>
            <a:endParaRPr lang="en-US" sz="1500" dirty="0"/>
          </a:p>
        </p:txBody>
      </p:sp>
      <p:sp>
        <p:nvSpPr>
          <p:cNvPr id="11" name="Shape 9"/>
          <p:cNvSpPr/>
          <p:nvPr/>
        </p:nvSpPr>
        <p:spPr>
          <a:xfrm>
            <a:off x="8513064" y="2103120"/>
            <a:ext cx="164592" cy="320040"/>
          </a:xfrm>
          <a:prstGeom prst="downArrow">
            <a:avLst/>
          </a:prstGeom>
          <a:solidFill>
            <a:srgbClr val="D4AF37"/>
          </a:solidFill>
          <a:ln/>
        </p:spPr>
      </p:sp>
      <p:sp>
        <p:nvSpPr>
          <p:cNvPr id="12" name="Shape 10"/>
          <p:cNvSpPr/>
          <p:nvPr/>
        </p:nvSpPr>
        <p:spPr>
          <a:xfrm>
            <a:off x="5623560" y="2450592"/>
            <a:ext cx="5943600" cy="914"/>
          </a:xfrm>
          <a:prstGeom prst="line">
            <a:avLst/>
          </a:prstGeom>
          <a:noFill/>
          <a:ln w="15875">
            <a:solidFill>
              <a:srgbClr val="8A6D1D"/>
            </a:solidFill>
            <a:prstDash val="solid"/>
          </a:ln>
        </p:spPr>
      </p:sp>
      <p:sp>
        <p:nvSpPr>
          <p:cNvPr id="13" name="Shape 11"/>
          <p:cNvSpPr/>
          <p:nvPr/>
        </p:nvSpPr>
        <p:spPr>
          <a:xfrm>
            <a:off x="5623560" y="2450592"/>
            <a:ext cx="9144" cy="164592"/>
          </a:xfrm>
          <a:prstGeom prst="line">
            <a:avLst/>
          </a:prstGeom>
          <a:noFill/>
          <a:ln w="15875">
            <a:solidFill>
              <a:srgbClr val="8A6D1D"/>
            </a:solidFill>
            <a:prstDash val="solid"/>
          </a:ln>
        </p:spPr>
      </p:sp>
      <p:sp>
        <p:nvSpPr>
          <p:cNvPr id="14" name="Shape 12"/>
          <p:cNvSpPr/>
          <p:nvPr/>
        </p:nvSpPr>
        <p:spPr>
          <a:xfrm>
            <a:off x="5084064" y="2615184"/>
            <a:ext cx="1078992" cy="566928"/>
          </a:xfrm>
          <a:prstGeom prst="roundRect">
            <a:avLst>
              <a:gd name="adj" fmla="val 9677"/>
            </a:avLst>
          </a:prstGeom>
          <a:solidFill>
            <a:srgbClr val="161616"/>
          </a:solidFill>
          <a:ln w="15875">
            <a:solidFill>
              <a:srgbClr val="D4AF37"/>
            </a:solidFill>
            <a:prstDash val="solid"/>
          </a:ln>
        </p:spPr>
      </p:sp>
      <p:sp>
        <p:nvSpPr>
          <p:cNvPr id="15" name="Text 13"/>
          <p:cNvSpPr/>
          <p:nvPr/>
        </p:nvSpPr>
        <p:spPr>
          <a:xfrm>
            <a:off x="5129784" y="2615184"/>
            <a:ext cx="987552" cy="566928"/>
          </a:xfrm>
          <a:prstGeom prst="rect">
            <a:avLst/>
          </a:prstGeom>
          <a:noFill/>
          <a:ln/>
        </p:spPr>
        <p:txBody>
          <a:bodyPr wrap="square" lIns="0" tIns="0" rIns="0" bIns="0" rtlCol="0" anchor="ctr"/>
          <a:lstStyle/>
          <a:p>
            <a:pPr algn="ctr" indent="0" marL="0">
              <a:buNone/>
            </a:pPr>
            <a:r>
              <a:rPr lang="en-US" sz="950" b="1" dirty="0">
                <a:solidFill>
                  <a:srgbClr val="F3EEE1"/>
                </a:solidFill>
                <a:latin typeface="Calibri" pitchFamily="34" charset="0"/>
                <a:ea typeface="Calibri" pitchFamily="34" charset="-122"/>
                <a:cs typeface="Calibri" pitchFamily="34" charset="-120"/>
              </a:rPr>
              <a:t>AI Models</a:t>
            </a:r>
            <a:endParaRPr lang="en-US" sz="950" dirty="0"/>
          </a:p>
        </p:txBody>
      </p:sp>
      <p:sp>
        <p:nvSpPr>
          <p:cNvPr id="16" name="Shape 14"/>
          <p:cNvSpPr/>
          <p:nvPr/>
        </p:nvSpPr>
        <p:spPr>
          <a:xfrm>
            <a:off x="6812280" y="2450592"/>
            <a:ext cx="9144" cy="164592"/>
          </a:xfrm>
          <a:prstGeom prst="line">
            <a:avLst/>
          </a:prstGeom>
          <a:noFill/>
          <a:ln w="15875">
            <a:solidFill>
              <a:srgbClr val="8A6D1D"/>
            </a:solidFill>
            <a:prstDash val="solid"/>
          </a:ln>
        </p:spPr>
      </p:sp>
      <p:sp>
        <p:nvSpPr>
          <p:cNvPr id="17" name="Shape 15"/>
          <p:cNvSpPr/>
          <p:nvPr/>
        </p:nvSpPr>
        <p:spPr>
          <a:xfrm>
            <a:off x="6272784" y="2615184"/>
            <a:ext cx="1078992" cy="566928"/>
          </a:xfrm>
          <a:prstGeom prst="roundRect">
            <a:avLst>
              <a:gd name="adj" fmla="val 9677"/>
            </a:avLst>
          </a:prstGeom>
          <a:solidFill>
            <a:srgbClr val="161616"/>
          </a:solidFill>
          <a:ln w="15875">
            <a:solidFill>
              <a:srgbClr val="D4AF37"/>
            </a:solidFill>
            <a:prstDash val="solid"/>
          </a:ln>
        </p:spPr>
      </p:sp>
      <p:sp>
        <p:nvSpPr>
          <p:cNvPr id="18" name="Text 16"/>
          <p:cNvSpPr/>
          <p:nvPr/>
        </p:nvSpPr>
        <p:spPr>
          <a:xfrm>
            <a:off x="6318504" y="2615184"/>
            <a:ext cx="987552" cy="566928"/>
          </a:xfrm>
          <a:prstGeom prst="rect">
            <a:avLst/>
          </a:prstGeom>
          <a:noFill/>
          <a:ln/>
        </p:spPr>
        <p:txBody>
          <a:bodyPr wrap="square" lIns="0" tIns="0" rIns="0" bIns="0" rtlCol="0" anchor="ctr"/>
          <a:lstStyle/>
          <a:p>
            <a:pPr algn="ctr" indent="0" marL="0">
              <a:buNone/>
            </a:pPr>
            <a:r>
              <a:rPr lang="en-US" sz="950" b="1" dirty="0">
                <a:solidFill>
                  <a:srgbClr val="F3EEE1"/>
                </a:solidFill>
                <a:latin typeface="Calibri" pitchFamily="34" charset="0"/>
                <a:ea typeface="Calibri" pitchFamily="34" charset="-122"/>
                <a:cs typeface="Calibri" pitchFamily="34" charset="-120"/>
              </a:rPr>
              <a:t>Agents</a:t>
            </a:r>
            <a:endParaRPr lang="en-US" sz="950" dirty="0"/>
          </a:p>
        </p:txBody>
      </p:sp>
      <p:sp>
        <p:nvSpPr>
          <p:cNvPr id="19" name="Shape 17"/>
          <p:cNvSpPr/>
          <p:nvPr/>
        </p:nvSpPr>
        <p:spPr>
          <a:xfrm>
            <a:off x="8001000" y="2450592"/>
            <a:ext cx="9144" cy="164592"/>
          </a:xfrm>
          <a:prstGeom prst="line">
            <a:avLst/>
          </a:prstGeom>
          <a:noFill/>
          <a:ln w="15875">
            <a:solidFill>
              <a:srgbClr val="8A6D1D"/>
            </a:solidFill>
            <a:prstDash val="solid"/>
          </a:ln>
        </p:spPr>
      </p:sp>
      <p:sp>
        <p:nvSpPr>
          <p:cNvPr id="20" name="Shape 18"/>
          <p:cNvSpPr/>
          <p:nvPr/>
        </p:nvSpPr>
        <p:spPr>
          <a:xfrm>
            <a:off x="7461504" y="2615184"/>
            <a:ext cx="1078992" cy="566928"/>
          </a:xfrm>
          <a:prstGeom prst="roundRect">
            <a:avLst>
              <a:gd name="adj" fmla="val 9677"/>
            </a:avLst>
          </a:prstGeom>
          <a:solidFill>
            <a:srgbClr val="161616"/>
          </a:solidFill>
          <a:ln w="15875">
            <a:solidFill>
              <a:srgbClr val="D4AF37"/>
            </a:solidFill>
            <a:prstDash val="solid"/>
          </a:ln>
        </p:spPr>
      </p:sp>
      <p:sp>
        <p:nvSpPr>
          <p:cNvPr id="21" name="Text 19"/>
          <p:cNvSpPr/>
          <p:nvPr/>
        </p:nvSpPr>
        <p:spPr>
          <a:xfrm>
            <a:off x="7507224" y="2615184"/>
            <a:ext cx="987552" cy="566928"/>
          </a:xfrm>
          <a:prstGeom prst="rect">
            <a:avLst/>
          </a:prstGeom>
          <a:noFill/>
          <a:ln/>
        </p:spPr>
        <p:txBody>
          <a:bodyPr wrap="square" lIns="0" tIns="0" rIns="0" bIns="0" rtlCol="0" anchor="ctr"/>
          <a:lstStyle/>
          <a:p>
            <a:pPr algn="ctr" indent="0" marL="0">
              <a:buNone/>
            </a:pPr>
            <a:r>
              <a:rPr lang="en-US" sz="950" b="1" dirty="0">
                <a:solidFill>
                  <a:srgbClr val="F3EEE1"/>
                </a:solidFill>
                <a:latin typeface="Calibri" pitchFamily="34" charset="0"/>
                <a:ea typeface="Calibri" pitchFamily="34" charset="-122"/>
                <a:cs typeface="Calibri" pitchFamily="34" charset="-120"/>
              </a:rPr>
              <a:t>AI Search</a:t>
            </a:r>
            <a:endParaRPr lang="en-US" sz="950" dirty="0"/>
          </a:p>
        </p:txBody>
      </p:sp>
      <p:sp>
        <p:nvSpPr>
          <p:cNvPr id="22" name="Shape 20"/>
          <p:cNvSpPr/>
          <p:nvPr/>
        </p:nvSpPr>
        <p:spPr>
          <a:xfrm>
            <a:off x="9189720" y="2450592"/>
            <a:ext cx="9144" cy="164592"/>
          </a:xfrm>
          <a:prstGeom prst="line">
            <a:avLst/>
          </a:prstGeom>
          <a:noFill/>
          <a:ln w="15875">
            <a:solidFill>
              <a:srgbClr val="8A6D1D"/>
            </a:solidFill>
            <a:prstDash val="solid"/>
          </a:ln>
        </p:spPr>
      </p:sp>
      <p:sp>
        <p:nvSpPr>
          <p:cNvPr id="23" name="Shape 21"/>
          <p:cNvSpPr/>
          <p:nvPr/>
        </p:nvSpPr>
        <p:spPr>
          <a:xfrm>
            <a:off x="8650224" y="2615184"/>
            <a:ext cx="1078992" cy="566928"/>
          </a:xfrm>
          <a:prstGeom prst="roundRect">
            <a:avLst>
              <a:gd name="adj" fmla="val 9677"/>
            </a:avLst>
          </a:prstGeom>
          <a:solidFill>
            <a:srgbClr val="161616"/>
          </a:solidFill>
          <a:ln w="15875">
            <a:solidFill>
              <a:srgbClr val="D4AF37"/>
            </a:solidFill>
            <a:prstDash val="solid"/>
          </a:ln>
        </p:spPr>
      </p:sp>
      <p:sp>
        <p:nvSpPr>
          <p:cNvPr id="24" name="Text 22"/>
          <p:cNvSpPr/>
          <p:nvPr/>
        </p:nvSpPr>
        <p:spPr>
          <a:xfrm>
            <a:off x="8695944" y="2615184"/>
            <a:ext cx="987552" cy="566928"/>
          </a:xfrm>
          <a:prstGeom prst="rect">
            <a:avLst/>
          </a:prstGeom>
          <a:noFill/>
          <a:ln/>
        </p:spPr>
        <p:txBody>
          <a:bodyPr wrap="square" lIns="0" tIns="0" rIns="0" bIns="0" rtlCol="0" anchor="ctr"/>
          <a:lstStyle/>
          <a:p>
            <a:pPr algn="ctr" indent="0" marL="0">
              <a:buNone/>
            </a:pPr>
            <a:r>
              <a:rPr lang="en-US" sz="950" b="1" dirty="0">
                <a:solidFill>
                  <a:srgbClr val="F3EEE1"/>
                </a:solidFill>
                <a:latin typeface="Calibri" pitchFamily="34" charset="0"/>
                <a:ea typeface="Calibri" pitchFamily="34" charset="-122"/>
                <a:cs typeface="Calibri" pitchFamily="34" charset="-120"/>
              </a:rPr>
              <a:t>Evaluation</a:t>
            </a:r>
            <a:endParaRPr lang="en-US" sz="950" dirty="0"/>
          </a:p>
        </p:txBody>
      </p:sp>
      <p:sp>
        <p:nvSpPr>
          <p:cNvPr id="25" name="Shape 23"/>
          <p:cNvSpPr/>
          <p:nvPr/>
        </p:nvSpPr>
        <p:spPr>
          <a:xfrm>
            <a:off x="10378440" y="2450592"/>
            <a:ext cx="9144" cy="164592"/>
          </a:xfrm>
          <a:prstGeom prst="line">
            <a:avLst/>
          </a:prstGeom>
          <a:noFill/>
          <a:ln w="15875">
            <a:solidFill>
              <a:srgbClr val="8A6D1D"/>
            </a:solidFill>
            <a:prstDash val="solid"/>
          </a:ln>
        </p:spPr>
      </p:sp>
      <p:sp>
        <p:nvSpPr>
          <p:cNvPr id="26" name="Shape 24"/>
          <p:cNvSpPr/>
          <p:nvPr/>
        </p:nvSpPr>
        <p:spPr>
          <a:xfrm>
            <a:off x="9838944" y="2615184"/>
            <a:ext cx="1078992" cy="566928"/>
          </a:xfrm>
          <a:prstGeom prst="roundRect">
            <a:avLst>
              <a:gd name="adj" fmla="val 9677"/>
            </a:avLst>
          </a:prstGeom>
          <a:solidFill>
            <a:srgbClr val="161616"/>
          </a:solidFill>
          <a:ln w="15875">
            <a:solidFill>
              <a:srgbClr val="D4AF37"/>
            </a:solidFill>
            <a:prstDash val="solid"/>
          </a:ln>
        </p:spPr>
      </p:sp>
      <p:sp>
        <p:nvSpPr>
          <p:cNvPr id="27" name="Text 25"/>
          <p:cNvSpPr/>
          <p:nvPr/>
        </p:nvSpPr>
        <p:spPr>
          <a:xfrm>
            <a:off x="9884664" y="2615184"/>
            <a:ext cx="987552" cy="566928"/>
          </a:xfrm>
          <a:prstGeom prst="rect">
            <a:avLst/>
          </a:prstGeom>
          <a:noFill/>
          <a:ln/>
        </p:spPr>
        <p:txBody>
          <a:bodyPr wrap="square" lIns="0" tIns="0" rIns="0" bIns="0" rtlCol="0" anchor="ctr"/>
          <a:lstStyle/>
          <a:p>
            <a:pPr algn="ctr" indent="0" marL="0">
              <a:buNone/>
            </a:pPr>
            <a:r>
              <a:rPr lang="en-US" sz="950" b="1" dirty="0">
                <a:solidFill>
                  <a:srgbClr val="F3EEE1"/>
                </a:solidFill>
                <a:latin typeface="Calibri" pitchFamily="34" charset="0"/>
                <a:ea typeface="Calibri" pitchFamily="34" charset="-122"/>
                <a:cs typeface="Calibri" pitchFamily="34" charset="-120"/>
              </a:rPr>
              <a:t>Monitoring</a:t>
            </a:r>
            <a:endParaRPr lang="en-US" sz="950" dirty="0"/>
          </a:p>
        </p:txBody>
      </p:sp>
      <p:sp>
        <p:nvSpPr>
          <p:cNvPr id="28" name="Shape 26"/>
          <p:cNvSpPr/>
          <p:nvPr/>
        </p:nvSpPr>
        <p:spPr>
          <a:xfrm>
            <a:off x="11567160" y="2450592"/>
            <a:ext cx="9144" cy="164592"/>
          </a:xfrm>
          <a:prstGeom prst="line">
            <a:avLst/>
          </a:prstGeom>
          <a:noFill/>
          <a:ln w="15875">
            <a:solidFill>
              <a:srgbClr val="8A6D1D"/>
            </a:solidFill>
            <a:prstDash val="solid"/>
          </a:ln>
        </p:spPr>
      </p:sp>
      <p:sp>
        <p:nvSpPr>
          <p:cNvPr id="29" name="Shape 27"/>
          <p:cNvSpPr/>
          <p:nvPr/>
        </p:nvSpPr>
        <p:spPr>
          <a:xfrm>
            <a:off x="11027664" y="2615184"/>
            <a:ext cx="1078992" cy="566928"/>
          </a:xfrm>
          <a:prstGeom prst="roundRect">
            <a:avLst>
              <a:gd name="adj" fmla="val 9677"/>
            </a:avLst>
          </a:prstGeom>
          <a:solidFill>
            <a:srgbClr val="161616"/>
          </a:solidFill>
          <a:ln w="15875">
            <a:solidFill>
              <a:srgbClr val="D4AF37"/>
            </a:solidFill>
            <a:prstDash val="solid"/>
          </a:ln>
        </p:spPr>
      </p:sp>
      <p:sp>
        <p:nvSpPr>
          <p:cNvPr id="30" name="Text 28"/>
          <p:cNvSpPr/>
          <p:nvPr/>
        </p:nvSpPr>
        <p:spPr>
          <a:xfrm>
            <a:off x="11073384" y="2615184"/>
            <a:ext cx="987552" cy="566928"/>
          </a:xfrm>
          <a:prstGeom prst="rect">
            <a:avLst/>
          </a:prstGeom>
          <a:noFill/>
          <a:ln/>
        </p:spPr>
        <p:txBody>
          <a:bodyPr wrap="square" lIns="0" tIns="0" rIns="0" bIns="0" rtlCol="0" anchor="ctr"/>
          <a:lstStyle/>
          <a:p>
            <a:pPr algn="ctr" indent="0" marL="0">
              <a:buNone/>
            </a:pPr>
            <a:r>
              <a:rPr lang="en-US" sz="950" b="1" dirty="0">
                <a:solidFill>
                  <a:srgbClr val="F3EEE1"/>
                </a:solidFill>
                <a:latin typeface="Calibri" pitchFamily="34" charset="0"/>
                <a:ea typeface="Calibri" pitchFamily="34" charset="-122"/>
                <a:cs typeface="Calibri" pitchFamily="34" charset="-120"/>
              </a:rPr>
              <a:t>Governance</a:t>
            </a:r>
            <a:endParaRPr lang="en-US" sz="950" dirty="0"/>
          </a:p>
        </p:txBody>
      </p:sp>
      <p:sp>
        <p:nvSpPr>
          <p:cNvPr id="31" name="Shape 29"/>
          <p:cNvSpPr/>
          <p:nvPr/>
        </p:nvSpPr>
        <p:spPr>
          <a:xfrm>
            <a:off x="6903720" y="3520440"/>
            <a:ext cx="4828032" cy="2148840"/>
          </a:xfrm>
          <a:prstGeom prst="roundRect">
            <a:avLst>
              <a:gd name="adj" fmla="val 2979"/>
            </a:avLst>
          </a:prstGeom>
          <a:solidFill>
            <a:srgbClr val="1F1B10"/>
          </a:solidFill>
          <a:ln w="12700">
            <a:solidFill>
              <a:srgbClr val="3A3226"/>
            </a:solidFill>
            <a:prstDash val="solid"/>
          </a:ln>
          <a:effectLst>
            <a:outerShdw sx="100000" sy="100000" kx="0" ky="0" algn="bl" rotWithShape="0" blurRad="101600" dist="38100" dir="5400000">
              <a:srgbClr val="000000">
                <a:alpha val="40000"/>
              </a:srgbClr>
            </a:outerShdw>
          </a:effectLst>
        </p:spPr>
      </p:sp>
      <p:sp>
        <p:nvSpPr>
          <p:cNvPr id="32" name="Text 30"/>
          <p:cNvSpPr/>
          <p:nvPr/>
        </p:nvSpPr>
        <p:spPr>
          <a:xfrm>
            <a:off x="7178040" y="3657600"/>
            <a:ext cx="438912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BUSINESS VALUE</a:t>
            </a:r>
            <a:endParaRPr lang="en-US" sz="1150" dirty="0"/>
          </a:p>
        </p:txBody>
      </p:sp>
      <p:sp>
        <p:nvSpPr>
          <p:cNvPr id="33" name="Shape 31"/>
          <p:cNvSpPr/>
          <p:nvPr/>
        </p:nvSpPr>
        <p:spPr>
          <a:xfrm>
            <a:off x="7178040" y="4023360"/>
            <a:ext cx="201168" cy="201168"/>
          </a:xfrm>
          <a:prstGeom prst="roundRect">
            <a:avLst>
              <a:gd name="adj" fmla="val 18182"/>
            </a:avLst>
          </a:prstGeom>
          <a:solidFill>
            <a:srgbClr val="D4AF37"/>
          </a:solidFill>
          <a:ln/>
        </p:spPr>
      </p:sp>
      <p:sp>
        <p:nvSpPr>
          <p:cNvPr id="34" name="Text 32"/>
          <p:cNvSpPr/>
          <p:nvPr/>
        </p:nvSpPr>
        <p:spPr>
          <a:xfrm>
            <a:off x="7178040" y="4009644"/>
            <a:ext cx="201168" cy="201168"/>
          </a:xfrm>
          <a:prstGeom prst="rect">
            <a:avLst/>
          </a:prstGeom>
          <a:noFill/>
          <a:ln/>
        </p:spPr>
        <p:txBody>
          <a:bodyPr wrap="square" lIns="0" tIns="0" rIns="0" bIns="0" rtlCol="0" anchor="ctr"/>
          <a:lstStyle/>
          <a:p>
            <a:pPr algn="ctr" indent="0" marL="0">
              <a:buNone/>
            </a:pPr>
            <a:r>
              <a:rPr lang="en-US" sz="1200" b="1" dirty="0">
                <a:solidFill>
                  <a:srgbClr val="0A0A0A"/>
                </a:solidFill>
              </a:rPr>
              <a:t>✓</a:t>
            </a:r>
            <a:endParaRPr lang="en-US" sz="1200" dirty="0"/>
          </a:p>
        </p:txBody>
      </p:sp>
      <p:sp>
        <p:nvSpPr>
          <p:cNvPr id="35" name="Text 33"/>
          <p:cNvSpPr/>
          <p:nvPr/>
        </p:nvSpPr>
        <p:spPr>
          <a:xfrm>
            <a:off x="7470648" y="3968496"/>
            <a:ext cx="4005072" cy="292608"/>
          </a:xfrm>
          <a:prstGeom prst="rect">
            <a:avLst/>
          </a:prstGeom>
          <a:noFill/>
          <a:ln/>
        </p:spPr>
        <p:txBody>
          <a:bodyPr wrap="square" lIns="0" tIns="0" rIns="0" bIns="0" rtlCol="0" anchor="ctr"/>
          <a:lstStyle/>
          <a:p>
            <a:pPr indent="0" marL="0">
              <a:buNone/>
            </a:pPr>
            <a:r>
              <a:rPr lang="en-US" sz="1250" dirty="0">
                <a:solidFill>
                  <a:srgbClr val="F3EEE1"/>
                </a:solidFill>
                <a:latin typeface="Calibri" pitchFamily="34" charset="0"/>
                <a:ea typeface="Calibri" pitchFamily="34" charset="-122"/>
                <a:cs typeface="Calibri" pitchFamily="34" charset="-120"/>
              </a:rPr>
              <a:t>Centralized governance</a:t>
            </a:r>
            <a:endParaRPr lang="en-US" sz="1250" dirty="0"/>
          </a:p>
        </p:txBody>
      </p:sp>
      <p:sp>
        <p:nvSpPr>
          <p:cNvPr id="36" name="Shape 34"/>
          <p:cNvSpPr/>
          <p:nvPr/>
        </p:nvSpPr>
        <p:spPr>
          <a:xfrm>
            <a:off x="7178040" y="4407408"/>
            <a:ext cx="201168" cy="201168"/>
          </a:xfrm>
          <a:prstGeom prst="roundRect">
            <a:avLst>
              <a:gd name="adj" fmla="val 18182"/>
            </a:avLst>
          </a:prstGeom>
          <a:solidFill>
            <a:srgbClr val="D4AF37"/>
          </a:solidFill>
          <a:ln/>
        </p:spPr>
      </p:sp>
      <p:sp>
        <p:nvSpPr>
          <p:cNvPr id="37" name="Text 35"/>
          <p:cNvSpPr/>
          <p:nvPr/>
        </p:nvSpPr>
        <p:spPr>
          <a:xfrm>
            <a:off x="7178040" y="4393692"/>
            <a:ext cx="201168" cy="201168"/>
          </a:xfrm>
          <a:prstGeom prst="rect">
            <a:avLst/>
          </a:prstGeom>
          <a:noFill/>
          <a:ln/>
        </p:spPr>
        <p:txBody>
          <a:bodyPr wrap="square" lIns="0" tIns="0" rIns="0" bIns="0" rtlCol="0" anchor="ctr"/>
          <a:lstStyle/>
          <a:p>
            <a:pPr algn="ctr" indent="0" marL="0">
              <a:buNone/>
            </a:pPr>
            <a:r>
              <a:rPr lang="en-US" sz="1200" b="1" dirty="0">
                <a:solidFill>
                  <a:srgbClr val="0A0A0A"/>
                </a:solidFill>
              </a:rPr>
              <a:t>✓</a:t>
            </a:r>
            <a:endParaRPr lang="en-US" sz="1200" dirty="0"/>
          </a:p>
        </p:txBody>
      </p:sp>
      <p:sp>
        <p:nvSpPr>
          <p:cNvPr id="38" name="Text 36"/>
          <p:cNvSpPr/>
          <p:nvPr/>
        </p:nvSpPr>
        <p:spPr>
          <a:xfrm>
            <a:off x="7470648" y="4352544"/>
            <a:ext cx="4005072" cy="292608"/>
          </a:xfrm>
          <a:prstGeom prst="rect">
            <a:avLst/>
          </a:prstGeom>
          <a:noFill/>
          <a:ln/>
        </p:spPr>
        <p:txBody>
          <a:bodyPr wrap="square" lIns="0" tIns="0" rIns="0" bIns="0" rtlCol="0" anchor="ctr"/>
          <a:lstStyle/>
          <a:p>
            <a:pPr indent="0" marL="0">
              <a:buNone/>
            </a:pPr>
            <a:r>
              <a:rPr lang="en-US" sz="1250" dirty="0">
                <a:solidFill>
                  <a:srgbClr val="F3EEE1"/>
                </a:solidFill>
                <a:latin typeface="Calibri" pitchFamily="34" charset="0"/>
                <a:ea typeface="Calibri" pitchFamily="34" charset="-122"/>
                <a:cs typeface="Calibri" pitchFamily="34" charset="-120"/>
              </a:rPr>
              <a:t>Enterprise security</a:t>
            </a:r>
            <a:endParaRPr lang="en-US" sz="1250" dirty="0"/>
          </a:p>
        </p:txBody>
      </p:sp>
      <p:sp>
        <p:nvSpPr>
          <p:cNvPr id="39" name="Shape 37"/>
          <p:cNvSpPr/>
          <p:nvPr/>
        </p:nvSpPr>
        <p:spPr>
          <a:xfrm>
            <a:off x="7178040" y="4791456"/>
            <a:ext cx="201168" cy="201168"/>
          </a:xfrm>
          <a:prstGeom prst="roundRect">
            <a:avLst>
              <a:gd name="adj" fmla="val 18182"/>
            </a:avLst>
          </a:prstGeom>
          <a:solidFill>
            <a:srgbClr val="D4AF37"/>
          </a:solidFill>
          <a:ln/>
        </p:spPr>
      </p:sp>
      <p:sp>
        <p:nvSpPr>
          <p:cNvPr id="40" name="Text 38"/>
          <p:cNvSpPr/>
          <p:nvPr/>
        </p:nvSpPr>
        <p:spPr>
          <a:xfrm>
            <a:off x="7178040" y="4777740"/>
            <a:ext cx="201168" cy="201168"/>
          </a:xfrm>
          <a:prstGeom prst="rect">
            <a:avLst/>
          </a:prstGeom>
          <a:noFill/>
          <a:ln/>
        </p:spPr>
        <p:txBody>
          <a:bodyPr wrap="square" lIns="0" tIns="0" rIns="0" bIns="0" rtlCol="0" anchor="ctr"/>
          <a:lstStyle/>
          <a:p>
            <a:pPr algn="ctr" indent="0" marL="0">
              <a:buNone/>
            </a:pPr>
            <a:r>
              <a:rPr lang="en-US" sz="1200" b="1" dirty="0">
                <a:solidFill>
                  <a:srgbClr val="0A0A0A"/>
                </a:solidFill>
              </a:rPr>
              <a:t>✓</a:t>
            </a:r>
            <a:endParaRPr lang="en-US" sz="1200" dirty="0"/>
          </a:p>
        </p:txBody>
      </p:sp>
      <p:sp>
        <p:nvSpPr>
          <p:cNvPr id="41" name="Text 39"/>
          <p:cNvSpPr/>
          <p:nvPr/>
        </p:nvSpPr>
        <p:spPr>
          <a:xfrm>
            <a:off x="7470648" y="4736592"/>
            <a:ext cx="4005072" cy="292608"/>
          </a:xfrm>
          <a:prstGeom prst="rect">
            <a:avLst/>
          </a:prstGeom>
          <a:noFill/>
          <a:ln/>
        </p:spPr>
        <p:txBody>
          <a:bodyPr wrap="square" lIns="0" tIns="0" rIns="0" bIns="0" rtlCol="0" anchor="ctr"/>
          <a:lstStyle/>
          <a:p>
            <a:pPr indent="0" marL="0">
              <a:buNone/>
            </a:pPr>
            <a:r>
              <a:rPr lang="en-US" sz="1250" dirty="0">
                <a:solidFill>
                  <a:srgbClr val="F3EEE1"/>
                </a:solidFill>
                <a:latin typeface="Calibri" pitchFamily="34" charset="0"/>
                <a:ea typeface="Calibri" pitchFamily="34" charset="-122"/>
                <a:cs typeface="Calibri" pitchFamily="34" charset="-120"/>
              </a:rPr>
              <a:t>Single AI platform</a:t>
            </a:r>
            <a:endParaRPr lang="en-US" sz="1250" dirty="0"/>
          </a:p>
        </p:txBody>
      </p:sp>
      <p:sp>
        <p:nvSpPr>
          <p:cNvPr id="42" name="Shape 40"/>
          <p:cNvSpPr/>
          <p:nvPr/>
        </p:nvSpPr>
        <p:spPr>
          <a:xfrm>
            <a:off x="7178040" y="5175504"/>
            <a:ext cx="201168" cy="201168"/>
          </a:xfrm>
          <a:prstGeom prst="roundRect">
            <a:avLst>
              <a:gd name="adj" fmla="val 18182"/>
            </a:avLst>
          </a:prstGeom>
          <a:solidFill>
            <a:srgbClr val="D4AF37"/>
          </a:solidFill>
          <a:ln/>
        </p:spPr>
      </p:sp>
      <p:sp>
        <p:nvSpPr>
          <p:cNvPr id="43" name="Text 41"/>
          <p:cNvSpPr/>
          <p:nvPr/>
        </p:nvSpPr>
        <p:spPr>
          <a:xfrm>
            <a:off x="7178040" y="5161788"/>
            <a:ext cx="201168" cy="201168"/>
          </a:xfrm>
          <a:prstGeom prst="rect">
            <a:avLst/>
          </a:prstGeom>
          <a:noFill/>
          <a:ln/>
        </p:spPr>
        <p:txBody>
          <a:bodyPr wrap="square" lIns="0" tIns="0" rIns="0" bIns="0" rtlCol="0" anchor="ctr"/>
          <a:lstStyle/>
          <a:p>
            <a:pPr algn="ctr" indent="0" marL="0">
              <a:buNone/>
            </a:pPr>
            <a:r>
              <a:rPr lang="en-US" sz="1200" b="1" dirty="0">
                <a:solidFill>
                  <a:srgbClr val="0A0A0A"/>
                </a:solidFill>
              </a:rPr>
              <a:t>✓</a:t>
            </a:r>
            <a:endParaRPr lang="en-US" sz="1200" dirty="0"/>
          </a:p>
        </p:txBody>
      </p:sp>
      <p:sp>
        <p:nvSpPr>
          <p:cNvPr id="44" name="Text 42"/>
          <p:cNvSpPr/>
          <p:nvPr/>
        </p:nvSpPr>
        <p:spPr>
          <a:xfrm>
            <a:off x="7470648" y="5120640"/>
            <a:ext cx="4005072" cy="292608"/>
          </a:xfrm>
          <a:prstGeom prst="rect">
            <a:avLst/>
          </a:prstGeom>
          <a:noFill/>
          <a:ln/>
        </p:spPr>
        <p:txBody>
          <a:bodyPr wrap="square" lIns="0" tIns="0" rIns="0" bIns="0" rtlCol="0" anchor="ctr"/>
          <a:lstStyle/>
          <a:p>
            <a:pPr indent="0" marL="0">
              <a:buNone/>
            </a:pPr>
            <a:r>
              <a:rPr lang="en-US" sz="1250" dirty="0">
                <a:solidFill>
                  <a:srgbClr val="F3EEE1"/>
                </a:solidFill>
                <a:latin typeface="Calibri" pitchFamily="34" charset="0"/>
                <a:ea typeface="Calibri" pitchFamily="34" charset="-122"/>
                <a:cs typeface="Calibri" pitchFamily="34" charset="-120"/>
              </a:rPr>
              <a:t>Multi-model strategy</a:t>
            </a:r>
            <a:endParaRPr lang="en-US" sz="1250" dirty="0"/>
          </a:p>
        </p:txBody>
      </p:sp>
      <p:sp>
        <p:nvSpPr>
          <p:cNvPr id="45" name="Text 43"/>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46" name="Text 44"/>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MODEL RATIONALE</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800" b="1" dirty="0">
                <a:solidFill>
                  <a:srgbClr val="F3EEE1"/>
                </a:solidFill>
                <a:latin typeface="Cambria" pitchFamily="34" charset="0"/>
                <a:ea typeface="Cambria" pitchFamily="34" charset="-122"/>
                <a:cs typeface="Cambria" pitchFamily="34" charset="-120"/>
              </a:rPr>
              <a:t>Why Claude?</a:t>
            </a:r>
            <a:endParaRPr lang="en-US" sz="2800" dirty="0"/>
          </a:p>
        </p:txBody>
      </p:sp>
      <p:sp>
        <p:nvSpPr>
          <p:cNvPr id="5" name="Text 3"/>
          <p:cNvSpPr/>
          <p:nvPr/>
        </p:nvSpPr>
        <p:spPr>
          <a:xfrm>
            <a:off x="457200" y="1417320"/>
            <a:ext cx="548640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CLAUDE STRENGTHS — ANTHROPIC CLAUDE EXCELS IN:</a:t>
            </a:r>
            <a:endParaRPr lang="en-US" sz="1150" dirty="0"/>
          </a:p>
        </p:txBody>
      </p:sp>
      <p:sp>
        <p:nvSpPr>
          <p:cNvPr id="6" name="Text 4"/>
          <p:cNvSpPr/>
          <p:nvPr/>
        </p:nvSpPr>
        <p:spPr>
          <a:xfrm>
            <a:off x="457200" y="1783080"/>
            <a:ext cx="2834640" cy="2926080"/>
          </a:xfrm>
          <a:prstGeom prst="rect">
            <a:avLst/>
          </a:prstGeom>
          <a:noFill/>
          <a:ln/>
        </p:spPr>
        <p:txBody>
          <a:bodyPr wrap="square" lIns="0" tIns="0" rIns="0" bIns="0" rtlCol="0" anchor="t"/>
          <a:lstStyle/>
          <a:p>
            <a:pPr marL="177800" indent="-177800">
              <a:lnSpc>
                <a:spcPct val="108000"/>
              </a:lnSpc>
              <a:spcAft>
                <a:spcPts val="1200"/>
              </a:spcAft>
              <a:buSzPct val="100000"/>
              <a:buChar char="▪"/>
            </a:pPr>
            <a:r>
              <a:rPr lang="en-US" sz="1300" dirty="0">
                <a:solidFill>
                  <a:srgbClr val="F3EEE1"/>
                </a:solidFill>
                <a:latin typeface="Calibri" pitchFamily="34" charset="0"/>
                <a:ea typeface="Calibri" pitchFamily="34" charset="-122"/>
                <a:cs typeface="Calibri" pitchFamily="34" charset="-120"/>
              </a:rPr>
              <a:t>Advanced reasoning</a:t>
            </a:r>
            <a:endParaRPr lang="en-US" sz="1300" dirty="0"/>
          </a:p>
          <a:p>
            <a:pPr marL="177800" indent="-177800">
              <a:lnSpc>
                <a:spcPct val="108000"/>
              </a:lnSpc>
              <a:spcAft>
                <a:spcPts val="1200"/>
              </a:spcAft>
              <a:buSzPct val="100000"/>
              <a:buChar char="▪"/>
            </a:pPr>
            <a:r>
              <a:rPr lang="en-US" sz="1300" dirty="0">
                <a:solidFill>
                  <a:srgbClr val="F3EEE1"/>
                </a:solidFill>
                <a:latin typeface="Calibri" pitchFamily="34" charset="0"/>
                <a:ea typeface="Calibri" pitchFamily="34" charset="-122"/>
                <a:cs typeface="Calibri" pitchFamily="34" charset="-120"/>
              </a:rPr>
              <a:t>Coding</a:t>
            </a:r>
            <a:endParaRPr lang="en-US" sz="1300" dirty="0"/>
          </a:p>
          <a:p>
            <a:pPr marL="177800" indent="-177800">
              <a:lnSpc>
                <a:spcPct val="108000"/>
              </a:lnSpc>
              <a:spcAft>
                <a:spcPts val="1200"/>
              </a:spcAft>
              <a:buSzPct val="100000"/>
              <a:buChar char="▪"/>
            </a:pPr>
            <a:r>
              <a:rPr lang="en-US" sz="1300" dirty="0">
                <a:solidFill>
                  <a:srgbClr val="F3EEE1"/>
                </a:solidFill>
                <a:latin typeface="Calibri" pitchFamily="34" charset="0"/>
                <a:ea typeface="Calibri" pitchFamily="34" charset="-122"/>
                <a:cs typeface="Calibri" pitchFamily="34" charset="-120"/>
              </a:rPr>
              <a:t>Agentic workflows</a:t>
            </a:r>
            <a:endParaRPr lang="en-US" sz="1300" dirty="0"/>
          </a:p>
          <a:p>
            <a:pPr marL="177800" indent="-177800">
              <a:lnSpc>
                <a:spcPct val="108000"/>
              </a:lnSpc>
              <a:spcAft>
                <a:spcPts val="1200"/>
              </a:spcAft>
              <a:buSzPct val="100000"/>
              <a:buChar char="▪"/>
            </a:pPr>
            <a:r>
              <a:rPr lang="en-US" sz="1300" dirty="0">
                <a:solidFill>
                  <a:srgbClr val="F3EEE1"/>
                </a:solidFill>
                <a:latin typeface="Calibri" pitchFamily="34" charset="0"/>
                <a:ea typeface="Calibri" pitchFamily="34" charset="-122"/>
                <a:cs typeface="Calibri" pitchFamily="34" charset="-120"/>
              </a:rPr>
              <a:t>Long-running tasks</a:t>
            </a:r>
            <a:endParaRPr lang="en-US" sz="1300" dirty="0"/>
          </a:p>
        </p:txBody>
      </p:sp>
      <p:sp>
        <p:nvSpPr>
          <p:cNvPr id="7" name="Text 5"/>
          <p:cNvSpPr/>
          <p:nvPr/>
        </p:nvSpPr>
        <p:spPr>
          <a:xfrm>
            <a:off x="3429000" y="1783080"/>
            <a:ext cx="2834640" cy="2926080"/>
          </a:xfrm>
          <a:prstGeom prst="rect">
            <a:avLst/>
          </a:prstGeom>
          <a:noFill/>
          <a:ln/>
        </p:spPr>
        <p:txBody>
          <a:bodyPr wrap="square" lIns="0" tIns="0" rIns="0" bIns="0" rtlCol="0" anchor="t"/>
          <a:lstStyle/>
          <a:p>
            <a:pPr marL="177800" indent="-177800">
              <a:lnSpc>
                <a:spcPct val="108000"/>
              </a:lnSpc>
              <a:spcAft>
                <a:spcPts val="1200"/>
              </a:spcAft>
              <a:buSzPct val="100000"/>
              <a:buChar char="▪"/>
            </a:pPr>
            <a:r>
              <a:rPr lang="en-US" sz="1300" dirty="0">
                <a:solidFill>
                  <a:srgbClr val="F3EEE1"/>
                </a:solidFill>
                <a:latin typeface="Calibri" pitchFamily="34" charset="0"/>
                <a:ea typeface="Calibri" pitchFamily="34" charset="-122"/>
                <a:cs typeface="Calibri" pitchFamily="34" charset="-120"/>
              </a:rPr>
              <a:t>Financial analysis</a:t>
            </a:r>
            <a:endParaRPr lang="en-US" sz="1300" dirty="0"/>
          </a:p>
          <a:p>
            <a:pPr marL="177800" indent="-177800">
              <a:lnSpc>
                <a:spcPct val="108000"/>
              </a:lnSpc>
              <a:spcAft>
                <a:spcPts val="1200"/>
              </a:spcAft>
              <a:buSzPct val="100000"/>
              <a:buChar char="▪"/>
            </a:pPr>
            <a:r>
              <a:rPr lang="en-US" sz="1300" dirty="0">
                <a:solidFill>
                  <a:srgbClr val="F3EEE1"/>
                </a:solidFill>
                <a:latin typeface="Calibri" pitchFamily="34" charset="0"/>
                <a:ea typeface="Calibri" pitchFamily="34" charset="-122"/>
                <a:cs typeface="Calibri" pitchFamily="34" charset="-120"/>
              </a:rPr>
              <a:t>Large document processing</a:t>
            </a:r>
            <a:endParaRPr lang="en-US" sz="1300" dirty="0"/>
          </a:p>
          <a:p>
            <a:pPr marL="177800" indent="-177800">
              <a:lnSpc>
                <a:spcPct val="108000"/>
              </a:lnSpc>
              <a:spcAft>
                <a:spcPts val="1200"/>
              </a:spcAft>
              <a:buSzPct val="100000"/>
              <a:buChar char="▪"/>
            </a:pPr>
            <a:r>
              <a:rPr lang="en-US" sz="1300" dirty="0">
                <a:solidFill>
                  <a:srgbClr val="F3EEE1"/>
                </a:solidFill>
                <a:latin typeface="Calibri" pitchFamily="34" charset="0"/>
                <a:ea typeface="Calibri" pitchFamily="34" charset="-122"/>
                <a:cs typeface="Calibri" pitchFamily="34" charset="-120"/>
              </a:rPr>
              <a:t>Multi-modal understanding</a:t>
            </a:r>
            <a:endParaRPr lang="en-US" sz="1300" dirty="0"/>
          </a:p>
          <a:p>
            <a:pPr marL="177800" indent="-177800">
              <a:lnSpc>
                <a:spcPct val="108000"/>
              </a:lnSpc>
              <a:spcAft>
                <a:spcPts val="1200"/>
              </a:spcAft>
              <a:buSzPct val="100000"/>
              <a:buChar char="▪"/>
            </a:pPr>
            <a:r>
              <a:rPr lang="en-US" sz="1300" dirty="0">
                <a:solidFill>
                  <a:srgbClr val="F3EEE1"/>
                </a:solidFill>
                <a:latin typeface="Calibri" pitchFamily="34" charset="0"/>
                <a:ea typeface="Calibri" pitchFamily="34" charset="-122"/>
                <a:cs typeface="Calibri" pitchFamily="34" charset="-120"/>
              </a:rPr>
              <a:t>Enterprise assistants</a:t>
            </a:r>
            <a:endParaRPr lang="en-US" sz="1300" dirty="0"/>
          </a:p>
        </p:txBody>
      </p:sp>
      <p:sp>
        <p:nvSpPr>
          <p:cNvPr id="8" name="Text 6"/>
          <p:cNvSpPr/>
          <p:nvPr/>
        </p:nvSpPr>
        <p:spPr>
          <a:xfrm>
            <a:off x="457200" y="5074920"/>
            <a:ext cx="5760720" cy="640080"/>
          </a:xfrm>
          <a:prstGeom prst="rect">
            <a:avLst/>
          </a:prstGeom>
          <a:noFill/>
          <a:ln/>
        </p:spPr>
        <p:txBody>
          <a:bodyPr wrap="square" lIns="0" tIns="0" rIns="0" bIns="0" rtlCol="0" anchor="ctr"/>
          <a:lstStyle/>
          <a:p>
            <a:pPr indent="0" marL="0">
              <a:lnSpc>
                <a:spcPct val="120000"/>
              </a:lnSpc>
              <a:buNone/>
            </a:pPr>
            <a:r>
              <a:rPr lang="en-US" sz="1150" i="1" dirty="0">
                <a:solidFill>
                  <a:srgbClr val="B9B2A0"/>
                </a:solidFill>
                <a:latin typeface="Calibri" pitchFamily="34" charset="0"/>
                <a:ea typeface="Calibri" pitchFamily="34" charset="-122"/>
                <a:cs typeface="Calibri" pitchFamily="34" charset="-120"/>
              </a:rPr>
              <a:t>Claude models are available through Microsoft Foundry's partner model catalog.</a:t>
            </a:r>
            <a:endParaRPr lang="en-US" sz="1150" dirty="0"/>
          </a:p>
        </p:txBody>
      </p:sp>
      <p:sp>
        <p:nvSpPr>
          <p:cNvPr id="9" name="Text 7"/>
          <p:cNvSpPr/>
          <p:nvPr/>
        </p:nvSpPr>
        <p:spPr>
          <a:xfrm>
            <a:off x="6720840" y="1417320"/>
            <a:ext cx="365760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CLAUDE FAMILY</a:t>
            </a:r>
            <a:endParaRPr lang="en-US" sz="1150" dirty="0"/>
          </a:p>
        </p:txBody>
      </p:sp>
      <p:sp>
        <p:nvSpPr>
          <p:cNvPr id="10" name="Shape 8"/>
          <p:cNvSpPr/>
          <p:nvPr/>
        </p:nvSpPr>
        <p:spPr>
          <a:xfrm>
            <a:off x="6720840" y="1783080"/>
            <a:ext cx="4983480" cy="713232"/>
          </a:xfrm>
          <a:prstGeom prst="roundRect">
            <a:avLst>
              <a:gd name="adj" fmla="val 7692"/>
            </a:avLst>
          </a:prstGeom>
          <a:solidFill>
            <a:srgbClr val="1F1B10"/>
          </a:solidFill>
          <a:ln w="15875">
            <a:solidFill>
              <a:srgbClr val="D4AF37"/>
            </a:solidFill>
            <a:prstDash val="solid"/>
          </a:ln>
        </p:spPr>
      </p:sp>
      <p:sp>
        <p:nvSpPr>
          <p:cNvPr id="11" name="Text 9"/>
          <p:cNvSpPr/>
          <p:nvPr/>
        </p:nvSpPr>
        <p:spPr>
          <a:xfrm>
            <a:off x="6766560" y="1783080"/>
            <a:ext cx="4892040" cy="713232"/>
          </a:xfrm>
          <a:prstGeom prst="rect">
            <a:avLst/>
          </a:prstGeom>
          <a:noFill/>
          <a:ln/>
        </p:spPr>
        <p:txBody>
          <a:bodyPr wrap="square" lIns="0" tIns="0" rIns="0" bIns="0" rtlCol="0" anchor="ctr"/>
          <a:lstStyle/>
          <a:p>
            <a:pPr algn="ctr" indent="0" marL="0">
              <a:lnSpc>
                <a:spcPct val="105000"/>
              </a:lnSpc>
              <a:buNone/>
            </a:pPr>
            <a:r>
              <a:rPr lang="en-US" sz="1300" b="1" dirty="0">
                <a:solidFill>
                  <a:srgbClr val="F3EEE1"/>
                </a:solidFill>
              </a:rPr>
              <a:t>Haiku</a:t>
            </a:r>
            <a:endParaRPr lang="en-US" sz="1300" dirty="0"/>
          </a:p>
          <a:p>
            <a:pPr algn="ctr" indent="0" marL="0">
              <a:lnSpc>
                <a:spcPct val="105000"/>
              </a:lnSpc>
              <a:buNone/>
            </a:pPr>
            <a:r>
              <a:rPr lang="en-US" sz="1050" dirty="0">
                <a:solidFill>
                  <a:srgbClr val="E8CC6B"/>
                </a:solidFill>
              </a:rPr>
              <a:t>Fastest / Lowest Cost</a:t>
            </a:r>
            <a:endParaRPr lang="en-US" sz="1300" dirty="0"/>
          </a:p>
        </p:txBody>
      </p:sp>
      <p:sp>
        <p:nvSpPr>
          <p:cNvPr id="12" name="Shape 10"/>
          <p:cNvSpPr/>
          <p:nvPr/>
        </p:nvSpPr>
        <p:spPr>
          <a:xfrm>
            <a:off x="6720840" y="2651760"/>
            <a:ext cx="4983480" cy="713232"/>
          </a:xfrm>
          <a:prstGeom prst="roundRect">
            <a:avLst>
              <a:gd name="adj" fmla="val 7692"/>
            </a:avLst>
          </a:prstGeom>
          <a:solidFill>
            <a:srgbClr val="1F1B10"/>
          </a:solidFill>
          <a:ln w="15875">
            <a:solidFill>
              <a:srgbClr val="D4AF37"/>
            </a:solidFill>
            <a:prstDash val="solid"/>
          </a:ln>
        </p:spPr>
      </p:sp>
      <p:sp>
        <p:nvSpPr>
          <p:cNvPr id="13" name="Text 11"/>
          <p:cNvSpPr/>
          <p:nvPr/>
        </p:nvSpPr>
        <p:spPr>
          <a:xfrm>
            <a:off x="6766560" y="2651760"/>
            <a:ext cx="4892040" cy="713232"/>
          </a:xfrm>
          <a:prstGeom prst="rect">
            <a:avLst/>
          </a:prstGeom>
          <a:noFill/>
          <a:ln/>
        </p:spPr>
        <p:txBody>
          <a:bodyPr wrap="square" lIns="0" tIns="0" rIns="0" bIns="0" rtlCol="0" anchor="ctr"/>
          <a:lstStyle/>
          <a:p>
            <a:pPr algn="ctr" indent="0" marL="0">
              <a:lnSpc>
                <a:spcPct val="105000"/>
              </a:lnSpc>
              <a:buNone/>
            </a:pPr>
            <a:r>
              <a:rPr lang="en-US" sz="1300" b="1" dirty="0">
                <a:solidFill>
                  <a:srgbClr val="F3EEE1"/>
                </a:solidFill>
              </a:rPr>
              <a:t>Sonnet</a:t>
            </a:r>
            <a:endParaRPr lang="en-US" sz="1300" dirty="0"/>
          </a:p>
          <a:p>
            <a:pPr algn="ctr" indent="0" marL="0">
              <a:lnSpc>
                <a:spcPct val="105000"/>
              </a:lnSpc>
              <a:buNone/>
            </a:pPr>
            <a:r>
              <a:rPr lang="en-US" sz="1050" dirty="0">
                <a:solidFill>
                  <a:srgbClr val="E8CC6B"/>
                </a:solidFill>
              </a:rPr>
              <a:t>Production Workhorse</a:t>
            </a:r>
            <a:endParaRPr lang="en-US" sz="1300" dirty="0"/>
          </a:p>
        </p:txBody>
      </p:sp>
      <p:sp>
        <p:nvSpPr>
          <p:cNvPr id="14" name="Shape 12"/>
          <p:cNvSpPr/>
          <p:nvPr/>
        </p:nvSpPr>
        <p:spPr>
          <a:xfrm>
            <a:off x="6720840" y="3520440"/>
            <a:ext cx="4983480" cy="713232"/>
          </a:xfrm>
          <a:prstGeom prst="roundRect">
            <a:avLst>
              <a:gd name="adj" fmla="val 7692"/>
            </a:avLst>
          </a:prstGeom>
          <a:solidFill>
            <a:srgbClr val="1F1B10"/>
          </a:solidFill>
          <a:ln w="15875">
            <a:solidFill>
              <a:srgbClr val="D4AF37"/>
            </a:solidFill>
            <a:prstDash val="solid"/>
          </a:ln>
        </p:spPr>
      </p:sp>
      <p:sp>
        <p:nvSpPr>
          <p:cNvPr id="15" name="Text 13"/>
          <p:cNvSpPr/>
          <p:nvPr/>
        </p:nvSpPr>
        <p:spPr>
          <a:xfrm>
            <a:off x="6766560" y="3520440"/>
            <a:ext cx="4892040" cy="713232"/>
          </a:xfrm>
          <a:prstGeom prst="rect">
            <a:avLst/>
          </a:prstGeom>
          <a:noFill/>
          <a:ln/>
        </p:spPr>
        <p:txBody>
          <a:bodyPr wrap="square" lIns="0" tIns="0" rIns="0" bIns="0" rtlCol="0" anchor="ctr"/>
          <a:lstStyle/>
          <a:p>
            <a:pPr algn="ctr" indent="0" marL="0">
              <a:lnSpc>
                <a:spcPct val="105000"/>
              </a:lnSpc>
              <a:buNone/>
            </a:pPr>
            <a:r>
              <a:rPr lang="en-US" sz="1300" b="1" dirty="0">
                <a:solidFill>
                  <a:srgbClr val="F3EEE1"/>
                </a:solidFill>
              </a:rPr>
              <a:t>Opus</a:t>
            </a:r>
            <a:endParaRPr lang="en-US" sz="1300" dirty="0"/>
          </a:p>
          <a:p>
            <a:pPr algn="ctr" indent="0" marL="0">
              <a:lnSpc>
                <a:spcPct val="105000"/>
              </a:lnSpc>
              <a:buNone/>
            </a:pPr>
            <a:r>
              <a:rPr lang="en-US" sz="1050" dirty="0">
                <a:solidFill>
                  <a:srgbClr val="E8CC6B"/>
                </a:solidFill>
              </a:rPr>
              <a:t>Maximum Intelligence</a:t>
            </a:r>
            <a:endParaRPr lang="en-US" sz="1300" dirty="0"/>
          </a:p>
        </p:txBody>
      </p:sp>
      <p:sp>
        <p:nvSpPr>
          <p:cNvPr id="16" name="Shape 14"/>
          <p:cNvSpPr/>
          <p:nvPr/>
        </p:nvSpPr>
        <p:spPr>
          <a:xfrm>
            <a:off x="6720840" y="4389120"/>
            <a:ext cx="4983480" cy="713232"/>
          </a:xfrm>
          <a:prstGeom prst="roundRect">
            <a:avLst>
              <a:gd name="adj" fmla="val 7692"/>
            </a:avLst>
          </a:prstGeom>
          <a:solidFill>
            <a:srgbClr val="1F1B10"/>
          </a:solidFill>
          <a:ln w="15875">
            <a:solidFill>
              <a:srgbClr val="D4AF37"/>
            </a:solidFill>
            <a:prstDash val="solid"/>
          </a:ln>
        </p:spPr>
      </p:sp>
      <p:sp>
        <p:nvSpPr>
          <p:cNvPr id="17" name="Text 15"/>
          <p:cNvSpPr/>
          <p:nvPr/>
        </p:nvSpPr>
        <p:spPr>
          <a:xfrm>
            <a:off x="6766560" y="4389120"/>
            <a:ext cx="4892040" cy="713232"/>
          </a:xfrm>
          <a:prstGeom prst="rect">
            <a:avLst/>
          </a:prstGeom>
          <a:noFill/>
          <a:ln/>
        </p:spPr>
        <p:txBody>
          <a:bodyPr wrap="square" lIns="0" tIns="0" rIns="0" bIns="0" rtlCol="0" anchor="ctr"/>
          <a:lstStyle/>
          <a:p>
            <a:pPr algn="ctr" indent="0" marL="0">
              <a:lnSpc>
                <a:spcPct val="105000"/>
              </a:lnSpc>
              <a:buNone/>
            </a:pPr>
            <a:r>
              <a:rPr lang="en-US" sz="1300" b="1" dirty="0">
                <a:solidFill>
                  <a:srgbClr val="F3EEE1"/>
                </a:solidFill>
              </a:rPr>
              <a:t>Fable</a:t>
            </a:r>
            <a:endParaRPr lang="en-US" sz="1300" dirty="0"/>
          </a:p>
          <a:p>
            <a:pPr algn="ctr" indent="0" marL="0">
              <a:lnSpc>
                <a:spcPct val="105000"/>
              </a:lnSpc>
              <a:buNone/>
            </a:pPr>
            <a:r>
              <a:rPr lang="en-US" sz="1050" dirty="0">
                <a:solidFill>
                  <a:srgbClr val="E8CC6B"/>
                </a:solidFill>
              </a:rPr>
              <a:t>Autonomous Agents</a:t>
            </a:r>
            <a:endParaRPr lang="en-US" sz="1300" dirty="0"/>
          </a:p>
        </p:txBody>
      </p:sp>
      <p:sp>
        <p:nvSpPr>
          <p:cNvPr id="18" name="Shape 16"/>
          <p:cNvSpPr/>
          <p:nvPr/>
        </p:nvSpPr>
        <p:spPr>
          <a:xfrm>
            <a:off x="6720840" y="5257800"/>
            <a:ext cx="4983480" cy="713232"/>
          </a:xfrm>
          <a:prstGeom prst="roundRect">
            <a:avLst>
              <a:gd name="adj" fmla="val 7692"/>
            </a:avLst>
          </a:prstGeom>
          <a:solidFill>
            <a:srgbClr val="1F1B10"/>
          </a:solidFill>
          <a:ln w="15875">
            <a:solidFill>
              <a:srgbClr val="D4AF37"/>
            </a:solidFill>
            <a:prstDash val="solid"/>
          </a:ln>
        </p:spPr>
      </p:sp>
      <p:sp>
        <p:nvSpPr>
          <p:cNvPr id="19" name="Text 17"/>
          <p:cNvSpPr/>
          <p:nvPr/>
        </p:nvSpPr>
        <p:spPr>
          <a:xfrm>
            <a:off x="6766560" y="5257800"/>
            <a:ext cx="4892040" cy="713232"/>
          </a:xfrm>
          <a:prstGeom prst="rect">
            <a:avLst/>
          </a:prstGeom>
          <a:noFill/>
          <a:ln/>
        </p:spPr>
        <p:txBody>
          <a:bodyPr wrap="square" lIns="0" tIns="0" rIns="0" bIns="0" rtlCol="0" anchor="ctr"/>
          <a:lstStyle/>
          <a:p>
            <a:pPr algn="ctr" indent="0" marL="0">
              <a:lnSpc>
                <a:spcPct val="105000"/>
              </a:lnSpc>
              <a:buNone/>
            </a:pPr>
            <a:r>
              <a:rPr lang="en-US" sz="1300" b="1" dirty="0">
                <a:solidFill>
                  <a:srgbClr val="F3EEE1"/>
                </a:solidFill>
              </a:rPr>
              <a:t>Mythos</a:t>
            </a:r>
            <a:endParaRPr lang="en-US" sz="1300" dirty="0"/>
          </a:p>
          <a:p>
            <a:pPr algn="ctr" indent="0" marL="0">
              <a:lnSpc>
                <a:spcPct val="105000"/>
              </a:lnSpc>
              <a:buNone/>
            </a:pPr>
            <a:r>
              <a:rPr lang="en-US" sz="1050" dirty="0">
                <a:solidFill>
                  <a:srgbClr val="E8CC6B"/>
                </a:solidFill>
              </a:rPr>
              <a:t>Cybersecurity Research</a:t>
            </a:r>
            <a:endParaRPr lang="en-US" sz="1300" dirty="0"/>
          </a:p>
        </p:txBody>
      </p:sp>
      <p:sp>
        <p:nvSpPr>
          <p:cNvPr id="20" name="Text 18"/>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21" name="Text 19"/>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DECISION GUIDE</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800" b="1" dirty="0">
                <a:solidFill>
                  <a:srgbClr val="F3EEE1"/>
                </a:solidFill>
                <a:latin typeface="Cambria" pitchFamily="34" charset="0"/>
                <a:ea typeface="Cambria" pitchFamily="34" charset="-122"/>
                <a:cs typeface="Cambria" pitchFamily="34" charset="-120"/>
              </a:rPr>
              <a:t>Claude Model Selection Framework</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4552" cy="914400"/>
        </p:xfrm>
        <a:graphic>
          <a:graphicData uri="http://schemas.openxmlformats.org/drawingml/2006/table">
            <a:tbl>
              <a:tblPr/>
              <a:tblGrid>
                <a:gridCol w="6858000"/>
                <a:gridCol w="4416552"/>
              </a:tblGrid>
              <a:tr h="402336">
                <a:tc>
                  <a:txBody>
                    <a:bodyPr/>
                    <a:lstStyle/>
                    <a:p>
                      <a:pPr algn="l" indent="0" marL="0">
                        <a:buNone/>
                      </a:pPr>
                      <a:r>
                        <a:rPr lang="en-US" sz="1300" b="1" dirty="0">
                          <a:solidFill>
                            <a:srgbClr val="0A0A0A"/>
                          </a:solidFill>
                          <a:latin typeface="Calibri" pitchFamily="34" charset="0"/>
                          <a:ea typeface="Calibri" pitchFamily="34" charset="-122"/>
                          <a:cs typeface="Calibri" pitchFamily="34" charset="-120"/>
                        </a:rPr>
                        <a:t>Business Scenario</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D4AF37"/>
                    </a:solidFill>
                  </a:tcPr>
                </a:tc>
                <a:tc>
                  <a:txBody>
                    <a:bodyPr/>
                    <a:lstStyle/>
                    <a:p>
                      <a:pPr algn="l" indent="0" marL="0">
                        <a:buNone/>
                      </a:pPr>
                      <a:r>
                        <a:rPr lang="en-US" sz="1300" b="1" dirty="0">
                          <a:solidFill>
                            <a:srgbClr val="0A0A0A"/>
                          </a:solidFill>
                          <a:latin typeface="Calibri" pitchFamily="34" charset="0"/>
                          <a:ea typeface="Calibri" pitchFamily="34" charset="-122"/>
                          <a:cs typeface="Calibri" pitchFamily="34" charset="-120"/>
                        </a:rPr>
                        <a:t>Recommended Claude Model</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D4AF37"/>
                    </a:solidFill>
                  </a:tcPr>
                </a:tc>
              </a:tr>
              <a:tr h="402336">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Enterprise Copilot</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Sonnet 5</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402336">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Knowledge Assistant</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Sonnet 5</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r h="402336">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Coding Assistant</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Sonnet 5 / Opus 5</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402336">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Financial Analysis</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Opus 5</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r h="402336">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Research Assistant</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Opus 5</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402336">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Agentic Workflow</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Fable 5</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r h="402336">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Cyber Security Analysis</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Mythos 5</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402336">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High Throughput APIs</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Haiku 4.5</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bl>
          </a:graphicData>
        </a:graphic>
      </p:graphicFrame>
      <p:sp>
        <p:nvSpPr>
          <p:cNvPr id="6" name="Text 3"/>
          <p:cNvSpPr/>
          <p:nvPr/>
        </p:nvSpPr>
        <p:spPr>
          <a:xfrm>
            <a:off x="457200" y="5230368"/>
            <a:ext cx="11274552" cy="274320"/>
          </a:xfrm>
          <a:prstGeom prst="rect">
            <a:avLst/>
          </a:prstGeom>
          <a:noFill/>
          <a:ln/>
        </p:spPr>
        <p:txBody>
          <a:bodyPr wrap="square" lIns="0" tIns="0" rIns="0" bIns="0" rtlCol="0" anchor="ctr"/>
          <a:lstStyle/>
          <a:p>
            <a:pPr indent="0" marL="0">
              <a:buNone/>
            </a:pPr>
            <a:r>
              <a:rPr lang="en-US" sz="1050" i="1" dirty="0">
                <a:solidFill>
                  <a:srgbClr val="756E5C"/>
                </a:solidFill>
                <a:latin typeface="Calibri" pitchFamily="34" charset="0"/>
                <a:ea typeface="Calibri" pitchFamily="34" charset="-122"/>
                <a:cs typeface="Calibri" pitchFamily="34" charset="-120"/>
              </a:rPr>
              <a:t>Based on use cases documented for Claude models available in Foundry.</a:t>
            </a:r>
            <a:endParaRPr lang="en-US" sz="1050" dirty="0"/>
          </a:p>
        </p:txBody>
      </p:sp>
      <p:sp>
        <p:nvSpPr>
          <p:cNvPr id="7" name="Shape 4"/>
          <p:cNvSpPr/>
          <p:nvPr/>
        </p:nvSpPr>
        <p:spPr>
          <a:xfrm>
            <a:off x="457200" y="5559552"/>
            <a:ext cx="11274552" cy="685800"/>
          </a:xfrm>
          <a:prstGeom prst="roundRect">
            <a:avLst>
              <a:gd name="adj" fmla="val 9333"/>
            </a:avLst>
          </a:prstGeom>
          <a:solidFill>
            <a:srgbClr val="1F1B10"/>
          </a:solidFill>
          <a:ln w="12700">
            <a:solidFill>
              <a:srgbClr val="3A3226"/>
            </a:solidFill>
            <a:prstDash val="solid"/>
          </a:ln>
          <a:effectLst>
            <a:outerShdw sx="100000" sy="100000" kx="0" ky="0" algn="bl" rotWithShape="0" blurRad="101600" dist="38100" dir="5400000">
              <a:srgbClr val="000000">
                <a:alpha val="40000"/>
              </a:srgbClr>
            </a:outerShdw>
          </a:effectLst>
        </p:spPr>
      </p:sp>
      <p:sp>
        <p:nvSpPr>
          <p:cNvPr id="8" name="Text 5"/>
          <p:cNvSpPr/>
          <p:nvPr/>
        </p:nvSpPr>
        <p:spPr>
          <a:xfrm>
            <a:off x="731520" y="5559552"/>
            <a:ext cx="10789920" cy="685800"/>
          </a:xfrm>
          <a:prstGeom prst="rect">
            <a:avLst/>
          </a:prstGeom>
          <a:noFill/>
          <a:ln/>
        </p:spPr>
        <p:txBody>
          <a:bodyPr wrap="square" lIns="0" tIns="0" rIns="0" bIns="0" rtlCol="0" anchor="ctr"/>
          <a:lstStyle/>
          <a:p>
            <a:pPr indent="0" marL="0">
              <a:buNone/>
            </a:pPr>
            <a:r>
              <a:rPr lang="en-US" sz="1400" b="1" dirty="0">
                <a:solidFill>
                  <a:srgbClr val="D4AF37"/>
                </a:solidFill>
                <a:latin typeface="Cambria" pitchFamily="34" charset="0"/>
                <a:ea typeface="Cambria" pitchFamily="34" charset="-122"/>
                <a:cs typeface="Cambria" pitchFamily="34" charset="-120"/>
              </a:rPr>
              <a:t>Recommendation:  </a:t>
            </a:r>
            <a:pPr indent="0" marL="0">
              <a:buNone/>
            </a:pPr>
            <a:r>
              <a:rPr lang="en-US" sz="1400" dirty="0">
                <a:solidFill>
                  <a:srgbClr val="F3EEE1"/>
                </a:solidFill>
                <a:latin typeface="Cambria" pitchFamily="34" charset="0"/>
                <a:ea typeface="Cambria" pitchFamily="34" charset="-122"/>
                <a:cs typeface="Cambria" pitchFamily="34" charset="-120"/>
              </a:rPr>
              <a:t>For 80% of enterprise workloads, start with Claude Sonnet 5.</a:t>
            </a:r>
            <a:endParaRPr lang="en-US" sz="1400" dirty="0"/>
          </a:p>
        </p:txBody>
      </p:sp>
      <p:sp>
        <p:nvSpPr>
          <p:cNvPr id="9" name="Text 6"/>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10" name="Text 7"/>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DEPLOYMENT MODELS</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800" b="1" dirty="0">
                <a:solidFill>
                  <a:srgbClr val="F3EEE1"/>
                </a:solidFill>
                <a:latin typeface="Cambria" pitchFamily="34" charset="0"/>
                <a:ea typeface="Cambria" pitchFamily="34" charset="-122"/>
                <a:cs typeface="Cambria" pitchFamily="34" charset="-120"/>
              </a:rPr>
              <a:t>How Claude is Offered in Microsoft Foundry</a:t>
            </a:r>
            <a:endParaRPr lang="en-US" sz="2800" dirty="0"/>
          </a:p>
        </p:txBody>
      </p:sp>
      <p:sp>
        <p:nvSpPr>
          <p:cNvPr id="5" name="Shape 3"/>
          <p:cNvSpPr/>
          <p:nvPr/>
        </p:nvSpPr>
        <p:spPr>
          <a:xfrm>
            <a:off x="457200" y="1463040"/>
            <a:ext cx="11274552" cy="914400"/>
          </a:xfrm>
          <a:prstGeom prst="roundRect">
            <a:avLst>
              <a:gd name="adj" fmla="val 7000"/>
            </a:avLst>
          </a:prstGeom>
          <a:solidFill>
            <a:srgbClr val="1F1B10"/>
          </a:solidFill>
          <a:ln w="12700">
            <a:solidFill>
              <a:srgbClr val="3A3226"/>
            </a:solidFill>
            <a:prstDash val="solid"/>
          </a:ln>
          <a:effectLst>
            <a:outerShdw sx="100000" sy="100000" kx="0" ky="0" algn="bl" rotWithShape="0" blurRad="101600" dist="38100" dir="5400000">
              <a:srgbClr val="000000">
                <a:alpha val="40000"/>
              </a:srgbClr>
            </a:outerShdw>
          </a:effectLst>
        </p:spPr>
      </p:sp>
      <p:sp>
        <p:nvSpPr>
          <p:cNvPr id="6" name="Text 4"/>
          <p:cNvSpPr/>
          <p:nvPr/>
        </p:nvSpPr>
        <p:spPr>
          <a:xfrm>
            <a:off x="731520" y="1463040"/>
            <a:ext cx="10789920" cy="914400"/>
          </a:xfrm>
          <a:prstGeom prst="rect">
            <a:avLst/>
          </a:prstGeom>
          <a:noFill/>
          <a:ln/>
        </p:spPr>
        <p:txBody>
          <a:bodyPr wrap="square" lIns="0" tIns="0" rIns="0" bIns="0" rtlCol="0" anchor="ctr"/>
          <a:lstStyle/>
          <a:p>
            <a:pPr indent="0" marL="0">
              <a:lnSpc>
                <a:spcPct val="115000"/>
              </a:lnSpc>
              <a:buNone/>
            </a:pPr>
            <a:r>
              <a:rPr lang="en-US" sz="1500" b="1" dirty="0">
                <a:solidFill>
                  <a:srgbClr val="D4AF37"/>
                </a:solidFill>
                <a:latin typeface="Cambria" pitchFamily="34" charset="0"/>
                <a:ea typeface="Cambria" pitchFamily="34" charset="-122"/>
                <a:cs typeface="Cambria" pitchFamily="34" charset="-120"/>
              </a:rPr>
              <a:t>Foundry is NOT the model.  </a:t>
            </a:r>
            <a:endParaRPr lang="en-US" sz="1500" dirty="0"/>
          </a:p>
          <a:p>
            <a:pPr indent="0" marL="0">
              <a:lnSpc>
                <a:spcPct val="115000"/>
              </a:lnSpc>
              <a:buNone/>
            </a:pPr>
            <a:r>
              <a:rPr lang="en-US" sz="1500" dirty="0">
                <a:solidFill>
                  <a:srgbClr val="F3EEE1"/>
                </a:solidFill>
                <a:latin typeface="Cambria" pitchFamily="34" charset="0"/>
                <a:ea typeface="Cambria" pitchFamily="34" charset="-122"/>
                <a:cs typeface="Cambria" pitchFamily="34" charset="-120"/>
              </a:rPr>
              <a:t>Foundry is the enterprise platform used to manage and consume Claude.</a:t>
            </a:r>
            <a:endParaRPr lang="en-US" sz="1500" dirty="0"/>
          </a:p>
        </p:txBody>
      </p:sp>
      <p:sp>
        <p:nvSpPr>
          <p:cNvPr id="7" name="Text 5"/>
          <p:cNvSpPr/>
          <p:nvPr/>
        </p:nvSpPr>
        <p:spPr>
          <a:xfrm>
            <a:off x="457200" y="2606040"/>
            <a:ext cx="457200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ARCHITECTURE</a:t>
            </a:r>
            <a:endParaRPr lang="en-US" sz="1150" dirty="0"/>
          </a:p>
        </p:txBody>
      </p:sp>
      <p:sp>
        <p:nvSpPr>
          <p:cNvPr id="8" name="Shape 6"/>
          <p:cNvSpPr/>
          <p:nvPr/>
        </p:nvSpPr>
        <p:spPr>
          <a:xfrm>
            <a:off x="4398264" y="2926080"/>
            <a:ext cx="3383280" cy="640080"/>
          </a:xfrm>
          <a:prstGeom prst="roundRect">
            <a:avLst>
              <a:gd name="adj" fmla="val 8571"/>
            </a:avLst>
          </a:prstGeom>
          <a:solidFill>
            <a:srgbClr val="1F1B10"/>
          </a:solidFill>
          <a:ln w="15875">
            <a:solidFill>
              <a:srgbClr val="D4AF37"/>
            </a:solidFill>
            <a:prstDash val="solid"/>
          </a:ln>
        </p:spPr>
      </p:sp>
      <p:sp>
        <p:nvSpPr>
          <p:cNvPr id="9" name="Text 7"/>
          <p:cNvSpPr/>
          <p:nvPr/>
        </p:nvSpPr>
        <p:spPr>
          <a:xfrm>
            <a:off x="4443984" y="2926080"/>
            <a:ext cx="3291840" cy="640080"/>
          </a:xfrm>
          <a:prstGeom prst="rect">
            <a:avLst/>
          </a:prstGeom>
          <a:noFill/>
          <a:ln/>
        </p:spPr>
        <p:txBody>
          <a:bodyPr wrap="square" lIns="0" tIns="0" rIns="0" bIns="0" rtlCol="0" anchor="ctr"/>
          <a:lstStyle/>
          <a:p>
            <a:pPr algn="ctr" indent="0" marL="0">
              <a:buNone/>
            </a:pPr>
            <a:r>
              <a:rPr lang="en-US" sz="1500" b="1" dirty="0">
                <a:solidFill>
                  <a:srgbClr val="F3EEE1"/>
                </a:solidFill>
                <a:latin typeface="Calibri" pitchFamily="34" charset="0"/>
                <a:ea typeface="Calibri" pitchFamily="34" charset="-122"/>
                <a:cs typeface="Calibri" pitchFamily="34" charset="-120"/>
              </a:rPr>
              <a:t>Microsoft Foundry</a:t>
            </a:r>
            <a:endParaRPr lang="en-US" sz="1500" dirty="0"/>
          </a:p>
        </p:txBody>
      </p:sp>
      <p:sp>
        <p:nvSpPr>
          <p:cNvPr id="10" name="Shape 8"/>
          <p:cNvSpPr/>
          <p:nvPr/>
        </p:nvSpPr>
        <p:spPr>
          <a:xfrm>
            <a:off x="6007608" y="3611880"/>
            <a:ext cx="164592" cy="320040"/>
          </a:xfrm>
          <a:prstGeom prst="downArrow">
            <a:avLst/>
          </a:prstGeom>
          <a:solidFill>
            <a:srgbClr val="D4AF37"/>
          </a:solidFill>
          <a:ln/>
        </p:spPr>
      </p:sp>
      <p:sp>
        <p:nvSpPr>
          <p:cNvPr id="11" name="Shape 9"/>
          <p:cNvSpPr/>
          <p:nvPr/>
        </p:nvSpPr>
        <p:spPr>
          <a:xfrm>
            <a:off x="3712464" y="3931920"/>
            <a:ext cx="4754880" cy="9144"/>
          </a:xfrm>
          <a:prstGeom prst="line">
            <a:avLst/>
          </a:prstGeom>
          <a:noFill/>
          <a:ln w="15875">
            <a:solidFill>
              <a:srgbClr val="8A6D1D"/>
            </a:solidFill>
            <a:prstDash val="solid"/>
          </a:ln>
        </p:spPr>
      </p:sp>
      <p:sp>
        <p:nvSpPr>
          <p:cNvPr id="12" name="Shape 10"/>
          <p:cNvSpPr/>
          <p:nvPr/>
        </p:nvSpPr>
        <p:spPr>
          <a:xfrm>
            <a:off x="3712464" y="3931920"/>
            <a:ext cx="9144" cy="182880"/>
          </a:xfrm>
          <a:prstGeom prst="line">
            <a:avLst/>
          </a:prstGeom>
          <a:noFill/>
          <a:ln w="15875">
            <a:solidFill>
              <a:srgbClr val="8A6D1D"/>
            </a:solidFill>
            <a:prstDash val="solid"/>
          </a:ln>
        </p:spPr>
      </p:sp>
      <p:sp>
        <p:nvSpPr>
          <p:cNvPr id="13" name="Shape 11"/>
          <p:cNvSpPr/>
          <p:nvPr/>
        </p:nvSpPr>
        <p:spPr>
          <a:xfrm>
            <a:off x="8467344" y="3931920"/>
            <a:ext cx="9144" cy="182880"/>
          </a:xfrm>
          <a:prstGeom prst="line">
            <a:avLst/>
          </a:prstGeom>
          <a:noFill/>
          <a:ln w="15875">
            <a:solidFill>
              <a:srgbClr val="8A6D1D"/>
            </a:solidFill>
            <a:prstDash val="solid"/>
          </a:ln>
        </p:spPr>
      </p:sp>
      <p:sp>
        <p:nvSpPr>
          <p:cNvPr id="14" name="Shape 12"/>
          <p:cNvSpPr/>
          <p:nvPr/>
        </p:nvSpPr>
        <p:spPr>
          <a:xfrm>
            <a:off x="2340864" y="4114800"/>
            <a:ext cx="2743200" cy="640080"/>
          </a:xfrm>
          <a:prstGeom prst="roundRect">
            <a:avLst>
              <a:gd name="adj" fmla="val 8571"/>
            </a:avLst>
          </a:prstGeom>
          <a:solidFill>
            <a:srgbClr val="1F1B10"/>
          </a:solidFill>
          <a:ln w="15875">
            <a:solidFill>
              <a:srgbClr val="D4AF37"/>
            </a:solidFill>
            <a:prstDash val="solid"/>
          </a:ln>
        </p:spPr>
      </p:sp>
      <p:sp>
        <p:nvSpPr>
          <p:cNvPr id="15" name="Text 13"/>
          <p:cNvSpPr/>
          <p:nvPr/>
        </p:nvSpPr>
        <p:spPr>
          <a:xfrm>
            <a:off x="2386584" y="4114800"/>
            <a:ext cx="2651760" cy="640080"/>
          </a:xfrm>
          <a:prstGeom prst="rect">
            <a:avLst/>
          </a:prstGeom>
          <a:noFill/>
          <a:ln/>
        </p:spPr>
        <p:txBody>
          <a:bodyPr wrap="square" lIns="0" tIns="0" rIns="0" bIns="0" rtlCol="0" anchor="ctr"/>
          <a:lstStyle/>
          <a:p>
            <a:pPr algn="ctr" indent="0" marL="0">
              <a:buNone/>
            </a:pPr>
            <a:r>
              <a:rPr lang="en-US" sz="1300" b="1" dirty="0">
                <a:solidFill>
                  <a:srgbClr val="F3EEE1"/>
                </a:solidFill>
                <a:latin typeface="Calibri" pitchFamily="34" charset="0"/>
                <a:ea typeface="Calibri" pitchFamily="34" charset="-122"/>
                <a:cs typeface="Calibri" pitchFamily="34" charset="-120"/>
              </a:rPr>
              <a:t>Azure Hosted Claude</a:t>
            </a:r>
            <a:endParaRPr lang="en-US" sz="1300" dirty="0"/>
          </a:p>
        </p:txBody>
      </p:sp>
      <p:sp>
        <p:nvSpPr>
          <p:cNvPr id="16" name="Shape 14"/>
          <p:cNvSpPr/>
          <p:nvPr/>
        </p:nvSpPr>
        <p:spPr>
          <a:xfrm>
            <a:off x="7095744" y="4114800"/>
            <a:ext cx="2743200" cy="640080"/>
          </a:xfrm>
          <a:prstGeom prst="roundRect">
            <a:avLst>
              <a:gd name="adj" fmla="val 8571"/>
            </a:avLst>
          </a:prstGeom>
          <a:solidFill>
            <a:srgbClr val="1F1B10"/>
          </a:solidFill>
          <a:ln w="15875">
            <a:solidFill>
              <a:srgbClr val="D4AF37"/>
            </a:solidFill>
            <a:prstDash val="solid"/>
          </a:ln>
        </p:spPr>
      </p:sp>
      <p:sp>
        <p:nvSpPr>
          <p:cNvPr id="17" name="Text 15"/>
          <p:cNvSpPr/>
          <p:nvPr/>
        </p:nvSpPr>
        <p:spPr>
          <a:xfrm>
            <a:off x="7141464" y="4114800"/>
            <a:ext cx="2651760" cy="640080"/>
          </a:xfrm>
          <a:prstGeom prst="rect">
            <a:avLst/>
          </a:prstGeom>
          <a:noFill/>
          <a:ln/>
        </p:spPr>
        <p:txBody>
          <a:bodyPr wrap="square" lIns="0" tIns="0" rIns="0" bIns="0" rtlCol="0" anchor="ctr"/>
          <a:lstStyle/>
          <a:p>
            <a:pPr algn="ctr" indent="0" marL="0">
              <a:buNone/>
            </a:pPr>
            <a:r>
              <a:rPr lang="en-US" sz="1300" b="1" dirty="0">
                <a:solidFill>
                  <a:srgbClr val="F3EEE1"/>
                </a:solidFill>
                <a:latin typeface="Calibri" pitchFamily="34" charset="0"/>
                <a:ea typeface="Calibri" pitchFamily="34" charset="-122"/>
                <a:cs typeface="Calibri" pitchFamily="34" charset="-120"/>
              </a:rPr>
              <a:t>Anthropic Hosted Claude</a:t>
            </a:r>
            <a:endParaRPr lang="en-US" sz="1300" dirty="0"/>
          </a:p>
        </p:txBody>
      </p:sp>
      <p:sp>
        <p:nvSpPr>
          <p:cNvPr id="18" name="Shape 16"/>
          <p:cNvSpPr/>
          <p:nvPr/>
        </p:nvSpPr>
        <p:spPr>
          <a:xfrm>
            <a:off x="3630168" y="4754880"/>
            <a:ext cx="164592" cy="320040"/>
          </a:xfrm>
          <a:prstGeom prst="downArrow">
            <a:avLst/>
          </a:prstGeom>
          <a:solidFill>
            <a:srgbClr val="D4AF37"/>
          </a:solidFill>
          <a:ln/>
        </p:spPr>
      </p:sp>
      <p:sp>
        <p:nvSpPr>
          <p:cNvPr id="19" name="Shape 17"/>
          <p:cNvSpPr/>
          <p:nvPr/>
        </p:nvSpPr>
        <p:spPr>
          <a:xfrm>
            <a:off x="8385048" y="4754880"/>
            <a:ext cx="164592" cy="320040"/>
          </a:xfrm>
          <a:prstGeom prst="downArrow">
            <a:avLst/>
          </a:prstGeom>
          <a:solidFill>
            <a:srgbClr val="D4AF37"/>
          </a:solidFill>
          <a:ln/>
        </p:spPr>
      </p:sp>
      <p:sp>
        <p:nvSpPr>
          <p:cNvPr id="20" name="Shape 18"/>
          <p:cNvSpPr/>
          <p:nvPr/>
        </p:nvSpPr>
        <p:spPr>
          <a:xfrm>
            <a:off x="2340864" y="5074920"/>
            <a:ext cx="2743200" cy="640080"/>
          </a:xfrm>
          <a:prstGeom prst="roundRect">
            <a:avLst>
              <a:gd name="adj" fmla="val 8571"/>
            </a:avLst>
          </a:prstGeom>
          <a:solidFill>
            <a:srgbClr val="141008"/>
          </a:solidFill>
          <a:ln w="15875">
            <a:solidFill>
              <a:srgbClr val="8A6D1D"/>
            </a:solidFill>
            <a:prstDash val="solid"/>
          </a:ln>
        </p:spPr>
      </p:sp>
      <p:sp>
        <p:nvSpPr>
          <p:cNvPr id="21" name="Text 19"/>
          <p:cNvSpPr/>
          <p:nvPr/>
        </p:nvSpPr>
        <p:spPr>
          <a:xfrm>
            <a:off x="2386584" y="5074920"/>
            <a:ext cx="2651760" cy="640080"/>
          </a:xfrm>
          <a:prstGeom prst="rect">
            <a:avLst/>
          </a:prstGeom>
          <a:noFill/>
          <a:ln/>
        </p:spPr>
        <p:txBody>
          <a:bodyPr wrap="square" lIns="0" tIns="0" rIns="0" bIns="0" rtlCol="0" anchor="ctr"/>
          <a:lstStyle/>
          <a:p>
            <a:pPr algn="ctr" indent="0" marL="0">
              <a:buNone/>
            </a:pPr>
            <a:r>
              <a:rPr lang="en-US" sz="1250" b="1" dirty="0">
                <a:solidFill>
                  <a:srgbClr val="F3EEE1"/>
                </a:solidFill>
                <a:latin typeface="Calibri" pitchFamily="34" charset="0"/>
                <a:ea typeface="Calibri" pitchFamily="34" charset="-122"/>
                <a:cs typeface="Calibri" pitchFamily="34" charset="-120"/>
              </a:rPr>
              <a:t>Azure Infrastructure</a:t>
            </a:r>
            <a:endParaRPr lang="en-US" sz="1250" dirty="0"/>
          </a:p>
        </p:txBody>
      </p:sp>
      <p:sp>
        <p:nvSpPr>
          <p:cNvPr id="22" name="Shape 20"/>
          <p:cNvSpPr/>
          <p:nvPr/>
        </p:nvSpPr>
        <p:spPr>
          <a:xfrm>
            <a:off x="7095744" y="5074920"/>
            <a:ext cx="2743200" cy="640080"/>
          </a:xfrm>
          <a:prstGeom prst="roundRect">
            <a:avLst>
              <a:gd name="adj" fmla="val 8571"/>
            </a:avLst>
          </a:prstGeom>
          <a:solidFill>
            <a:srgbClr val="141008"/>
          </a:solidFill>
          <a:ln w="15875">
            <a:solidFill>
              <a:srgbClr val="8A6D1D"/>
            </a:solidFill>
            <a:prstDash val="solid"/>
          </a:ln>
        </p:spPr>
      </p:sp>
      <p:sp>
        <p:nvSpPr>
          <p:cNvPr id="23" name="Text 21"/>
          <p:cNvSpPr/>
          <p:nvPr/>
        </p:nvSpPr>
        <p:spPr>
          <a:xfrm>
            <a:off x="7141464" y="5074920"/>
            <a:ext cx="2651760" cy="640080"/>
          </a:xfrm>
          <a:prstGeom prst="rect">
            <a:avLst/>
          </a:prstGeom>
          <a:noFill/>
          <a:ln/>
        </p:spPr>
        <p:txBody>
          <a:bodyPr wrap="square" lIns="0" tIns="0" rIns="0" bIns="0" rtlCol="0" anchor="ctr"/>
          <a:lstStyle/>
          <a:p>
            <a:pPr algn="ctr" indent="0" marL="0">
              <a:buNone/>
            </a:pPr>
            <a:r>
              <a:rPr lang="en-US" sz="1250" b="1" dirty="0">
                <a:solidFill>
                  <a:srgbClr val="F3EEE1"/>
                </a:solidFill>
                <a:latin typeface="Calibri" pitchFamily="34" charset="0"/>
                <a:ea typeface="Calibri" pitchFamily="34" charset="-122"/>
                <a:cs typeface="Calibri" pitchFamily="34" charset="-120"/>
              </a:rPr>
              <a:t>Anthropic Infrastructure</a:t>
            </a:r>
            <a:endParaRPr lang="en-US" sz="1250" dirty="0"/>
          </a:p>
        </p:txBody>
      </p:sp>
      <p:sp>
        <p:nvSpPr>
          <p:cNvPr id="24" name="Text 22"/>
          <p:cNvSpPr/>
          <p:nvPr/>
        </p:nvSpPr>
        <p:spPr>
          <a:xfrm>
            <a:off x="457200" y="5943600"/>
            <a:ext cx="11274552" cy="365760"/>
          </a:xfrm>
          <a:prstGeom prst="rect">
            <a:avLst/>
          </a:prstGeom>
          <a:noFill/>
          <a:ln/>
        </p:spPr>
        <p:txBody>
          <a:bodyPr wrap="square" lIns="0" tIns="0" rIns="0" bIns="0" rtlCol="0" anchor="ctr"/>
          <a:lstStyle/>
          <a:p>
            <a:pPr indent="0" marL="0">
              <a:buNone/>
            </a:pPr>
            <a:r>
              <a:rPr lang="en-US" sz="1150" i="1" dirty="0">
                <a:solidFill>
                  <a:srgbClr val="B9B2A0"/>
                </a:solidFill>
                <a:latin typeface="Calibri" pitchFamily="34" charset="0"/>
                <a:ea typeface="Calibri" pitchFamily="34" charset="-122"/>
                <a:cs typeface="Calibri" pitchFamily="34" charset="-120"/>
              </a:rPr>
              <a:t>Microsoft Foundry offers Claude in both Azure-hosted and Anthropic-hosted deployment modes.</a:t>
            </a:r>
            <a:endParaRPr lang="en-US" sz="1150" dirty="0"/>
          </a:p>
        </p:txBody>
      </p:sp>
      <p:sp>
        <p:nvSpPr>
          <p:cNvPr id="25" name="Text 23"/>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26" name="Text 24"/>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ARCHITECTURE DEEP DIVE</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800" b="1" dirty="0">
                <a:solidFill>
                  <a:srgbClr val="F3EEE1"/>
                </a:solidFill>
                <a:latin typeface="Cambria" pitchFamily="34" charset="0"/>
                <a:ea typeface="Cambria" pitchFamily="34" charset="-122"/>
                <a:cs typeface="Cambria" pitchFamily="34" charset="-120"/>
              </a:rPr>
              <a:t>Anthropic Hosted Claude Architecture</a:t>
            </a:r>
            <a:endParaRPr lang="en-US" sz="2800" dirty="0"/>
          </a:p>
        </p:txBody>
      </p:sp>
      <p:sp>
        <p:nvSpPr>
          <p:cNvPr id="5" name="Text 3"/>
          <p:cNvSpPr/>
          <p:nvPr/>
        </p:nvSpPr>
        <p:spPr>
          <a:xfrm>
            <a:off x="457200" y="1417320"/>
            <a:ext cx="457200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REQUEST FLOW</a:t>
            </a:r>
            <a:endParaRPr lang="en-US" sz="1150" dirty="0"/>
          </a:p>
        </p:txBody>
      </p:sp>
      <p:sp>
        <p:nvSpPr>
          <p:cNvPr id="6" name="Shape 4"/>
          <p:cNvSpPr/>
          <p:nvPr/>
        </p:nvSpPr>
        <p:spPr>
          <a:xfrm>
            <a:off x="731520" y="1783080"/>
            <a:ext cx="4480560" cy="658368"/>
          </a:xfrm>
          <a:prstGeom prst="roundRect">
            <a:avLst>
              <a:gd name="adj" fmla="val 8333"/>
            </a:avLst>
          </a:prstGeom>
          <a:solidFill>
            <a:srgbClr val="161616"/>
          </a:solidFill>
          <a:ln w="15875">
            <a:solidFill>
              <a:srgbClr val="3A3226"/>
            </a:solidFill>
            <a:prstDash val="solid"/>
          </a:ln>
        </p:spPr>
      </p:sp>
      <p:sp>
        <p:nvSpPr>
          <p:cNvPr id="7" name="Text 5"/>
          <p:cNvSpPr/>
          <p:nvPr/>
        </p:nvSpPr>
        <p:spPr>
          <a:xfrm>
            <a:off x="777240" y="1783080"/>
            <a:ext cx="4389120" cy="658368"/>
          </a:xfrm>
          <a:prstGeom prst="rect">
            <a:avLst/>
          </a:prstGeom>
          <a:noFill/>
          <a:ln/>
        </p:spPr>
        <p:txBody>
          <a:bodyPr wrap="square" lIns="0" tIns="0" rIns="0" bIns="0" rtlCol="0" anchor="ctr"/>
          <a:lstStyle/>
          <a:p>
            <a:pPr algn="ctr" indent="0" marL="0">
              <a:buNone/>
            </a:pPr>
            <a:r>
              <a:rPr lang="en-US" sz="1350" b="1" dirty="0">
                <a:solidFill>
                  <a:srgbClr val="F3EEE1"/>
                </a:solidFill>
                <a:latin typeface="Calibri" pitchFamily="34" charset="0"/>
                <a:ea typeface="Calibri" pitchFamily="34" charset="-122"/>
                <a:cs typeface="Calibri" pitchFamily="34" charset="-120"/>
              </a:rPr>
              <a:t>User / Application</a:t>
            </a:r>
            <a:endParaRPr lang="en-US" sz="1350" dirty="0"/>
          </a:p>
        </p:txBody>
      </p:sp>
      <p:sp>
        <p:nvSpPr>
          <p:cNvPr id="8" name="Shape 6"/>
          <p:cNvSpPr/>
          <p:nvPr/>
        </p:nvSpPr>
        <p:spPr>
          <a:xfrm>
            <a:off x="2889504" y="2441448"/>
            <a:ext cx="164592" cy="210312"/>
          </a:xfrm>
          <a:prstGeom prst="downArrow">
            <a:avLst/>
          </a:prstGeom>
          <a:solidFill>
            <a:srgbClr val="D4AF37"/>
          </a:solidFill>
          <a:ln/>
        </p:spPr>
      </p:sp>
      <p:sp>
        <p:nvSpPr>
          <p:cNvPr id="9" name="Shape 7"/>
          <p:cNvSpPr/>
          <p:nvPr/>
        </p:nvSpPr>
        <p:spPr>
          <a:xfrm>
            <a:off x="731520" y="2697480"/>
            <a:ext cx="4480560" cy="658368"/>
          </a:xfrm>
          <a:prstGeom prst="roundRect">
            <a:avLst>
              <a:gd name="adj" fmla="val 8333"/>
            </a:avLst>
          </a:prstGeom>
          <a:solidFill>
            <a:srgbClr val="161616"/>
          </a:solidFill>
          <a:ln w="15875">
            <a:solidFill>
              <a:srgbClr val="3A3226"/>
            </a:solidFill>
            <a:prstDash val="solid"/>
          </a:ln>
        </p:spPr>
      </p:sp>
      <p:sp>
        <p:nvSpPr>
          <p:cNvPr id="10" name="Text 8"/>
          <p:cNvSpPr/>
          <p:nvPr/>
        </p:nvSpPr>
        <p:spPr>
          <a:xfrm>
            <a:off x="777240" y="2697480"/>
            <a:ext cx="4389120" cy="658368"/>
          </a:xfrm>
          <a:prstGeom prst="rect">
            <a:avLst/>
          </a:prstGeom>
          <a:noFill/>
          <a:ln/>
        </p:spPr>
        <p:txBody>
          <a:bodyPr wrap="square" lIns="0" tIns="0" rIns="0" bIns="0" rtlCol="0" anchor="ctr"/>
          <a:lstStyle/>
          <a:p>
            <a:pPr algn="ctr" indent="0" marL="0">
              <a:buNone/>
            </a:pPr>
            <a:r>
              <a:rPr lang="en-US" sz="1350" b="1" dirty="0">
                <a:solidFill>
                  <a:srgbClr val="F3EEE1"/>
                </a:solidFill>
                <a:latin typeface="Calibri" pitchFamily="34" charset="0"/>
                <a:ea typeface="Calibri" pitchFamily="34" charset="-122"/>
                <a:cs typeface="Calibri" pitchFamily="34" charset="-120"/>
              </a:rPr>
              <a:t>Microsoft Foundry</a:t>
            </a:r>
            <a:endParaRPr lang="en-US" sz="1350" dirty="0"/>
          </a:p>
        </p:txBody>
      </p:sp>
      <p:sp>
        <p:nvSpPr>
          <p:cNvPr id="11" name="Shape 9"/>
          <p:cNvSpPr/>
          <p:nvPr/>
        </p:nvSpPr>
        <p:spPr>
          <a:xfrm>
            <a:off x="2889504" y="3355848"/>
            <a:ext cx="164592" cy="210312"/>
          </a:xfrm>
          <a:prstGeom prst="downArrow">
            <a:avLst/>
          </a:prstGeom>
          <a:solidFill>
            <a:srgbClr val="D4AF37"/>
          </a:solidFill>
          <a:ln/>
        </p:spPr>
      </p:sp>
      <p:sp>
        <p:nvSpPr>
          <p:cNvPr id="12" name="Shape 10"/>
          <p:cNvSpPr/>
          <p:nvPr/>
        </p:nvSpPr>
        <p:spPr>
          <a:xfrm>
            <a:off x="731520" y="3611880"/>
            <a:ext cx="4480560" cy="658368"/>
          </a:xfrm>
          <a:prstGeom prst="roundRect">
            <a:avLst>
              <a:gd name="adj" fmla="val 8333"/>
            </a:avLst>
          </a:prstGeom>
          <a:solidFill>
            <a:srgbClr val="1F1B10"/>
          </a:solidFill>
          <a:ln w="15875">
            <a:solidFill>
              <a:srgbClr val="D4AF37"/>
            </a:solidFill>
            <a:prstDash val="solid"/>
          </a:ln>
        </p:spPr>
      </p:sp>
      <p:sp>
        <p:nvSpPr>
          <p:cNvPr id="13" name="Text 11"/>
          <p:cNvSpPr/>
          <p:nvPr/>
        </p:nvSpPr>
        <p:spPr>
          <a:xfrm>
            <a:off x="777240" y="3611880"/>
            <a:ext cx="4389120" cy="658368"/>
          </a:xfrm>
          <a:prstGeom prst="rect">
            <a:avLst/>
          </a:prstGeom>
          <a:noFill/>
          <a:ln/>
        </p:spPr>
        <p:txBody>
          <a:bodyPr wrap="square" lIns="0" tIns="0" rIns="0" bIns="0" rtlCol="0" anchor="ctr"/>
          <a:lstStyle/>
          <a:p>
            <a:pPr algn="ctr" indent="0" marL="0">
              <a:buNone/>
            </a:pPr>
            <a:r>
              <a:rPr lang="en-US" sz="1350" b="1" dirty="0">
                <a:solidFill>
                  <a:srgbClr val="E8CC6B"/>
                </a:solidFill>
                <a:latin typeface="Calibri" pitchFamily="34" charset="0"/>
                <a:ea typeface="Calibri" pitchFamily="34" charset="-122"/>
                <a:cs typeface="Calibri" pitchFamily="34" charset="-120"/>
              </a:rPr>
              <a:t>Anthropic Infrastructure</a:t>
            </a:r>
            <a:endParaRPr lang="en-US" sz="1350" dirty="0"/>
          </a:p>
        </p:txBody>
      </p:sp>
      <p:sp>
        <p:nvSpPr>
          <p:cNvPr id="14" name="Shape 12"/>
          <p:cNvSpPr/>
          <p:nvPr/>
        </p:nvSpPr>
        <p:spPr>
          <a:xfrm>
            <a:off x="2889504" y="4270248"/>
            <a:ext cx="164592" cy="210312"/>
          </a:xfrm>
          <a:prstGeom prst="downArrow">
            <a:avLst/>
          </a:prstGeom>
          <a:solidFill>
            <a:srgbClr val="D4AF37"/>
          </a:solidFill>
          <a:ln/>
        </p:spPr>
      </p:sp>
      <p:sp>
        <p:nvSpPr>
          <p:cNvPr id="15" name="Shape 13"/>
          <p:cNvSpPr/>
          <p:nvPr/>
        </p:nvSpPr>
        <p:spPr>
          <a:xfrm>
            <a:off x="731520" y="4526280"/>
            <a:ext cx="4480560" cy="658368"/>
          </a:xfrm>
          <a:prstGeom prst="roundRect">
            <a:avLst>
              <a:gd name="adj" fmla="val 8333"/>
            </a:avLst>
          </a:prstGeom>
          <a:solidFill>
            <a:srgbClr val="161616"/>
          </a:solidFill>
          <a:ln w="15875">
            <a:solidFill>
              <a:srgbClr val="3A3226"/>
            </a:solidFill>
            <a:prstDash val="solid"/>
          </a:ln>
        </p:spPr>
      </p:sp>
      <p:sp>
        <p:nvSpPr>
          <p:cNvPr id="16" name="Text 14"/>
          <p:cNvSpPr/>
          <p:nvPr/>
        </p:nvSpPr>
        <p:spPr>
          <a:xfrm>
            <a:off x="777240" y="4526280"/>
            <a:ext cx="4389120" cy="658368"/>
          </a:xfrm>
          <a:prstGeom prst="rect">
            <a:avLst/>
          </a:prstGeom>
          <a:noFill/>
          <a:ln/>
        </p:spPr>
        <p:txBody>
          <a:bodyPr wrap="square" lIns="0" tIns="0" rIns="0" bIns="0" rtlCol="0" anchor="ctr"/>
          <a:lstStyle/>
          <a:p>
            <a:pPr algn="ctr" indent="0" marL="0">
              <a:buNone/>
            </a:pPr>
            <a:r>
              <a:rPr lang="en-US" sz="1350" b="1" dirty="0">
                <a:solidFill>
                  <a:srgbClr val="F3EEE1"/>
                </a:solidFill>
                <a:latin typeface="Calibri" pitchFamily="34" charset="0"/>
                <a:ea typeface="Calibri" pitchFamily="34" charset="-122"/>
                <a:cs typeface="Calibri" pitchFamily="34" charset="-120"/>
              </a:rPr>
              <a:t>Claude Model</a:t>
            </a:r>
            <a:endParaRPr lang="en-US" sz="1350" dirty="0"/>
          </a:p>
        </p:txBody>
      </p:sp>
      <p:sp>
        <p:nvSpPr>
          <p:cNvPr id="17" name="Shape 15"/>
          <p:cNvSpPr/>
          <p:nvPr/>
        </p:nvSpPr>
        <p:spPr>
          <a:xfrm>
            <a:off x="2889504" y="5184648"/>
            <a:ext cx="164592" cy="210312"/>
          </a:xfrm>
          <a:prstGeom prst="downArrow">
            <a:avLst/>
          </a:prstGeom>
          <a:solidFill>
            <a:srgbClr val="D4AF37"/>
          </a:solidFill>
          <a:ln/>
        </p:spPr>
      </p:sp>
      <p:sp>
        <p:nvSpPr>
          <p:cNvPr id="18" name="Shape 16"/>
          <p:cNvSpPr/>
          <p:nvPr/>
        </p:nvSpPr>
        <p:spPr>
          <a:xfrm>
            <a:off x="731520" y="5440680"/>
            <a:ext cx="4480560" cy="658368"/>
          </a:xfrm>
          <a:prstGeom prst="roundRect">
            <a:avLst>
              <a:gd name="adj" fmla="val 8333"/>
            </a:avLst>
          </a:prstGeom>
          <a:solidFill>
            <a:srgbClr val="161616"/>
          </a:solidFill>
          <a:ln w="15875">
            <a:solidFill>
              <a:srgbClr val="3A3226"/>
            </a:solidFill>
            <a:prstDash val="solid"/>
          </a:ln>
        </p:spPr>
      </p:sp>
      <p:sp>
        <p:nvSpPr>
          <p:cNvPr id="19" name="Text 17"/>
          <p:cNvSpPr/>
          <p:nvPr/>
        </p:nvSpPr>
        <p:spPr>
          <a:xfrm>
            <a:off x="777240" y="5440680"/>
            <a:ext cx="4389120" cy="658368"/>
          </a:xfrm>
          <a:prstGeom prst="rect">
            <a:avLst/>
          </a:prstGeom>
          <a:noFill/>
          <a:ln/>
        </p:spPr>
        <p:txBody>
          <a:bodyPr wrap="square" lIns="0" tIns="0" rIns="0" bIns="0" rtlCol="0" anchor="ctr"/>
          <a:lstStyle/>
          <a:p>
            <a:pPr algn="ctr" indent="0" marL="0">
              <a:buNone/>
            </a:pPr>
            <a:r>
              <a:rPr lang="en-US" sz="1350" b="1" dirty="0">
                <a:solidFill>
                  <a:srgbClr val="F3EEE1"/>
                </a:solidFill>
                <a:latin typeface="Calibri" pitchFamily="34" charset="0"/>
                <a:ea typeface="Calibri" pitchFamily="34" charset="-122"/>
                <a:cs typeface="Calibri" pitchFamily="34" charset="-120"/>
              </a:rPr>
              <a:t>Generated Response</a:t>
            </a:r>
            <a:endParaRPr lang="en-US" sz="1350" dirty="0"/>
          </a:p>
        </p:txBody>
      </p:sp>
      <p:sp>
        <p:nvSpPr>
          <p:cNvPr id="20" name="Text 18"/>
          <p:cNvSpPr/>
          <p:nvPr/>
        </p:nvSpPr>
        <p:spPr>
          <a:xfrm>
            <a:off x="5760720" y="1417320"/>
            <a:ext cx="548640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KEY CHARACTERISTICS</a:t>
            </a:r>
            <a:endParaRPr lang="en-US" sz="1150" dirty="0"/>
          </a:p>
        </p:txBody>
      </p:sp>
      <p:sp>
        <p:nvSpPr>
          <p:cNvPr id="21" name="Text 19"/>
          <p:cNvSpPr/>
          <p:nvPr/>
        </p:nvSpPr>
        <p:spPr>
          <a:xfrm>
            <a:off x="5760720" y="1783080"/>
            <a:ext cx="5760720" cy="2926080"/>
          </a:xfrm>
          <a:prstGeom prst="rect">
            <a:avLst/>
          </a:prstGeom>
          <a:noFill/>
          <a:ln/>
        </p:spPr>
        <p:txBody>
          <a:bodyPr wrap="square" lIns="0" tIns="0" rIns="0" bIns="0" rtlCol="0" anchor="t"/>
          <a:lstStyle/>
          <a:p>
            <a:pPr marL="177800" indent="-177800">
              <a:lnSpc>
                <a:spcPct val="108000"/>
              </a:lnSpc>
              <a:spcAft>
                <a:spcPts val="1400"/>
              </a:spcAft>
              <a:buSzPct val="100000"/>
              <a:buChar char="▪"/>
            </a:pPr>
            <a:r>
              <a:rPr lang="en-US" sz="1350" dirty="0">
                <a:solidFill>
                  <a:srgbClr val="F3EEE1"/>
                </a:solidFill>
                <a:latin typeface="Calibri" pitchFamily="34" charset="0"/>
                <a:ea typeface="Calibri" pitchFamily="34" charset="-122"/>
                <a:cs typeface="Calibri" pitchFamily="34" charset="-120"/>
              </a:rPr>
              <a:t>Claude runs on Anthropic infrastructure</a:t>
            </a:r>
            <a:endParaRPr lang="en-US" sz="1350" dirty="0"/>
          </a:p>
          <a:p>
            <a:pPr marL="177800" indent="-177800">
              <a:lnSpc>
                <a:spcPct val="108000"/>
              </a:lnSpc>
              <a:spcAft>
                <a:spcPts val="1400"/>
              </a:spcAft>
              <a:buSzPct val="100000"/>
              <a:buChar char="▪"/>
            </a:pPr>
            <a:r>
              <a:rPr lang="en-US" sz="1350" dirty="0">
                <a:solidFill>
                  <a:srgbClr val="F3EEE1"/>
                </a:solidFill>
                <a:latin typeface="Calibri" pitchFamily="34" charset="0"/>
                <a:ea typeface="Calibri" pitchFamily="34" charset="-122"/>
                <a:cs typeface="Calibri" pitchFamily="34" charset="-120"/>
              </a:rPr>
              <a:t>Latest Claude innovations generally appear here first, before the Azure catalog</a:t>
            </a:r>
            <a:endParaRPr lang="en-US" sz="1350" dirty="0"/>
          </a:p>
          <a:p>
            <a:pPr marL="177800" indent="-177800">
              <a:lnSpc>
                <a:spcPct val="108000"/>
              </a:lnSpc>
              <a:spcAft>
                <a:spcPts val="1400"/>
              </a:spcAft>
              <a:buSzPct val="100000"/>
              <a:buChar char="▪"/>
            </a:pPr>
            <a:r>
              <a:rPr lang="en-US" sz="1350" b="1" dirty="0">
                <a:solidFill>
                  <a:srgbClr val="F3EEE1"/>
                </a:solidFill>
                <a:latin typeface="Calibri" pitchFamily="34" charset="0"/>
                <a:ea typeface="Calibri" pitchFamily="34" charset="-122"/>
                <a:cs typeface="Calibri" pitchFamily="34" charset="-120"/>
              </a:rPr>
              <a:t>Foundry still handles:</a:t>
            </a:r>
            <a:endParaRPr lang="en-US" sz="1350" dirty="0"/>
          </a:p>
          <a:p>
            <a:pPr lvl="1" marL="355600" indent="-177800">
              <a:lnSpc>
                <a:spcPct val="108000"/>
              </a:lnSpc>
              <a:spcAft>
                <a:spcPts val="1400"/>
              </a:spcAft>
              <a:buSzPct val="100000"/>
              <a:buChar char="▪"/>
            </a:pPr>
            <a:r>
              <a:rPr lang="en-US" sz="1350" dirty="0">
                <a:solidFill>
                  <a:srgbClr val="F3EEE1"/>
                </a:solidFill>
                <a:latin typeface="Calibri" pitchFamily="34" charset="0"/>
                <a:ea typeface="Calibri" pitchFamily="34" charset="-122"/>
                <a:cs typeface="Calibri" pitchFamily="34" charset="-120"/>
              </a:rPr>
              <a:t>Deployment experience</a:t>
            </a:r>
            <a:endParaRPr lang="en-US" sz="1350" dirty="0"/>
          </a:p>
          <a:p>
            <a:pPr lvl="1" marL="355600" indent="-177800">
              <a:lnSpc>
                <a:spcPct val="108000"/>
              </a:lnSpc>
              <a:spcAft>
                <a:spcPts val="1400"/>
              </a:spcAft>
              <a:buSzPct val="100000"/>
              <a:buChar char="▪"/>
            </a:pPr>
            <a:r>
              <a:rPr lang="en-US" sz="1350" dirty="0">
                <a:solidFill>
                  <a:srgbClr val="F3EEE1"/>
                </a:solidFill>
                <a:latin typeface="Calibri" pitchFamily="34" charset="0"/>
                <a:ea typeface="Calibri" pitchFamily="34" charset="-122"/>
                <a:cs typeface="Calibri" pitchFamily="34" charset="-120"/>
              </a:rPr>
              <a:t>Billing</a:t>
            </a:r>
            <a:endParaRPr lang="en-US" sz="1350" dirty="0"/>
          </a:p>
          <a:p>
            <a:pPr lvl="1" marL="355600" indent="-177800">
              <a:lnSpc>
                <a:spcPct val="108000"/>
              </a:lnSpc>
              <a:spcAft>
                <a:spcPts val="1400"/>
              </a:spcAft>
              <a:buSzPct val="100000"/>
              <a:buChar char="▪"/>
            </a:pPr>
            <a:r>
              <a:rPr lang="en-US" sz="1350" dirty="0">
                <a:solidFill>
                  <a:srgbClr val="F3EEE1"/>
                </a:solidFill>
                <a:latin typeface="Calibri" pitchFamily="34" charset="0"/>
                <a:ea typeface="Calibri" pitchFamily="34" charset="-122"/>
                <a:cs typeface="Calibri" pitchFamily="34" charset="-120"/>
              </a:rPr>
              <a:t>Project management</a:t>
            </a:r>
            <a:endParaRPr lang="en-US" sz="1350" dirty="0"/>
          </a:p>
          <a:p>
            <a:pPr lvl="1" marL="355600" indent="-177800">
              <a:lnSpc>
                <a:spcPct val="108000"/>
              </a:lnSpc>
              <a:spcAft>
                <a:spcPts val="1400"/>
              </a:spcAft>
              <a:buSzPct val="100000"/>
              <a:buChar char="▪"/>
            </a:pPr>
            <a:r>
              <a:rPr lang="en-US" sz="1350" dirty="0">
                <a:solidFill>
                  <a:srgbClr val="F3EEE1"/>
                </a:solidFill>
                <a:latin typeface="Calibri" pitchFamily="34" charset="0"/>
                <a:ea typeface="Calibri" pitchFamily="34" charset="-122"/>
                <a:cs typeface="Calibri" pitchFamily="34" charset="-120"/>
              </a:rPr>
              <a:t>Identity integration</a:t>
            </a:r>
            <a:endParaRPr lang="en-US" sz="1350" dirty="0"/>
          </a:p>
          <a:p>
            <a:pPr lvl="1" marL="355600" indent="-177800">
              <a:lnSpc>
                <a:spcPct val="108000"/>
              </a:lnSpc>
              <a:spcAft>
                <a:spcPts val="1400"/>
              </a:spcAft>
              <a:buSzPct val="100000"/>
              <a:buChar char="▪"/>
            </a:pPr>
            <a:r>
              <a:rPr lang="en-US" sz="1350" dirty="0">
                <a:solidFill>
                  <a:srgbClr val="F3EEE1"/>
                </a:solidFill>
                <a:latin typeface="Calibri" pitchFamily="34" charset="0"/>
                <a:ea typeface="Calibri" pitchFamily="34" charset="-122"/>
                <a:cs typeface="Calibri" pitchFamily="34" charset="-120"/>
              </a:rPr>
              <a:t>API access</a:t>
            </a:r>
            <a:endParaRPr lang="en-US" sz="1350" dirty="0"/>
          </a:p>
        </p:txBody>
      </p:sp>
      <p:sp>
        <p:nvSpPr>
          <p:cNvPr id="22" name="Shape 20"/>
          <p:cNvSpPr/>
          <p:nvPr/>
        </p:nvSpPr>
        <p:spPr>
          <a:xfrm>
            <a:off x="5760720" y="4937760"/>
            <a:ext cx="5943600" cy="1051560"/>
          </a:xfrm>
          <a:prstGeom prst="roundRect">
            <a:avLst>
              <a:gd name="adj" fmla="val 6087"/>
            </a:avLst>
          </a:prstGeom>
          <a:solidFill>
            <a:srgbClr val="1F1B10"/>
          </a:solidFill>
          <a:ln w="12700">
            <a:solidFill>
              <a:srgbClr val="3A3226"/>
            </a:solidFill>
            <a:prstDash val="solid"/>
          </a:ln>
          <a:effectLst>
            <a:outerShdw sx="100000" sy="100000" kx="0" ky="0" algn="bl" rotWithShape="0" blurRad="101600" dist="38100" dir="5400000">
              <a:srgbClr val="000000">
                <a:alpha val="40000"/>
              </a:srgbClr>
            </a:outerShdw>
          </a:effectLst>
        </p:spPr>
      </p:sp>
      <p:sp>
        <p:nvSpPr>
          <p:cNvPr id="23" name="Text 21"/>
          <p:cNvSpPr/>
          <p:nvPr/>
        </p:nvSpPr>
        <p:spPr>
          <a:xfrm>
            <a:off x="6035040" y="4937760"/>
            <a:ext cx="5440680" cy="1051560"/>
          </a:xfrm>
          <a:prstGeom prst="rect">
            <a:avLst/>
          </a:prstGeom>
          <a:noFill/>
          <a:ln/>
        </p:spPr>
        <p:txBody>
          <a:bodyPr wrap="square" lIns="0" tIns="0" rIns="0" bIns="0" rtlCol="0" anchor="ctr"/>
          <a:lstStyle/>
          <a:p>
            <a:pPr indent="0" marL="0">
              <a:lnSpc>
                <a:spcPct val="120000"/>
              </a:lnSpc>
              <a:buNone/>
            </a:pPr>
            <a:r>
              <a:rPr lang="en-US" sz="1200" i="1" dirty="0">
                <a:solidFill>
                  <a:srgbClr val="E8CC6B"/>
                </a:solidFill>
                <a:latin typeface="Calibri" pitchFamily="34" charset="0"/>
                <a:ea typeface="Calibri" pitchFamily="34" charset="-122"/>
                <a:cs typeface="Calibri" pitchFamily="34" charset="-120"/>
              </a:rPr>
              <a:t>Prompts and outputs are processed on Anthropic infrastructure.</a:t>
            </a:r>
            <a:endParaRPr lang="en-US" sz="1200" dirty="0"/>
          </a:p>
        </p:txBody>
      </p:sp>
      <p:sp>
        <p:nvSpPr>
          <p:cNvPr id="24" name="Text 22"/>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25" name="Text 23"/>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ARCHITECTURE DEEP DIVE</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800" b="1" dirty="0">
                <a:solidFill>
                  <a:srgbClr val="F3EEE1"/>
                </a:solidFill>
                <a:latin typeface="Cambria" pitchFamily="34" charset="0"/>
                <a:ea typeface="Cambria" pitchFamily="34" charset="-122"/>
                <a:cs typeface="Cambria" pitchFamily="34" charset="-120"/>
              </a:rPr>
              <a:t>Azure Hosted Claude Architecture</a:t>
            </a:r>
            <a:endParaRPr lang="en-US" sz="2800" dirty="0"/>
          </a:p>
        </p:txBody>
      </p:sp>
      <p:sp>
        <p:nvSpPr>
          <p:cNvPr id="5" name="Text 3"/>
          <p:cNvSpPr/>
          <p:nvPr/>
        </p:nvSpPr>
        <p:spPr>
          <a:xfrm>
            <a:off x="457200" y="1417320"/>
            <a:ext cx="457200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REQUEST FLOW</a:t>
            </a:r>
            <a:endParaRPr lang="en-US" sz="1150" dirty="0"/>
          </a:p>
        </p:txBody>
      </p:sp>
      <p:sp>
        <p:nvSpPr>
          <p:cNvPr id="6" name="Shape 4"/>
          <p:cNvSpPr/>
          <p:nvPr/>
        </p:nvSpPr>
        <p:spPr>
          <a:xfrm>
            <a:off x="731520" y="1783080"/>
            <a:ext cx="4480560" cy="658368"/>
          </a:xfrm>
          <a:prstGeom prst="roundRect">
            <a:avLst>
              <a:gd name="adj" fmla="val 8333"/>
            </a:avLst>
          </a:prstGeom>
          <a:solidFill>
            <a:srgbClr val="161616"/>
          </a:solidFill>
          <a:ln w="15875">
            <a:solidFill>
              <a:srgbClr val="3A3226"/>
            </a:solidFill>
            <a:prstDash val="solid"/>
          </a:ln>
        </p:spPr>
      </p:sp>
      <p:sp>
        <p:nvSpPr>
          <p:cNvPr id="7" name="Text 5"/>
          <p:cNvSpPr/>
          <p:nvPr/>
        </p:nvSpPr>
        <p:spPr>
          <a:xfrm>
            <a:off x="777240" y="1783080"/>
            <a:ext cx="4389120" cy="658368"/>
          </a:xfrm>
          <a:prstGeom prst="rect">
            <a:avLst/>
          </a:prstGeom>
          <a:noFill/>
          <a:ln/>
        </p:spPr>
        <p:txBody>
          <a:bodyPr wrap="square" lIns="0" tIns="0" rIns="0" bIns="0" rtlCol="0" anchor="ctr"/>
          <a:lstStyle/>
          <a:p>
            <a:pPr algn="ctr" indent="0" marL="0">
              <a:buNone/>
            </a:pPr>
            <a:r>
              <a:rPr lang="en-US" sz="1350" b="1" dirty="0">
                <a:solidFill>
                  <a:srgbClr val="F3EEE1"/>
                </a:solidFill>
                <a:latin typeface="Calibri" pitchFamily="34" charset="0"/>
                <a:ea typeface="Calibri" pitchFamily="34" charset="-122"/>
                <a:cs typeface="Calibri" pitchFamily="34" charset="-120"/>
              </a:rPr>
              <a:t>User / Application</a:t>
            </a:r>
            <a:endParaRPr lang="en-US" sz="1350" dirty="0"/>
          </a:p>
        </p:txBody>
      </p:sp>
      <p:sp>
        <p:nvSpPr>
          <p:cNvPr id="8" name="Shape 6"/>
          <p:cNvSpPr/>
          <p:nvPr/>
        </p:nvSpPr>
        <p:spPr>
          <a:xfrm>
            <a:off x="2889504" y="2441448"/>
            <a:ext cx="164592" cy="210312"/>
          </a:xfrm>
          <a:prstGeom prst="downArrow">
            <a:avLst/>
          </a:prstGeom>
          <a:solidFill>
            <a:srgbClr val="D4AF37"/>
          </a:solidFill>
          <a:ln/>
        </p:spPr>
      </p:sp>
      <p:sp>
        <p:nvSpPr>
          <p:cNvPr id="9" name="Shape 7"/>
          <p:cNvSpPr/>
          <p:nvPr/>
        </p:nvSpPr>
        <p:spPr>
          <a:xfrm>
            <a:off x="731520" y="2697480"/>
            <a:ext cx="4480560" cy="658368"/>
          </a:xfrm>
          <a:prstGeom prst="roundRect">
            <a:avLst>
              <a:gd name="adj" fmla="val 8333"/>
            </a:avLst>
          </a:prstGeom>
          <a:solidFill>
            <a:srgbClr val="161616"/>
          </a:solidFill>
          <a:ln w="15875">
            <a:solidFill>
              <a:srgbClr val="3A3226"/>
            </a:solidFill>
            <a:prstDash val="solid"/>
          </a:ln>
        </p:spPr>
      </p:sp>
      <p:sp>
        <p:nvSpPr>
          <p:cNvPr id="10" name="Text 8"/>
          <p:cNvSpPr/>
          <p:nvPr/>
        </p:nvSpPr>
        <p:spPr>
          <a:xfrm>
            <a:off x="777240" y="2697480"/>
            <a:ext cx="4389120" cy="658368"/>
          </a:xfrm>
          <a:prstGeom prst="rect">
            <a:avLst/>
          </a:prstGeom>
          <a:noFill/>
          <a:ln/>
        </p:spPr>
        <p:txBody>
          <a:bodyPr wrap="square" lIns="0" tIns="0" rIns="0" bIns="0" rtlCol="0" anchor="ctr"/>
          <a:lstStyle/>
          <a:p>
            <a:pPr algn="ctr" indent="0" marL="0">
              <a:buNone/>
            </a:pPr>
            <a:r>
              <a:rPr lang="en-US" sz="1350" b="1" dirty="0">
                <a:solidFill>
                  <a:srgbClr val="F3EEE1"/>
                </a:solidFill>
                <a:latin typeface="Calibri" pitchFamily="34" charset="0"/>
                <a:ea typeface="Calibri" pitchFamily="34" charset="-122"/>
                <a:cs typeface="Calibri" pitchFamily="34" charset="-120"/>
              </a:rPr>
              <a:t>Microsoft Foundry</a:t>
            </a:r>
            <a:endParaRPr lang="en-US" sz="1350" dirty="0"/>
          </a:p>
        </p:txBody>
      </p:sp>
      <p:sp>
        <p:nvSpPr>
          <p:cNvPr id="11" name="Shape 9"/>
          <p:cNvSpPr/>
          <p:nvPr/>
        </p:nvSpPr>
        <p:spPr>
          <a:xfrm>
            <a:off x="2889504" y="3355848"/>
            <a:ext cx="164592" cy="210312"/>
          </a:xfrm>
          <a:prstGeom prst="downArrow">
            <a:avLst/>
          </a:prstGeom>
          <a:solidFill>
            <a:srgbClr val="D4AF37"/>
          </a:solidFill>
          <a:ln/>
        </p:spPr>
      </p:sp>
      <p:sp>
        <p:nvSpPr>
          <p:cNvPr id="12" name="Shape 10"/>
          <p:cNvSpPr/>
          <p:nvPr/>
        </p:nvSpPr>
        <p:spPr>
          <a:xfrm>
            <a:off x="731520" y="3611880"/>
            <a:ext cx="4480560" cy="658368"/>
          </a:xfrm>
          <a:prstGeom prst="roundRect">
            <a:avLst>
              <a:gd name="adj" fmla="val 8333"/>
            </a:avLst>
          </a:prstGeom>
          <a:solidFill>
            <a:srgbClr val="1F1B10"/>
          </a:solidFill>
          <a:ln w="15875">
            <a:solidFill>
              <a:srgbClr val="D4AF37"/>
            </a:solidFill>
            <a:prstDash val="solid"/>
          </a:ln>
        </p:spPr>
      </p:sp>
      <p:sp>
        <p:nvSpPr>
          <p:cNvPr id="13" name="Text 11"/>
          <p:cNvSpPr/>
          <p:nvPr/>
        </p:nvSpPr>
        <p:spPr>
          <a:xfrm>
            <a:off x="777240" y="3611880"/>
            <a:ext cx="4389120" cy="658368"/>
          </a:xfrm>
          <a:prstGeom prst="rect">
            <a:avLst/>
          </a:prstGeom>
          <a:noFill/>
          <a:ln/>
        </p:spPr>
        <p:txBody>
          <a:bodyPr wrap="square" lIns="0" tIns="0" rIns="0" bIns="0" rtlCol="0" anchor="ctr"/>
          <a:lstStyle/>
          <a:p>
            <a:pPr algn="ctr" indent="0" marL="0">
              <a:buNone/>
            </a:pPr>
            <a:r>
              <a:rPr lang="en-US" sz="1350" b="1" dirty="0">
                <a:solidFill>
                  <a:srgbClr val="E8CC6B"/>
                </a:solidFill>
                <a:latin typeface="Calibri" pitchFamily="34" charset="0"/>
                <a:ea typeface="Calibri" pitchFamily="34" charset="-122"/>
                <a:cs typeface="Calibri" pitchFamily="34" charset="-120"/>
              </a:rPr>
              <a:t>Azure Infrastructure</a:t>
            </a:r>
            <a:endParaRPr lang="en-US" sz="1350" dirty="0"/>
          </a:p>
        </p:txBody>
      </p:sp>
      <p:sp>
        <p:nvSpPr>
          <p:cNvPr id="14" name="Shape 12"/>
          <p:cNvSpPr/>
          <p:nvPr/>
        </p:nvSpPr>
        <p:spPr>
          <a:xfrm>
            <a:off x="2889504" y="4270248"/>
            <a:ext cx="164592" cy="210312"/>
          </a:xfrm>
          <a:prstGeom prst="downArrow">
            <a:avLst/>
          </a:prstGeom>
          <a:solidFill>
            <a:srgbClr val="D4AF37"/>
          </a:solidFill>
          <a:ln/>
        </p:spPr>
      </p:sp>
      <p:sp>
        <p:nvSpPr>
          <p:cNvPr id="15" name="Shape 13"/>
          <p:cNvSpPr/>
          <p:nvPr/>
        </p:nvSpPr>
        <p:spPr>
          <a:xfrm>
            <a:off x="731520" y="4526280"/>
            <a:ext cx="4480560" cy="658368"/>
          </a:xfrm>
          <a:prstGeom prst="roundRect">
            <a:avLst>
              <a:gd name="adj" fmla="val 8333"/>
            </a:avLst>
          </a:prstGeom>
          <a:solidFill>
            <a:srgbClr val="161616"/>
          </a:solidFill>
          <a:ln w="15875">
            <a:solidFill>
              <a:srgbClr val="3A3226"/>
            </a:solidFill>
            <a:prstDash val="solid"/>
          </a:ln>
        </p:spPr>
      </p:sp>
      <p:sp>
        <p:nvSpPr>
          <p:cNvPr id="16" name="Text 14"/>
          <p:cNvSpPr/>
          <p:nvPr/>
        </p:nvSpPr>
        <p:spPr>
          <a:xfrm>
            <a:off x="777240" y="4526280"/>
            <a:ext cx="4389120" cy="658368"/>
          </a:xfrm>
          <a:prstGeom prst="rect">
            <a:avLst/>
          </a:prstGeom>
          <a:noFill/>
          <a:ln/>
        </p:spPr>
        <p:txBody>
          <a:bodyPr wrap="square" lIns="0" tIns="0" rIns="0" bIns="0" rtlCol="0" anchor="ctr"/>
          <a:lstStyle/>
          <a:p>
            <a:pPr algn="ctr" indent="0" marL="0">
              <a:buNone/>
            </a:pPr>
            <a:r>
              <a:rPr lang="en-US" sz="1350" b="1" dirty="0">
                <a:solidFill>
                  <a:srgbClr val="F3EEE1"/>
                </a:solidFill>
                <a:latin typeface="Calibri" pitchFamily="34" charset="0"/>
                <a:ea typeface="Calibri" pitchFamily="34" charset="-122"/>
                <a:cs typeface="Calibri" pitchFamily="34" charset="-120"/>
              </a:rPr>
              <a:t>Claude Model</a:t>
            </a:r>
            <a:endParaRPr lang="en-US" sz="1350" dirty="0"/>
          </a:p>
        </p:txBody>
      </p:sp>
      <p:sp>
        <p:nvSpPr>
          <p:cNvPr id="17" name="Shape 15"/>
          <p:cNvSpPr/>
          <p:nvPr/>
        </p:nvSpPr>
        <p:spPr>
          <a:xfrm>
            <a:off x="2889504" y="5184648"/>
            <a:ext cx="164592" cy="210312"/>
          </a:xfrm>
          <a:prstGeom prst="downArrow">
            <a:avLst/>
          </a:prstGeom>
          <a:solidFill>
            <a:srgbClr val="D4AF37"/>
          </a:solidFill>
          <a:ln/>
        </p:spPr>
      </p:sp>
      <p:sp>
        <p:nvSpPr>
          <p:cNvPr id="18" name="Shape 16"/>
          <p:cNvSpPr/>
          <p:nvPr/>
        </p:nvSpPr>
        <p:spPr>
          <a:xfrm>
            <a:off x="731520" y="5440680"/>
            <a:ext cx="4480560" cy="658368"/>
          </a:xfrm>
          <a:prstGeom prst="roundRect">
            <a:avLst>
              <a:gd name="adj" fmla="val 8333"/>
            </a:avLst>
          </a:prstGeom>
          <a:solidFill>
            <a:srgbClr val="161616"/>
          </a:solidFill>
          <a:ln w="15875">
            <a:solidFill>
              <a:srgbClr val="3A3226"/>
            </a:solidFill>
            <a:prstDash val="solid"/>
          </a:ln>
        </p:spPr>
      </p:sp>
      <p:sp>
        <p:nvSpPr>
          <p:cNvPr id="19" name="Text 17"/>
          <p:cNvSpPr/>
          <p:nvPr/>
        </p:nvSpPr>
        <p:spPr>
          <a:xfrm>
            <a:off x="777240" y="5440680"/>
            <a:ext cx="4389120" cy="658368"/>
          </a:xfrm>
          <a:prstGeom prst="rect">
            <a:avLst/>
          </a:prstGeom>
          <a:noFill/>
          <a:ln/>
        </p:spPr>
        <p:txBody>
          <a:bodyPr wrap="square" lIns="0" tIns="0" rIns="0" bIns="0" rtlCol="0" anchor="ctr"/>
          <a:lstStyle/>
          <a:p>
            <a:pPr algn="ctr" indent="0" marL="0">
              <a:buNone/>
            </a:pPr>
            <a:r>
              <a:rPr lang="en-US" sz="1350" b="1" dirty="0">
                <a:solidFill>
                  <a:srgbClr val="F3EEE1"/>
                </a:solidFill>
                <a:latin typeface="Calibri" pitchFamily="34" charset="0"/>
                <a:ea typeface="Calibri" pitchFamily="34" charset="-122"/>
                <a:cs typeface="Calibri" pitchFamily="34" charset="-120"/>
              </a:rPr>
              <a:t>Generated Response</a:t>
            </a:r>
            <a:endParaRPr lang="en-US" sz="1350" dirty="0"/>
          </a:p>
        </p:txBody>
      </p:sp>
      <p:sp>
        <p:nvSpPr>
          <p:cNvPr id="20" name="Text 18"/>
          <p:cNvSpPr/>
          <p:nvPr/>
        </p:nvSpPr>
        <p:spPr>
          <a:xfrm>
            <a:off x="5760720" y="1417320"/>
            <a:ext cx="548640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KEY CHARACTERISTICS</a:t>
            </a:r>
            <a:endParaRPr lang="en-US" sz="1150" dirty="0"/>
          </a:p>
        </p:txBody>
      </p:sp>
      <p:sp>
        <p:nvSpPr>
          <p:cNvPr id="21" name="Text 19"/>
          <p:cNvSpPr/>
          <p:nvPr/>
        </p:nvSpPr>
        <p:spPr>
          <a:xfrm>
            <a:off x="5760720" y="1783080"/>
            <a:ext cx="5760720" cy="2926080"/>
          </a:xfrm>
          <a:prstGeom prst="rect">
            <a:avLst/>
          </a:prstGeom>
          <a:noFill/>
          <a:ln/>
        </p:spPr>
        <p:txBody>
          <a:bodyPr wrap="square" lIns="0" tIns="0" rIns="0" bIns="0" rtlCol="0" anchor="t"/>
          <a:lstStyle/>
          <a:p>
            <a:pPr marL="177800" indent="-177800">
              <a:lnSpc>
                <a:spcPct val="108000"/>
              </a:lnSpc>
              <a:spcAft>
                <a:spcPts val="1400"/>
              </a:spcAft>
              <a:buSzPct val="100000"/>
              <a:buChar char="▪"/>
            </a:pPr>
            <a:r>
              <a:rPr lang="en-US" sz="1350" dirty="0">
                <a:solidFill>
                  <a:srgbClr val="F3EEE1"/>
                </a:solidFill>
                <a:latin typeface="Calibri" pitchFamily="34" charset="0"/>
                <a:ea typeface="Calibri" pitchFamily="34" charset="-122"/>
                <a:cs typeface="Calibri" pitchFamily="34" charset="-120"/>
              </a:rPr>
              <a:t>Entire inference path remains within Azure infrastructure</a:t>
            </a:r>
            <a:endParaRPr lang="en-US" sz="1350" dirty="0"/>
          </a:p>
          <a:p>
            <a:pPr marL="177800" indent="-177800">
              <a:lnSpc>
                <a:spcPct val="108000"/>
              </a:lnSpc>
              <a:spcAft>
                <a:spcPts val="1400"/>
              </a:spcAft>
              <a:buSzPct val="100000"/>
              <a:buChar char="▪"/>
            </a:pPr>
            <a:r>
              <a:rPr lang="en-US" sz="1350" dirty="0">
                <a:solidFill>
                  <a:srgbClr val="F3EEE1"/>
                </a:solidFill>
                <a:latin typeface="Calibri" pitchFamily="34" charset="0"/>
                <a:ea typeface="Calibri" pitchFamily="34" charset="-122"/>
                <a:cs typeface="Calibri" pitchFamily="34" charset="-120"/>
              </a:rPr>
              <a:t>Strong compliance alignment</a:t>
            </a:r>
            <a:endParaRPr lang="en-US" sz="1350" dirty="0"/>
          </a:p>
          <a:p>
            <a:pPr marL="177800" indent="-177800">
              <a:lnSpc>
                <a:spcPct val="108000"/>
              </a:lnSpc>
              <a:spcAft>
                <a:spcPts val="1400"/>
              </a:spcAft>
              <a:buSzPct val="100000"/>
              <a:buChar char="▪"/>
            </a:pPr>
            <a:r>
              <a:rPr lang="en-US" sz="1350" dirty="0">
                <a:solidFill>
                  <a:srgbClr val="F3EEE1"/>
                </a:solidFill>
                <a:latin typeface="Calibri" pitchFamily="34" charset="0"/>
                <a:ea typeface="Calibri" pitchFamily="34" charset="-122"/>
                <a:cs typeface="Calibri" pitchFamily="34" charset="-120"/>
              </a:rPr>
              <a:t>Better regulatory support</a:t>
            </a:r>
            <a:endParaRPr lang="en-US" sz="1350" dirty="0"/>
          </a:p>
          <a:p>
            <a:pPr marL="177800" indent="-177800">
              <a:lnSpc>
                <a:spcPct val="108000"/>
              </a:lnSpc>
              <a:spcAft>
                <a:spcPts val="1400"/>
              </a:spcAft>
              <a:buSzPct val="100000"/>
              <a:buChar char="▪"/>
            </a:pPr>
            <a:r>
              <a:rPr lang="en-US" sz="1350" dirty="0">
                <a:solidFill>
                  <a:srgbClr val="F3EEE1"/>
                </a:solidFill>
                <a:latin typeface="Calibri" pitchFamily="34" charset="0"/>
                <a:ea typeface="Calibri" pitchFamily="34" charset="-122"/>
                <a:cs typeface="Calibri" pitchFamily="34" charset="-120"/>
              </a:rPr>
              <a:t>Stronger data residency controls</a:t>
            </a:r>
            <a:endParaRPr lang="en-US" sz="1350" dirty="0"/>
          </a:p>
        </p:txBody>
      </p:sp>
      <p:sp>
        <p:nvSpPr>
          <p:cNvPr id="22" name="Shape 20"/>
          <p:cNvSpPr/>
          <p:nvPr/>
        </p:nvSpPr>
        <p:spPr>
          <a:xfrm>
            <a:off x="5760720" y="4937760"/>
            <a:ext cx="5943600" cy="1051560"/>
          </a:xfrm>
          <a:prstGeom prst="roundRect">
            <a:avLst>
              <a:gd name="adj" fmla="val 6087"/>
            </a:avLst>
          </a:prstGeom>
          <a:solidFill>
            <a:srgbClr val="1F1B10"/>
          </a:solidFill>
          <a:ln w="12700">
            <a:solidFill>
              <a:srgbClr val="3A3226"/>
            </a:solidFill>
            <a:prstDash val="solid"/>
          </a:ln>
          <a:effectLst>
            <a:outerShdw sx="100000" sy="100000" kx="0" ky="0" algn="bl" rotWithShape="0" blurRad="101600" dist="38100" dir="5400000">
              <a:srgbClr val="000000">
                <a:alpha val="40000"/>
              </a:srgbClr>
            </a:outerShdw>
          </a:effectLst>
        </p:spPr>
      </p:sp>
      <p:sp>
        <p:nvSpPr>
          <p:cNvPr id="23" name="Text 21"/>
          <p:cNvSpPr/>
          <p:nvPr/>
        </p:nvSpPr>
        <p:spPr>
          <a:xfrm>
            <a:off x="6035040" y="4937760"/>
            <a:ext cx="5440680" cy="1051560"/>
          </a:xfrm>
          <a:prstGeom prst="rect">
            <a:avLst/>
          </a:prstGeom>
          <a:noFill/>
          <a:ln/>
        </p:spPr>
        <p:txBody>
          <a:bodyPr wrap="square" lIns="0" tIns="0" rIns="0" bIns="0" rtlCol="0" anchor="ctr"/>
          <a:lstStyle/>
          <a:p>
            <a:pPr indent="0" marL="0">
              <a:lnSpc>
                <a:spcPct val="120000"/>
              </a:lnSpc>
              <a:buNone/>
            </a:pPr>
            <a:r>
              <a:rPr lang="en-US" sz="1200" i="1" dirty="0">
                <a:solidFill>
                  <a:srgbClr val="E8CC6B"/>
                </a:solidFill>
                <a:latin typeface="Calibri" pitchFamily="34" charset="0"/>
                <a:ea typeface="Calibri" pitchFamily="34" charset="-122"/>
                <a:cs typeface="Calibri" pitchFamily="34" charset="-120"/>
              </a:rPr>
              <a:t>Azure-hosted deployments process prompts and outputs within Azure infrastructure.</a:t>
            </a:r>
            <a:endParaRPr lang="en-US" sz="1200" dirty="0"/>
          </a:p>
        </p:txBody>
      </p:sp>
      <p:sp>
        <p:nvSpPr>
          <p:cNvPr id="24" name="Text 22"/>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25" name="Text 23"/>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COMPARISON</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600" b="1" dirty="0">
                <a:solidFill>
                  <a:srgbClr val="F3EEE1"/>
                </a:solidFill>
                <a:latin typeface="Cambria" pitchFamily="34" charset="0"/>
                <a:ea typeface="Cambria" pitchFamily="34" charset="-122"/>
                <a:cs typeface="Cambria" pitchFamily="34" charset="-120"/>
              </a:rPr>
              <a:t>Azure Hosted vs Anthropic Hosted</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11274552" cy="914400"/>
        </p:xfrm>
        <a:graphic>
          <a:graphicData uri="http://schemas.openxmlformats.org/drawingml/2006/table">
            <a:tbl>
              <a:tblPr/>
              <a:tblGrid>
                <a:gridCol w="3959352"/>
                <a:gridCol w="3657600"/>
                <a:gridCol w="3657600"/>
              </a:tblGrid>
              <a:tr h="310896">
                <a:tc>
                  <a:txBody>
                    <a:bodyPr/>
                    <a:lstStyle/>
                    <a:p>
                      <a:pPr algn="l" indent="0" marL="0">
                        <a:buNone/>
                      </a:pPr>
                      <a:r>
                        <a:rPr lang="en-US" sz="1150" b="1" dirty="0">
                          <a:solidFill>
                            <a:srgbClr val="0A0A0A"/>
                          </a:solidFill>
                          <a:latin typeface="Calibri" pitchFamily="34" charset="0"/>
                          <a:ea typeface="Calibri" pitchFamily="34" charset="-122"/>
                          <a:cs typeface="Calibri" pitchFamily="34" charset="-120"/>
                        </a:rPr>
                        <a:t>Capability</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D4AF37"/>
                    </a:solidFill>
                  </a:tcPr>
                </a:tc>
                <a:tc>
                  <a:txBody>
                    <a:bodyPr/>
                    <a:lstStyle/>
                    <a:p>
                      <a:pPr algn="l" indent="0" marL="0">
                        <a:buNone/>
                      </a:pPr>
                      <a:r>
                        <a:rPr lang="en-US" sz="1150" b="1" dirty="0">
                          <a:solidFill>
                            <a:srgbClr val="0A0A0A"/>
                          </a:solidFill>
                          <a:latin typeface="Calibri" pitchFamily="34" charset="0"/>
                          <a:ea typeface="Calibri" pitchFamily="34" charset="-122"/>
                          <a:cs typeface="Calibri" pitchFamily="34" charset="-120"/>
                        </a:rPr>
                        <a:t>Azure Hosted</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D4AF37"/>
                    </a:solidFill>
                  </a:tcPr>
                </a:tc>
                <a:tc>
                  <a:txBody>
                    <a:bodyPr/>
                    <a:lstStyle/>
                    <a:p>
                      <a:pPr algn="l" indent="0" marL="0">
                        <a:buNone/>
                      </a:pPr>
                      <a:r>
                        <a:rPr lang="en-US" sz="1150" b="1" dirty="0">
                          <a:solidFill>
                            <a:srgbClr val="0A0A0A"/>
                          </a:solidFill>
                          <a:latin typeface="Calibri" pitchFamily="34" charset="0"/>
                          <a:ea typeface="Calibri" pitchFamily="34" charset="-122"/>
                          <a:cs typeface="Calibri" pitchFamily="34" charset="-120"/>
                        </a:rPr>
                        <a:t>Anthropic Hosted</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D4AF37"/>
                    </a:solidFill>
                  </a:tcPr>
                </a:tc>
              </a:tr>
              <a:tr h="310896">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Inference Processing</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Azure</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Anthropic</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310896">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Data Residency</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Azure Geography</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Anthropic Controlled</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r h="310896">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Compliance Alignment</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Strong</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Shared Responsibility</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310896">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Regulatory Workloads</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Preferred</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Limited</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r h="310896">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Latest Features</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Slightly Later</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Usually First</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310896">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Governance</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Azure Native</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Shared</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r h="310896">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Enterprise Adoption</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310896">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Research Workloads</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Good</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Excellent</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bl>
          </a:graphicData>
        </a:graphic>
      </p:graphicFrame>
      <p:sp>
        <p:nvSpPr>
          <p:cNvPr id="6" name="Text 3"/>
          <p:cNvSpPr/>
          <p:nvPr/>
        </p:nvSpPr>
        <p:spPr>
          <a:xfrm>
            <a:off x="457200" y="4160520"/>
            <a:ext cx="530352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CHOOSE AZURE HOSTED</a:t>
            </a:r>
            <a:endParaRPr lang="en-US" sz="1150" dirty="0"/>
          </a:p>
        </p:txBody>
      </p:sp>
      <p:sp>
        <p:nvSpPr>
          <p:cNvPr id="7" name="Text 4"/>
          <p:cNvSpPr/>
          <p:nvPr/>
        </p:nvSpPr>
        <p:spPr>
          <a:xfrm>
            <a:off x="457200" y="4480560"/>
            <a:ext cx="5303520" cy="1645920"/>
          </a:xfrm>
          <a:prstGeom prst="rect">
            <a:avLst/>
          </a:prstGeom>
          <a:noFill/>
          <a:ln/>
        </p:spPr>
        <p:txBody>
          <a:bodyPr wrap="square" lIns="0" tIns="0" rIns="0" bIns="0" rtlCol="0" anchor="t"/>
          <a:lstStyle/>
          <a:p>
            <a:pPr marL="177800" indent="-177800">
              <a:lnSpc>
                <a:spcPct val="108000"/>
              </a:lnSpc>
              <a:spcAft>
                <a:spcPts val="700"/>
              </a:spcAft>
              <a:buSzPct val="100000"/>
              <a:buChar char="▪"/>
            </a:pPr>
            <a:r>
              <a:rPr lang="en-US" sz="1250" dirty="0">
                <a:solidFill>
                  <a:srgbClr val="F3EEE1"/>
                </a:solidFill>
                <a:latin typeface="Calibri" pitchFamily="34" charset="0"/>
                <a:ea typeface="Calibri" pitchFamily="34" charset="-122"/>
                <a:cs typeface="Calibri" pitchFamily="34" charset="-120"/>
              </a:rPr>
              <a:t>Banking</a:t>
            </a:r>
            <a:endParaRPr lang="en-US" sz="1250" dirty="0"/>
          </a:p>
          <a:p>
            <a:pPr marL="177800" indent="-177800">
              <a:lnSpc>
                <a:spcPct val="108000"/>
              </a:lnSpc>
              <a:spcAft>
                <a:spcPts val="700"/>
              </a:spcAft>
              <a:buSzPct val="100000"/>
              <a:buChar char="▪"/>
            </a:pPr>
            <a:r>
              <a:rPr lang="en-US" sz="1250" dirty="0">
                <a:solidFill>
                  <a:srgbClr val="F3EEE1"/>
                </a:solidFill>
                <a:latin typeface="Calibri" pitchFamily="34" charset="0"/>
                <a:ea typeface="Calibri" pitchFamily="34" charset="-122"/>
                <a:cs typeface="Calibri" pitchFamily="34" charset="-120"/>
              </a:rPr>
              <a:t>Healthcare</a:t>
            </a:r>
            <a:endParaRPr lang="en-US" sz="1250" dirty="0"/>
          </a:p>
          <a:p>
            <a:pPr marL="177800" indent="-177800">
              <a:lnSpc>
                <a:spcPct val="108000"/>
              </a:lnSpc>
              <a:spcAft>
                <a:spcPts val="700"/>
              </a:spcAft>
              <a:buSzPct val="100000"/>
              <a:buChar char="▪"/>
            </a:pPr>
            <a:r>
              <a:rPr lang="en-US" sz="1250" dirty="0">
                <a:solidFill>
                  <a:srgbClr val="F3EEE1"/>
                </a:solidFill>
                <a:latin typeface="Calibri" pitchFamily="34" charset="0"/>
                <a:ea typeface="Calibri" pitchFamily="34" charset="-122"/>
                <a:cs typeface="Calibri" pitchFamily="34" charset="-120"/>
              </a:rPr>
              <a:t>Government</a:t>
            </a:r>
            <a:endParaRPr lang="en-US" sz="1250" dirty="0"/>
          </a:p>
          <a:p>
            <a:pPr marL="177800" indent="-177800">
              <a:lnSpc>
                <a:spcPct val="108000"/>
              </a:lnSpc>
              <a:spcAft>
                <a:spcPts val="700"/>
              </a:spcAft>
              <a:buSzPct val="100000"/>
              <a:buChar char="▪"/>
            </a:pPr>
            <a:r>
              <a:rPr lang="en-US" sz="1250" dirty="0">
                <a:solidFill>
                  <a:srgbClr val="F3EEE1"/>
                </a:solidFill>
                <a:latin typeface="Calibri" pitchFamily="34" charset="0"/>
                <a:ea typeface="Calibri" pitchFamily="34" charset="-122"/>
                <a:cs typeface="Calibri" pitchFamily="34" charset="-120"/>
              </a:rPr>
              <a:t>Insurance</a:t>
            </a:r>
            <a:endParaRPr lang="en-US" sz="1250" dirty="0"/>
          </a:p>
          <a:p>
            <a:pPr marL="177800" indent="-177800">
              <a:lnSpc>
                <a:spcPct val="108000"/>
              </a:lnSpc>
              <a:spcAft>
                <a:spcPts val="700"/>
              </a:spcAft>
              <a:buSzPct val="100000"/>
              <a:buChar char="▪"/>
            </a:pPr>
            <a:r>
              <a:rPr lang="en-US" sz="1250" dirty="0">
                <a:solidFill>
                  <a:srgbClr val="F3EEE1"/>
                </a:solidFill>
                <a:latin typeface="Calibri" pitchFamily="34" charset="0"/>
                <a:ea typeface="Calibri" pitchFamily="34" charset="-122"/>
                <a:cs typeface="Calibri" pitchFamily="34" charset="-120"/>
              </a:rPr>
              <a:t>Compliance-heavy environments</a:t>
            </a:r>
            <a:endParaRPr lang="en-US" sz="1250" dirty="0"/>
          </a:p>
        </p:txBody>
      </p:sp>
      <p:sp>
        <p:nvSpPr>
          <p:cNvPr id="8" name="Text 5"/>
          <p:cNvSpPr/>
          <p:nvPr/>
        </p:nvSpPr>
        <p:spPr>
          <a:xfrm>
            <a:off x="6217920" y="4160520"/>
            <a:ext cx="530352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CHOOSE ANTHROPIC HOSTED</a:t>
            </a:r>
            <a:endParaRPr lang="en-US" sz="1150" dirty="0"/>
          </a:p>
        </p:txBody>
      </p:sp>
      <p:sp>
        <p:nvSpPr>
          <p:cNvPr id="9" name="Text 6"/>
          <p:cNvSpPr/>
          <p:nvPr/>
        </p:nvSpPr>
        <p:spPr>
          <a:xfrm>
            <a:off x="6217920" y="4480560"/>
            <a:ext cx="5303520" cy="1645920"/>
          </a:xfrm>
          <a:prstGeom prst="rect">
            <a:avLst/>
          </a:prstGeom>
          <a:noFill/>
          <a:ln/>
        </p:spPr>
        <p:txBody>
          <a:bodyPr wrap="square" lIns="0" tIns="0" rIns="0" bIns="0" rtlCol="0" anchor="t"/>
          <a:lstStyle/>
          <a:p>
            <a:pPr marL="177800" indent="-177800">
              <a:lnSpc>
                <a:spcPct val="108000"/>
              </a:lnSpc>
              <a:spcAft>
                <a:spcPts val="700"/>
              </a:spcAft>
              <a:buSzPct val="100000"/>
              <a:buChar char="▪"/>
            </a:pPr>
            <a:r>
              <a:rPr lang="en-US" sz="1250" dirty="0">
                <a:solidFill>
                  <a:srgbClr val="F3EEE1"/>
                </a:solidFill>
                <a:latin typeface="Calibri" pitchFamily="34" charset="0"/>
                <a:ea typeface="Calibri" pitchFamily="34" charset="-122"/>
                <a:cs typeface="Calibri" pitchFamily="34" charset="-120"/>
              </a:rPr>
              <a:t>Research</a:t>
            </a:r>
            <a:endParaRPr lang="en-US" sz="1250" dirty="0"/>
          </a:p>
          <a:p>
            <a:pPr marL="177800" indent="-177800">
              <a:lnSpc>
                <a:spcPct val="108000"/>
              </a:lnSpc>
              <a:spcAft>
                <a:spcPts val="700"/>
              </a:spcAft>
              <a:buSzPct val="100000"/>
              <a:buChar char="▪"/>
            </a:pPr>
            <a:r>
              <a:rPr lang="en-US" sz="1250" dirty="0">
                <a:solidFill>
                  <a:srgbClr val="F3EEE1"/>
                </a:solidFill>
                <a:latin typeface="Calibri" pitchFamily="34" charset="0"/>
                <a:ea typeface="Calibri" pitchFamily="34" charset="-122"/>
                <a:cs typeface="Calibri" pitchFamily="34" charset="-120"/>
              </a:rPr>
              <a:t>Innovation</a:t>
            </a:r>
            <a:endParaRPr lang="en-US" sz="1250" dirty="0"/>
          </a:p>
          <a:p>
            <a:pPr marL="177800" indent="-177800">
              <a:lnSpc>
                <a:spcPct val="108000"/>
              </a:lnSpc>
              <a:spcAft>
                <a:spcPts val="700"/>
              </a:spcAft>
              <a:buSzPct val="100000"/>
              <a:buChar char="▪"/>
            </a:pPr>
            <a:r>
              <a:rPr lang="en-US" sz="1250" dirty="0">
                <a:solidFill>
                  <a:srgbClr val="F3EEE1"/>
                </a:solidFill>
                <a:latin typeface="Calibri" pitchFamily="34" charset="0"/>
                <a:ea typeface="Calibri" pitchFamily="34" charset="-122"/>
                <a:cs typeface="Calibri" pitchFamily="34" charset="-120"/>
              </a:rPr>
              <a:t>Early model adoption</a:t>
            </a:r>
            <a:endParaRPr lang="en-US" sz="1250" dirty="0"/>
          </a:p>
          <a:p>
            <a:pPr marL="177800" indent="-177800">
              <a:lnSpc>
                <a:spcPct val="108000"/>
              </a:lnSpc>
              <a:spcAft>
                <a:spcPts val="700"/>
              </a:spcAft>
              <a:buSzPct val="100000"/>
              <a:buChar char="▪"/>
            </a:pPr>
            <a:r>
              <a:rPr lang="en-US" sz="1250" dirty="0">
                <a:solidFill>
                  <a:srgbClr val="F3EEE1"/>
                </a:solidFill>
                <a:latin typeface="Calibri" pitchFamily="34" charset="0"/>
                <a:ea typeface="Calibri" pitchFamily="34" charset="-122"/>
                <a:cs typeface="Calibri" pitchFamily="34" charset="-120"/>
              </a:rPr>
              <a:t>Advanced agentic workloads</a:t>
            </a:r>
            <a:endParaRPr lang="en-US" sz="1250" dirty="0"/>
          </a:p>
        </p:txBody>
      </p:sp>
      <p:sp>
        <p:nvSpPr>
          <p:cNvPr id="10" name="Text 7"/>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11" name="Text 8"/>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COMPLIANCE &amp; DATA FLOW</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600" b="1" dirty="0">
                <a:solidFill>
                  <a:srgbClr val="F3EEE1"/>
                </a:solidFill>
                <a:latin typeface="Cambria" pitchFamily="34" charset="0"/>
                <a:ea typeface="Cambria" pitchFamily="34" charset="-122"/>
                <a:cs typeface="Cambria" pitchFamily="34" charset="-120"/>
              </a:rPr>
              <a:t>Data Privacy &amp; Security Architecture</a:t>
            </a:r>
            <a:endParaRPr lang="en-US" sz="2600" dirty="0"/>
          </a:p>
        </p:txBody>
      </p:sp>
      <p:sp>
        <p:nvSpPr>
          <p:cNvPr id="5" name="Text 3"/>
          <p:cNvSpPr/>
          <p:nvPr/>
        </p:nvSpPr>
        <p:spPr>
          <a:xfrm>
            <a:off x="457200" y="1417320"/>
            <a:ext cx="292608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AZURE HOSTED</a:t>
            </a:r>
            <a:endParaRPr lang="en-US" sz="1150" dirty="0"/>
          </a:p>
        </p:txBody>
      </p:sp>
      <p:sp>
        <p:nvSpPr>
          <p:cNvPr id="6" name="Shape 4"/>
          <p:cNvSpPr/>
          <p:nvPr/>
        </p:nvSpPr>
        <p:spPr>
          <a:xfrm>
            <a:off x="457200" y="1737360"/>
            <a:ext cx="2743200" cy="475488"/>
          </a:xfrm>
          <a:prstGeom prst="roundRect">
            <a:avLst>
              <a:gd name="adj" fmla="val 11538"/>
            </a:avLst>
          </a:prstGeom>
          <a:solidFill>
            <a:srgbClr val="161616"/>
          </a:solidFill>
          <a:ln w="15875">
            <a:solidFill>
              <a:srgbClr val="3A3226"/>
            </a:solidFill>
            <a:prstDash val="solid"/>
          </a:ln>
        </p:spPr>
      </p:sp>
      <p:sp>
        <p:nvSpPr>
          <p:cNvPr id="7" name="Text 5"/>
          <p:cNvSpPr/>
          <p:nvPr/>
        </p:nvSpPr>
        <p:spPr>
          <a:xfrm>
            <a:off x="502920" y="1737360"/>
            <a:ext cx="2651760" cy="475488"/>
          </a:xfrm>
          <a:prstGeom prst="rect">
            <a:avLst/>
          </a:prstGeom>
          <a:noFill/>
          <a:ln/>
        </p:spPr>
        <p:txBody>
          <a:bodyPr wrap="square" lIns="0" tIns="0" rIns="0" bIns="0" rtlCol="0" anchor="ctr"/>
          <a:lstStyle/>
          <a:p>
            <a:pPr algn="ctr" indent="0" marL="0">
              <a:buNone/>
            </a:pPr>
            <a:r>
              <a:rPr lang="en-US" sz="1100" b="1" dirty="0">
                <a:solidFill>
                  <a:srgbClr val="F3EEE1"/>
                </a:solidFill>
                <a:latin typeface="Calibri" pitchFamily="34" charset="0"/>
                <a:ea typeface="Calibri" pitchFamily="34" charset="-122"/>
                <a:cs typeface="Calibri" pitchFamily="34" charset="-120"/>
              </a:rPr>
              <a:t>Data</a:t>
            </a:r>
            <a:endParaRPr lang="en-US" sz="1100" dirty="0"/>
          </a:p>
        </p:txBody>
      </p:sp>
      <p:sp>
        <p:nvSpPr>
          <p:cNvPr id="8" name="Shape 6"/>
          <p:cNvSpPr/>
          <p:nvPr/>
        </p:nvSpPr>
        <p:spPr>
          <a:xfrm>
            <a:off x="1746504" y="2212848"/>
            <a:ext cx="164592" cy="182880"/>
          </a:xfrm>
          <a:prstGeom prst="downArrow">
            <a:avLst/>
          </a:prstGeom>
          <a:solidFill>
            <a:srgbClr val="D4AF37"/>
          </a:solidFill>
          <a:ln/>
        </p:spPr>
      </p:sp>
      <p:sp>
        <p:nvSpPr>
          <p:cNvPr id="9" name="Shape 7"/>
          <p:cNvSpPr/>
          <p:nvPr/>
        </p:nvSpPr>
        <p:spPr>
          <a:xfrm>
            <a:off x="457200" y="2395728"/>
            <a:ext cx="2743200" cy="475488"/>
          </a:xfrm>
          <a:prstGeom prst="roundRect">
            <a:avLst>
              <a:gd name="adj" fmla="val 11538"/>
            </a:avLst>
          </a:prstGeom>
          <a:solidFill>
            <a:srgbClr val="161616"/>
          </a:solidFill>
          <a:ln w="15875">
            <a:solidFill>
              <a:srgbClr val="3A3226"/>
            </a:solidFill>
            <a:prstDash val="solid"/>
          </a:ln>
        </p:spPr>
      </p:sp>
      <p:sp>
        <p:nvSpPr>
          <p:cNvPr id="10" name="Text 8"/>
          <p:cNvSpPr/>
          <p:nvPr/>
        </p:nvSpPr>
        <p:spPr>
          <a:xfrm>
            <a:off x="502920" y="2395728"/>
            <a:ext cx="2651760" cy="475488"/>
          </a:xfrm>
          <a:prstGeom prst="rect">
            <a:avLst/>
          </a:prstGeom>
          <a:noFill/>
          <a:ln/>
        </p:spPr>
        <p:txBody>
          <a:bodyPr wrap="square" lIns="0" tIns="0" rIns="0" bIns="0" rtlCol="0" anchor="ctr"/>
          <a:lstStyle/>
          <a:p>
            <a:pPr algn="ctr" indent="0" marL="0">
              <a:buNone/>
            </a:pPr>
            <a:r>
              <a:rPr lang="en-US" sz="1100" b="1" dirty="0">
                <a:solidFill>
                  <a:srgbClr val="F3EEE1"/>
                </a:solidFill>
                <a:latin typeface="Calibri" pitchFamily="34" charset="0"/>
                <a:ea typeface="Calibri" pitchFamily="34" charset="-122"/>
                <a:cs typeface="Calibri" pitchFamily="34" charset="-120"/>
              </a:rPr>
              <a:t>Foundry</a:t>
            </a:r>
            <a:endParaRPr lang="en-US" sz="1100" dirty="0"/>
          </a:p>
        </p:txBody>
      </p:sp>
      <p:sp>
        <p:nvSpPr>
          <p:cNvPr id="11" name="Shape 9"/>
          <p:cNvSpPr/>
          <p:nvPr/>
        </p:nvSpPr>
        <p:spPr>
          <a:xfrm>
            <a:off x="1746504" y="2871216"/>
            <a:ext cx="164592" cy="182880"/>
          </a:xfrm>
          <a:prstGeom prst="downArrow">
            <a:avLst/>
          </a:prstGeom>
          <a:solidFill>
            <a:srgbClr val="D4AF37"/>
          </a:solidFill>
          <a:ln/>
        </p:spPr>
      </p:sp>
      <p:sp>
        <p:nvSpPr>
          <p:cNvPr id="12" name="Shape 10"/>
          <p:cNvSpPr/>
          <p:nvPr/>
        </p:nvSpPr>
        <p:spPr>
          <a:xfrm>
            <a:off x="457200" y="3054096"/>
            <a:ext cx="2743200" cy="475488"/>
          </a:xfrm>
          <a:prstGeom prst="roundRect">
            <a:avLst>
              <a:gd name="adj" fmla="val 11538"/>
            </a:avLst>
          </a:prstGeom>
          <a:solidFill>
            <a:srgbClr val="1F1B10"/>
          </a:solidFill>
          <a:ln w="15875">
            <a:solidFill>
              <a:srgbClr val="D4AF37"/>
            </a:solidFill>
            <a:prstDash val="solid"/>
          </a:ln>
        </p:spPr>
      </p:sp>
      <p:sp>
        <p:nvSpPr>
          <p:cNvPr id="13" name="Text 11"/>
          <p:cNvSpPr/>
          <p:nvPr/>
        </p:nvSpPr>
        <p:spPr>
          <a:xfrm>
            <a:off x="502920" y="3054096"/>
            <a:ext cx="2651760" cy="475488"/>
          </a:xfrm>
          <a:prstGeom prst="rect">
            <a:avLst/>
          </a:prstGeom>
          <a:noFill/>
          <a:ln/>
        </p:spPr>
        <p:txBody>
          <a:bodyPr wrap="square" lIns="0" tIns="0" rIns="0" bIns="0" rtlCol="0" anchor="ctr"/>
          <a:lstStyle/>
          <a:p>
            <a:pPr algn="ctr" indent="0" marL="0">
              <a:buNone/>
            </a:pPr>
            <a:r>
              <a:rPr lang="en-US" sz="1100" b="1" dirty="0">
                <a:solidFill>
                  <a:srgbClr val="F3EEE1"/>
                </a:solidFill>
                <a:latin typeface="Calibri" pitchFamily="34" charset="0"/>
                <a:ea typeface="Calibri" pitchFamily="34" charset="-122"/>
                <a:cs typeface="Calibri" pitchFamily="34" charset="-120"/>
              </a:rPr>
              <a:t>Azure Processing</a:t>
            </a:r>
            <a:endParaRPr lang="en-US" sz="1100" dirty="0"/>
          </a:p>
        </p:txBody>
      </p:sp>
      <p:sp>
        <p:nvSpPr>
          <p:cNvPr id="14" name="Shape 12"/>
          <p:cNvSpPr/>
          <p:nvPr/>
        </p:nvSpPr>
        <p:spPr>
          <a:xfrm>
            <a:off x="1746504" y="3529584"/>
            <a:ext cx="164592" cy="182880"/>
          </a:xfrm>
          <a:prstGeom prst="downArrow">
            <a:avLst/>
          </a:prstGeom>
          <a:solidFill>
            <a:srgbClr val="D4AF37"/>
          </a:solidFill>
          <a:ln/>
        </p:spPr>
      </p:sp>
      <p:sp>
        <p:nvSpPr>
          <p:cNvPr id="15" name="Shape 13"/>
          <p:cNvSpPr/>
          <p:nvPr/>
        </p:nvSpPr>
        <p:spPr>
          <a:xfrm>
            <a:off x="457200" y="3712464"/>
            <a:ext cx="2743200" cy="475488"/>
          </a:xfrm>
          <a:prstGeom prst="roundRect">
            <a:avLst>
              <a:gd name="adj" fmla="val 11538"/>
            </a:avLst>
          </a:prstGeom>
          <a:solidFill>
            <a:srgbClr val="161616"/>
          </a:solidFill>
          <a:ln w="15875">
            <a:solidFill>
              <a:srgbClr val="3A3226"/>
            </a:solidFill>
            <a:prstDash val="solid"/>
          </a:ln>
        </p:spPr>
      </p:sp>
      <p:sp>
        <p:nvSpPr>
          <p:cNvPr id="16" name="Text 14"/>
          <p:cNvSpPr/>
          <p:nvPr/>
        </p:nvSpPr>
        <p:spPr>
          <a:xfrm>
            <a:off x="502920" y="3712464"/>
            <a:ext cx="2651760" cy="475488"/>
          </a:xfrm>
          <a:prstGeom prst="rect">
            <a:avLst/>
          </a:prstGeom>
          <a:noFill/>
          <a:ln/>
        </p:spPr>
        <p:txBody>
          <a:bodyPr wrap="square" lIns="0" tIns="0" rIns="0" bIns="0" rtlCol="0" anchor="ctr"/>
          <a:lstStyle/>
          <a:p>
            <a:pPr algn="ctr" indent="0" marL="0">
              <a:buNone/>
            </a:pPr>
            <a:r>
              <a:rPr lang="en-US" sz="1100" b="1" dirty="0">
                <a:solidFill>
                  <a:srgbClr val="F3EEE1"/>
                </a:solidFill>
                <a:latin typeface="Calibri" pitchFamily="34" charset="0"/>
                <a:ea typeface="Calibri" pitchFamily="34" charset="-122"/>
                <a:cs typeface="Calibri" pitchFamily="34" charset="-120"/>
              </a:rPr>
              <a:t>Response</a:t>
            </a:r>
            <a:endParaRPr lang="en-US" sz="1100" dirty="0"/>
          </a:p>
        </p:txBody>
      </p:sp>
      <p:sp>
        <p:nvSpPr>
          <p:cNvPr id="17" name="Text 15"/>
          <p:cNvSpPr/>
          <p:nvPr/>
        </p:nvSpPr>
        <p:spPr>
          <a:xfrm>
            <a:off x="3566160" y="1417320"/>
            <a:ext cx="292608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ANTHROPIC HOSTED</a:t>
            </a:r>
            <a:endParaRPr lang="en-US" sz="1150" dirty="0"/>
          </a:p>
        </p:txBody>
      </p:sp>
      <p:sp>
        <p:nvSpPr>
          <p:cNvPr id="18" name="Shape 16"/>
          <p:cNvSpPr/>
          <p:nvPr/>
        </p:nvSpPr>
        <p:spPr>
          <a:xfrm>
            <a:off x="3566160" y="1737360"/>
            <a:ext cx="2743200" cy="475488"/>
          </a:xfrm>
          <a:prstGeom prst="roundRect">
            <a:avLst>
              <a:gd name="adj" fmla="val 11538"/>
            </a:avLst>
          </a:prstGeom>
          <a:solidFill>
            <a:srgbClr val="161616"/>
          </a:solidFill>
          <a:ln w="15875">
            <a:solidFill>
              <a:srgbClr val="3A3226"/>
            </a:solidFill>
            <a:prstDash val="solid"/>
          </a:ln>
        </p:spPr>
      </p:sp>
      <p:sp>
        <p:nvSpPr>
          <p:cNvPr id="19" name="Text 17"/>
          <p:cNvSpPr/>
          <p:nvPr/>
        </p:nvSpPr>
        <p:spPr>
          <a:xfrm>
            <a:off x="3611880" y="1737360"/>
            <a:ext cx="2651760" cy="475488"/>
          </a:xfrm>
          <a:prstGeom prst="rect">
            <a:avLst/>
          </a:prstGeom>
          <a:noFill/>
          <a:ln/>
        </p:spPr>
        <p:txBody>
          <a:bodyPr wrap="square" lIns="0" tIns="0" rIns="0" bIns="0" rtlCol="0" anchor="ctr"/>
          <a:lstStyle/>
          <a:p>
            <a:pPr algn="ctr" indent="0" marL="0">
              <a:buNone/>
            </a:pPr>
            <a:r>
              <a:rPr lang="en-US" sz="1100" b="1" dirty="0">
                <a:solidFill>
                  <a:srgbClr val="F3EEE1"/>
                </a:solidFill>
                <a:latin typeface="Calibri" pitchFamily="34" charset="0"/>
                <a:ea typeface="Calibri" pitchFamily="34" charset="-122"/>
                <a:cs typeface="Calibri" pitchFamily="34" charset="-120"/>
              </a:rPr>
              <a:t>Data</a:t>
            </a:r>
            <a:endParaRPr lang="en-US" sz="1100" dirty="0"/>
          </a:p>
        </p:txBody>
      </p:sp>
      <p:sp>
        <p:nvSpPr>
          <p:cNvPr id="20" name="Shape 18"/>
          <p:cNvSpPr/>
          <p:nvPr/>
        </p:nvSpPr>
        <p:spPr>
          <a:xfrm>
            <a:off x="4855464" y="2212848"/>
            <a:ext cx="164592" cy="182880"/>
          </a:xfrm>
          <a:prstGeom prst="downArrow">
            <a:avLst/>
          </a:prstGeom>
          <a:solidFill>
            <a:srgbClr val="D4AF37"/>
          </a:solidFill>
          <a:ln/>
        </p:spPr>
      </p:sp>
      <p:sp>
        <p:nvSpPr>
          <p:cNvPr id="21" name="Shape 19"/>
          <p:cNvSpPr/>
          <p:nvPr/>
        </p:nvSpPr>
        <p:spPr>
          <a:xfrm>
            <a:off x="3566160" y="2395728"/>
            <a:ext cx="2743200" cy="475488"/>
          </a:xfrm>
          <a:prstGeom prst="roundRect">
            <a:avLst>
              <a:gd name="adj" fmla="val 11538"/>
            </a:avLst>
          </a:prstGeom>
          <a:solidFill>
            <a:srgbClr val="161616"/>
          </a:solidFill>
          <a:ln w="15875">
            <a:solidFill>
              <a:srgbClr val="3A3226"/>
            </a:solidFill>
            <a:prstDash val="solid"/>
          </a:ln>
        </p:spPr>
      </p:sp>
      <p:sp>
        <p:nvSpPr>
          <p:cNvPr id="22" name="Text 20"/>
          <p:cNvSpPr/>
          <p:nvPr/>
        </p:nvSpPr>
        <p:spPr>
          <a:xfrm>
            <a:off x="3611880" y="2395728"/>
            <a:ext cx="2651760" cy="475488"/>
          </a:xfrm>
          <a:prstGeom prst="rect">
            <a:avLst/>
          </a:prstGeom>
          <a:noFill/>
          <a:ln/>
        </p:spPr>
        <p:txBody>
          <a:bodyPr wrap="square" lIns="0" tIns="0" rIns="0" bIns="0" rtlCol="0" anchor="ctr"/>
          <a:lstStyle/>
          <a:p>
            <a:pPr algn="ctr" indent="0" marL="0">
              <a:buNone/>
            </a:pPr>
            <a:r>
              <a:rPr lang="en-US" sz="1100" b="1" dirty="0">
                <a:solidFill>
                  <a:srgbClr val="F3EEE1"/>
                </a:solidFill>
                <a:latin typeface="Calibri" pitchFamily="34" charset="0"/>
                <a:ea typeface="Calibri" pitchFamily="34" charset="-122"/>
                <a:cs typeface="Calibri" pitchFamily="34" charset="-120"/>
              </a:rPr>
              <a:t>Foundry</a:t>
            </a:r>
            <a:endParaRPr lang="en-US" sz="1100" dirty="0"/>
          </a:p>
        </p:txBody>
      </p:sp>
      <p:sp>
        <p:nvSpPr>
          <p:cNvPr id="23" name="Shape 21"/>
          <p:cNvSpPr/>
          <p:nvPr/>
        </p:nvSpPr>
        <p:spPr>
          <a:xfrm>
            <a:off x="4855464" y="2871216"/>
            <a:ext cx="164592" cy="182880"/>
          </a:xfrm>
          <a:prstGeom prst="downArrow">
            <a:avLst/>
          </a:prstGeom>
          <a:solidFill>
            <a:srgbClr val="D4AF37"/>
          </a:solidFill>
          <a:ln/>
        </p:spPr>
      </p:sp>
      <p:sp>
        <p:nvSpPr>
          <p:cNvPr id="24" name="Shape 22"/>
          <p:cNvSpPr/>
          <p:nvPr/>
        </p:nvSpPr>
        <p:spPr>
          <a:xfrm>
            <a:off x="3566160" y="3054096"/>
            <a:ext cx="2743200" cy="475488"/>
          </a:xfrm>
          <a:prstGeom prst="roundRect">
            <a:avLst>
              <a:gd name="adj" fmla="val 11538"/>
            </a:avLst>
          </a:prstGeom>
          <a:solidFill>
            <a:srgbClr val="1F1B10"/>
          </a:solidFill>
          <a:ln w="15875">
            <a:solidFill>
              <a:srgbClr val="D4AF37"/>
            </a:solidFill>
            <a:prstDash val="solid"/>
          </a:ln>
        </p:spPr>
      </p:sp>
      <p:sp>
        <p:nvSpPr>
          <p:cNvPr id="25" name="Text 23"/>
          <p:cNvSpPr/>
          <p:nvPr/>
        </p:nvSpPr>
        <p:spPr>
          <a:xfrm>
            <a:off x="3611880" y="3054096"/>
            <a:ext cx="2651760" cy="475488"/>
          </a:xfrm>
          <a:prstGeom prst="rect">
            <a:avLst/>
          </a:prstGeom>
          <a:noFill/>
          <a:ln/>
        </p:spPr>
        <p:txBody>
          <a:bodyPr wrap="square" lIns="0" tIns="0" rIns="0" bIns="0" rtlCol="0" anchor="ctr"/>
          <a:lstStyle/>
          <a:p>
            <a:pPr algn="ctr" indent="0" marL="0">
              <a:buNone/>
            </a:pPr>
            <a:r>
              <a:rPr lang="en-US" sz="1100" b="1" dirty="0">
                <a:solidFill>
                  <a:srgbClr val="F3EEE1"/>
                </a:solidFill>
                <a:latin typeface="Calibri" pitchFamily="34" charset="0"/>
                <a:ea typeface="Calibri" pitchFamily="34" charset="-122"/>
                <a:cs typeface="Calibri" pitchFamily="34" charset="-120"/>
              </a:rPr>
              <a:t>Anthropic Processing</a:t>
            </a:r>
            <a:endParaRPr lang="en-US" sz="1100" dirty="0"/>
          </a:p>
        </p:txBody>
      </p:sp>
      <p:sp>
        <p:nvSpPr>
          <p:cNvPr id="26" name="Shape 24"/>
          <p:cNvSpPr/>
          <p:nvPr/>
        </p:nvSpPr>
        <p:spPr>
          <a:xfrm>
            <a:off x="4855464" y="3529584"/>
            <a:ext cx="164592" cy="182880"/>
          </a:xfrm>
          <a:prstGeom prst="downArrow">
            <a:avLst/>
          </a:prstGeom>
          <a:solidFill>
            <a:srgbClr val="D4AF37"/>
          </a:solidFill>
          <a:ln/>
        </p:spPr>
      </p:sp>
      <p:sp>
        <p:nvSpPr>
          <p:cNvPr id="27" name="Shape 25"/>
          <p:cNvSpPr/>
          <p:nvPr/>
        </p:nvSpPr>
        <p:spPr>
          <a:xfrm>
            <a:off x="3566160" y="3712464"/>
            <a:ext cx="2743200" cy="475488"/>
          </a:xfrm>
          <a:prstGeom prst="roundRect">
            <a:avLst>
              <a:gd name="adj" fmla="val 11538"/>
            </a:avLst>
          </a:prstGeom>
          <a:solidFill>
            <a:srgbClr val="161616"/>
          </a:solidFill>
          <a:ln w="15875">
            <a:solidFill>
              <a:srgbClr val="3A3226"/>
            </a:solidFill>
            <a:prstDash val="solid"/>
          </a:ln>
        </p:spPr>
      </p:sp>
      <p:sp>
        <p:nvSpPr>
          <p:cNvPr id="28" name="Text 26"/>
          <p:cNvSpPr/>
          <p:nvPr/>
        </p:nvSpPr>
        <p:spPr>
          <a:xfrm>
            <a:off x="3611880" y="3712464"/>
            <a:ext cx="2651760" cy="475488"/>
          </a:xfrm>
          <a:prstGeom prst="rect">
            <a:avLst/>
          </a:prstGeom>
          <a:noFill/>
          <a:ln/>
        </p:spPr>
        <p:txBody>
          <a:bodyPr wrap="square" lIns="0" tIns="0" rIns="0" bIns="0" rtlCol="0" anchor="ctr"/>
          <a:lstStyle/>
          <a:p>
            <a:pPr algn="ctr" indent="0" marL="0">
              <a:buNone/>
            </a:pPr>
            <a:r>
              <a:rPr lang="en-US" sz="1100" b="1" dirty="0">
                <a:solidFill>
                  <a:srgbClr val="F3EEE1"/>
                </a:solidFill>
                <a:latin typeface="Calibri" pitchFamily="34" charset="0"/>
                <a:ea typeface="Calibri" pitchFamily="34" charset="-122"/>
                <a:cs typeface="Calibri" pitchFamily="34" charset="-120"/>
              </a:rPr>
              <a:t>Response</a:t>
            </a:r>
            <a:endParaRPr lang="en-US" sz="1100" dirty="0"/>
          </a:p>
        </p:txBody>
      </p:sp>
      <p:sp>
        <p:nvSpPr>
          <p:cNvPr id="29" name="Text 27"/>
          <p:cNvSpPr/>
          <p:nvPr/>
        </p:nvSpPr>
        <p:spPr>
          <a:xfrm>
            <a:off x="6949440" y="1417320"/>
            <a:ext cx="475488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SECURITY CONSIDERATIONS</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29400" y="1783080"/>
          <a:ext cx="5120640" cy="914400"/>
        </p:xfrm>
        <a:graphic>
          <a:graphicData uri="http://schemas.openxmlformats.org/drawingml/2006/table">
            <a:tbl>
              <a:tblPr/>
              <a:tblGrid>
                <a:gridCol w="1828800"/>
                <a:gridCol w="1645920"/>
                <a:gridCol w="1645920"/>
              </a:tblGrid>
              <a:tr h="384048">
                <a:tc>
                  <a:txBody>
                    <a:bodyPr/>
                    <a:lstStyle/>
                    <a:p>
                      <a:pPr algn="l" indent="0" marL="0">
                        <a:buNone/>
                      </a:pPr>
                      <a:r>
                        <a:rPr lang="en-US" sz="1000" b="1" dirty="0">
                          <a:solidFill>
                            <a:srgbClr val="0A0A0A"/>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D4AF37"/>
                    </a:solidFill>
                  </a:tcPr>
                </a:tc>
                <a:tc>
                  <a:txBody>
                    <a:bodyPr/>
                    <a:lstStyle/>
                    <a:p>
                      <a:pPr algn="l" indent="0" marL="0">
                        <a:buNone/>
                      </a:pPr>
                      <a:r>
                        <a:rPr lang="en-US" sz="1000" b="1" dirty="0">
                          <a:solidFill>
                            <a:srgbClr val="0A0A0A"/>
                          </a:solidFill>
                          <a:latin typeface="Calibri" pitchFamily="34" charset="0"/>
                          <a:ea typeface="Calibri" pitchFamily="34" charset="-122"/>
                          <a:cs typeface="Calibri" pitchFamily="34" charset="-120"/>
                        </a:rPr>
                        <a:t>Azure Hosted</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D4AF37"/>
                    </a:solidFill>
                  </a:tcPr>
                </a:tc>
                <a:tc>
                  <a:txBody>
                    <a:bodyPr/>
                    <a:lstStyle/>
                    <a:p>
                      <a:pPr algn="l" indent="0" marL="0">
                        <a:buNone/>
                      </a:pPr>
                      <a:r>
                        <a:rPr lang="en-US" sz="1000" b="1" dirty="0">
                          <a:solidFill>
                            <a:srgbClr val="0A0A0A"/>
                          </a:solidFill>
                          <a:latin typeface="Calibri" pitchFamily="34" charset="0"/>
                          <a:ea typeface="Calibri" pitchFamily="34" charset="-122"/>
                          <a:cs typeface="Calibri" pitchFamily="34" charset="-120"/>
                        </a:rPr>
                        <a:t>Anthropic Hosted</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D4AF37"/>
                    </a:solidFill>
                  </a:tcPr>
                </a:tc>
              </a:tr>
              <a:tr h="384048">
                <a:tc>
                  <a:txBody>
                    <a:bodyPr/>
                    <a:lstStyle/>
                    <a:p>
                      <a:pPr algn="l" indent="0" marL="0">
                        <a:buNone/>
                      </a:pPr>
                      <a:r>
                        <a:rPr lang="en-US" sz="1000" dirty="0">
                          <a:solidFill>
                            <a:srgbClr val="F3EEE1"/>
                          </a:solidFill>
                          <a:latin typeface="Calibri" pitchFamily="34" charset="0"/>
                          <a:ea typeface="Calibri" pitchFamily="34" charset="-122"/>
                          <a:cs typeface="Calibri" pitchFamily="34" charset="-120"/>
                        </a:rPr>
                        <a:t>Processing Location</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000" dirty="0">
                          <a:solidFill>
                            <a:srgbClr val="F3EEE1"/>
                          </a:solidFill>
                          <a:latin typeface="Calibri" pitchFamily="34" charset="0"/>
                          <a:ea typeface="Calibri" pitchFamily="34" charset="-122"/>
                          <a:cs typeface="Calibri" pitchFamily="34" charset="-120"/>
                        </a:rPr>
                        <a:t>Azure</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000" dirty="0">
                          <a:solidFill>
                            <a:srgbClr val="F3EEE1"/>
                          </a:solidFill>
                          <a:latin typeface="Calibri" pitchFamily="34" charset="0"/>
                          <a:ea typeface="Calibri" pitchFamily="34" charset="-122"/>
                          <a:cs typeface="Calibri" pitchFamily="34" charset="-120"/>
                        </a:rPr>
                        <a:t>Anthropic</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384048">
                <a:tc>
                  <a:txBody>
                    <a:bodyPr/>
                    <a:lstStyle/>
                    <a:p>
                      <a:pPr algn="l" indent="0" marL="0">
                        <a:buNone/>
                      </a:pPr>
                      <a:r>
                        <a:rPr lang="en-US" sz="1000" dirty="0">
                          <a:solidFill>
                            <a:srgbClr val="F3EEE1"/>
                          </a:solidFill>
                          <a:latin typeface="Calibri" pitchFamily="34" charset="0"/>
                          <a:ea typeface="Calibri" pitchFamily="34" charset="-122"/>
                          <a:cs typeface="Calibri" pitchFamily="34" charset="-120"/>
                        </a:rPr>
                        <a:t>Residency Control</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000" dirty="0">
                          <a:solidFill>
                            <a:srgbClr val="F3EEE1"/>
                          </a:solidFill>
                          <a:latin typeface="Calibri" pitchFamily="34" charset="0"/>
                          <a:ea typeface="Calibri" pitchFamily="34" charset="-122"/>
                          <a:cs typeface="Calibri" pitchFamily="34" charset="-120"/>
                        </a:rPr>
                        <a:t>Higher</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000" dirty="0">
                          <a:solidFill>
                            <a:srgbClr val="F3EEE1"/>
                          </a:solidFill>
                          <a:latin typeface="Calibri" pitchFamily="34" charset="0"/>
                          <a:ea typeface="Calibri" pitchFamily="34" charset="-122"/>
                          <a:cs typeface="Calibri" pitchFamily="34" charset="-120"/>
                        </a:rPr>
                        <a:t>Varies</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r h="384048">
                <a:tc>
                  <a:txBody>
                    <a:bodyPr/>
                    <a:lstStyle/>
                    <a:p>
                      <a:pPr algn="l" indent="0" marL="0">
                        <a:buNone/>
                      </a:pPr>
                      <a:r>
                        <a:rPr lang="en-US" sz="1000" dirty="0">
                          <a:solidFill>
                            <a:srgbClr val="F3EEE1"/>
                          </a:solidFill>
                          <a:latin typeface="Calibri" pitchFamily="34" charset="0"/>
                          <a:ea typeface="Calibri" pitchFamily="34" charset="-122"/>
                          <a:cs typeface="Calibri" pitchFamily="34" charset="-120"/>
                        </a:rPr>
                        <a:t>Regulatory Fit</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000" dirty="0">
                          <a:solidFill>
                            <a:srgbClr val="F3EEE1"/>
                          </a:solidFill>
                          <a:latin typeface="Calibri" pitchFamily="34" charset="0"/>
                          <a:ea typeface="Calibri" pitchFamily="34" charset="-122"/>
                          <a:cs typeface="Calibri" pitchFamily="34" charset="-120"/>
                        </a:rPr>
                        <a:t>Strong</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000" dirty="0">
                          <a:solidFill>
                            <a:srgbClr val="F3EEE1"/>
                          </a:solidFill>
                          <a:latin typeface="Calibri" pitchFamily="34" charset="0"/>
                          <a:ea typeface="Calibri" pitchFamily="34" charset="-122"/>
                          <a:cs typeface="Calibri" pitchFamily="34" charset="-120"/>
                        </a:rPr>
                        <a:t>Review Required</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384048">
                <a:tc>
                  <a:txBody>
                    <a:bodyPr/>
                    <a:lstStyle/>
                    <a:p>
                      <a:pPr algn="l" indent="0" marL="0">
                        <a:buNone/>
                      </a:pPr>
                      <a:r>
                        <a:rPr lang="en-US" sz="1000" dirty="0">
                          <a:solidFill>
                            <a:srgbClr val="F3EEE1"/>
                          </a:solidFill>
                          <a:latin typeface="Calibri" pitchFamily="34" charset="0"/>
                          <a:ea typeface="Calibri" pitchFamily="34" charset="-122"/>
                          <a:cs typeface="Calibri" pitchFamily="34" charset="-120"/>
                        </a:rPr>
                        <a:t>Governance</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000" dirty="0">
                          <a:solidFill>
                            <a:srgbClr val="F3EEE1"/>
                          </a:solidFill>
                          <a:latin typeface="Calibri" pitchFamily="34" charset="0"/>
                          <a:ea typeface="Calibri" pitchFamily="34" charset="-122"/>
                          <a:cs typeface="Calibri" pitchFamily="34" charset="-120"/>
                        </a:rPr>
                        <a:t>Azure Native</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000" dirty="0">
                          <a:solidFill>
                            <a:srgbClr val="F3EEE1"/>
                          </a:solidFill>
                          <a:latin typeface="Calibri" pitchFamily="34" charset="0"/>
                          <a:ea typeface="Calibri" pitchFamily="34" charset="-122"/>
                          <a:cs typeface="Calibri" pitchFamily="34" charset="-120"/>
                        </a:rPr>
                        <a:t>Shared Responsibility</a:t>
                      </a:r>
                      <a:endParaRPr lang="en-US" sz="10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bl>
          </a:graphicData>
        </a:graphic>
      </p:graphicFrame>
      <p:sp>
        <p:nvSpPr>
          <p:cNvPr id="31" name="Shape 28"/>
          <p:cNvSpPr/>
          <p:nvPr/>
        </p:nvSpPr>
        <p:spPr>
          <a:xfrm>
            <a:off x="457200" y="4663440"/>
            <a:ext cx="11274552" cy="1325880"/>
          </a:xfrm>
          <a:prstGeom prst="roundRect">
            <a:avLst>
              <a:gd name="adj" fmla="val 4828"/>
            </a:avLst>
          </a:prstGeom>
          <a:solidFill>
            <a:srgbClr val="1F1B10"/>
          </a:solidFill>
          <a:ln w="12700">
            <a:solidFill>
              <a:srgbClr val="3A3226"/>
            </a:solidFill>
            <a:prstDash val="solid"/>
          </a:ln>
          <a:effectLst>
            <a:outerShdw sx="100000" sy="100000" kx="0" ky="0" algn="bl" rotWithShape="0" blurRad="101600" dist="38100" dir="5400000">
              <a:srgbClr val="000000">
                <a:alpha val="40000"/>
              </a:srgbClr>
            </a:outerShdw>
          </a:effectLst>
        </p:spPr>
      </p:sp>
      <p:sp>
        <p:nvSpPr>
          <p:cNvPr id="32" name="Text 29"/>
          <p:cNvSpPr/>
          <p:nvPr/>
        </p:nvSpPr>
        <p:spPr>
          <a:xfrm>
            <a:off x="777240" y="4663440"/>
            <a:ext cx="10607040" cy="1325880"/>
          </a:xfrm>
          <a:prstGeom prst="rect">
            <a:avLst/>
          </a:prstGeom>
          <a:noFill/>
          <a:ln/>
        </p:spPr>
        <p:txBody>
          <a:bodyPr wrap="square" lIns="0" tIns="0" rIns="0" bIns="0" rtlCol="0" anchor="ctr"/>
          <a:lstStyle/>
          <a:p>
            <a:pPr indent="0" marL="0">
              <a:lnSpc>
                <a:spcPct val="125000"/>
              </a:lnSpc>
              <a:buNone/>
            </a:pPr>
            <a:r>
              <a:rPr lang="en-US" sz="1250" dirty="0">
                <a:solidFill>
                  <a:srgbClr val="F3EEE1"/>
                </a:solidFill>
                <a:latin typeface="Calibri" pitchFamily="34" charset="0"/>
                <a:ea typeface="Calibri" pitchFamily="34" charset="-122"/>
                <a:cs typeface="Calibri" pitchFamily="34" charset="-120"/>
              </a:rPr>
              <a:t>Azure-hosted deployments process prompts and outputs within Azure infrastructure. </a:t>
            </a:r>
            <a:endParaRPr lang="en-US" sz="1250" dirty="0"/>
          </a:p>
          <a:p>
            <a:pPr indent="0" marL="0">
              <a:lnSpc>
                <a:spcPct val="125000"/>
              </a:lnSpc>
              <a:buNone/>
            </a:pPr>
            <a:r>
              <a:rPr lang="en-US" sz="1250" dirty="0">
                <a:solidFill>
                  <a:srgbClr val="F3EEE1"/>
                </a:solidFill>
                <a:latin typeface="Calibri" pitchFamily="34" charset="0"/>
                <a:ea typeface="Calibri" pitchFamily="34" charset="-122"/>
                <a:cs typeface="Calibri" pitchFamily="34" charset="-120"/>
              </a:rPr>
              <a:t>Anthropic-hosted deployments process prompts and outputs on Anthropic infrastructure with strong contractual and technical safeguards.</a:t>
            </a:r>
            <a:endParaRPr lang="en-US" sz="1250" dirty="0"/>
          </a:p>
        </p:txBody>
      </p:sp>
      <p:sp>
        <p:nvSpPr>
          <p:cNvPr id="33" name="Text 30"/>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34" name="Text 31"/>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IDENTITY &amp; ACCESS</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800" b="1" dirty="0">
                <a:solidFill>
                  <a:srgbClr val="F3EEE1"/>
                </a:solidFill>
                <a:latin typeface="Cambria" pitchFamily="34" charset="0"/>
                <a:ea typeface="Cambria" pitchFamily="34" charset="-122"/>
                <a:cs typeface="Cambria" pitchFamily="34" charset="-120"/>
              </a:rPr>
              <a:t>Microsoft Entra ID Authentication</a:t>
            </a:r>
            <a:endParaRPr lang="en-US" sz="2800" dirty="0"/>
          </a:p>
        </p:txBody>
      </p:sp>
      <p:sp>
        <p:nvSpPr>
          <p:cNvPr id="5" name="Text 3"/>
          <p:cNvSpPr/>
          <p:nvPr/>
        </p:nvSpPr>
        <p:spPr>
          <a:xfrm>
            <a:off x="457200" y="1371600"/>
            <a:ext cx="10972800" cy="320040"/>
          </a:xfrm>
          <a:prstGeom prst="rect">
            <a:avLst/>
          </a:prstGeom>
          <a:noFill/>
          <a:ln/>
        </p:spPr>
        <p:txBody>
          <a:bodyPr wrap="square" lIns="0" tIns="0" rIns="0" bIns="0" rtlCol="0" anchor="ctr"/>
          <a:lstStyle/>
          <a:p>
            <a:pPr indent="0" marL="0">
              <a:buNone/>
            </a:pPr>
            <a:r>
              <a:rPr lang="en-US" sz="1300" i="1" dirty="0">
                <a:solidFill>
                  <a:srgbClr val="B9B2A0"/>
                </a:solidFill>
                <a:latin typeface="Calibri" pitchFamily="34" charset="0"/>
                <a:ea typeface="Calibri" pitchFamily="34" charset="-122"/>
                <a:cs typeface="Calibri" pitchFamily="34" charset="-120"/>
              </a:rPr>
              <a:t>Recommended Enterprise Authentication Model</a:t>
            </a:r>
            <a:endParaRPr lang="en-US" sz="1300" dirty="0"/>
          </a:p>
        </p:txBody>
      </p:sp>
      <p:sp>
        <p:nvSpPr>
          <p:cNvPr id="6" name="Shape 4"/>
          <p:cNvSpPr/>
          <p:nvPr/>
        </p:nvSpPr>
        <p:spPr>
          <a:xfrm>
            <a:off x="2286000" y="1828800"/>
            <a:ext cx="3840480" cy="566928"/>
          </a:xfrm>
          <a:prstGeom prst="roundRect">
            <a:avLst>
              <a:gd name="adj" fmla="val 9677"/>
            </a:avLst>
          </a:prstGeom>
          <a:solidFill>
            <a:srgbClr val="161616"/>
          </a:solidFill>
          <a:ln w="15875">
            <a:solidFill>
              <a:srgbClr val="3A3226"/>
            </a:solidFill>
            <a:prstDash val="solid"/>
          </a:ln>
        </p:spPr>
      </p:sp>
      <p:sp>
        <p:nvSpPr>
          <p:cNvPr id="7" name="Text 5"/>
          <p:cNvSpPr/>
          <p:nvPr/>
        </p:nvSpPr>
        <p:spPr>
          <a:xfrm>
            <a:off x="2331720" y="1828800"/>
            <a:ext cx="3749040" cy="566928"/>
          </a:xfrm>
          <a:prstGeom prst="rect">
            <a:avLst/>
          </a:prstGeom>
          <a:noFill/>
          <a:ln/>
        </p:spPr>
        <p:txBody>
          <a:bodyPr wrap="square" lIns="0" tIns="0" rIns="0" bIns="0" rtlCol="0" anchor="ctr"/>
          <a:lstStyle/>
          <a:p>
            <a:pPr algn="ctr" indent="0" marL="0">
              <a:buNone/>
            </a:pPr>
            <a:r>
              <a:rPr lang="en-US" sz="1300" b="1" dirty="0">
                <a:solidFill>
                  <a:srgbClr val="F3EEE1"/>
                </a:solidFill>
                <a:latin typeface="Calibri" pitchFamily="34" charset="0"/>
                <a:ea typeface="Calibri" pitchFamily="34" charset="-122"/>
                <a:cs typeface="Calibri" pitchFamily="34" charset="-120"/>
              </a:rPr>
              <a:t>Application</a:t>
            </a:r>
            <a:endParaRPr lang="en-US" sz="1300" dirty="0"/>
          </a:p>
        </p:txBody>
      </p:sp>
      <p:sp>
        <p:nvSpPr>
          <p:cNvPr id="8" name="Shape 6"/>
          <p:cNvSpPr/>
          <p:nvPr/>
        </p:nvSpPr>
        <p:spPr>
          <a:xfrm>
            <a:off x="4123944" y="2395728"/>
            <a:ext cx="164592" cy="182880"/>
          </a:xfrm>
          <a:prstGeom prst="downArrow">
            <a:avLst/>
          </a:prstGeom>
          <a:solidFill>
            <a:srgbClr val="D4AF37"/>
          </a:solidFill>
          <a:ln/>
        </p:spPr>
      </p:sp>
      <p:sp>
        <p:nvSpPr>
          <p:cNvPr id="9" name="Shape 7"/>
          <p:cNvSpPr/>
          <p:nvPr/>
        </p:nvSpPr>
        <p:spPr>
          <a:xfrm>
            <a:off x="2286000" y="2578608"/>
            <a:ext cx="3840480" cy="566928"/>
          </a:xfrm>
          <a:prstGeom prst="roundRect">
            <a:avLst>
              <a:gd name="adj" fmla="val 9677"/>
            </a:avLst>
          </a:prstGeom>
          <a:solidFill>
            <a:srgbClr val="1F1B10"/>
          </a:solidFill>
          <a:ln w="15875">
            <a:solidFill>
              <a:srgbClr val="D4AF37"/>
            </a:solidFill>
            <a:prstDash val="solid"/>
          </a:ln>
        </p:spPr>
      </p:sp>
      <p:sp>
        <p:nvSpPr>
          <p:cNvPr id="10" name="Text 8"/>
          <p:cNvSpPr/>
          <p:nvPr/>
        </p:nvSpPr>
        <p:spPr>
          <a:xfrm>
            <a:off x="2331720" y="2578608"/>
            <a:ext cx="3749040" cy="566928"/>
          </a:xfrm>
          <a:prstGeom prst="rect">
            <a:avLst/>
          </a:prstGeom>
          <a:noFill/>
          <a:ln/>
        </p:spPr>
        <p:txBody>
          <a:bodyPr wrap="square" lIns="0" tIns="0" rIns="0" bIns="0" rtlCol="0" anchor="ctr"/>
          <a:lstStyle/>
          <a:p>
            <a:pPr algn="ctr" indent="0" marL="0">
              <a:buNone/>
            </a:pPr>
            <a:r>
              <a:rPr lang="en-US" sz="1300" b="1" dirty="0">
                <a:solidFill>
                  <a:srgbClr val="F3EEE1"/>
                </a:solidFill>
                <a:latin typeface="Calibri" pitchFamily="34" charset="0"/>
                <a:ea typeface="Calibri" pitchFamily="34" charset="-122"/>
                <a:cs typeface="Calibri" pitchFamily="34" charset="-120"/>
              </a:rPr>
              <a:t>Microsoft Entra ID</a:t>
            </a:r>
            <a:endParaRPr lang="en-US" sz="1300" dirty="0"/>
          </a:p>
        </p:txBody>
      </p:sp>
      <p:sp>
        <p:nvSpPr>
          <p:cNvPr id="11" name="Shape 9"/>
          <p:cNvSpPr/>
          <p:nvPr/>
        </p:nvSpPr>
        <p:spPr>
          <a:xfrm>
            <a:off x="4123944" y="3145536"/>
            <a:ext cx="164592" cy="182880"/>
          </a:xfrm>
          <a:prstGeom prst="downArrow">
            <a:avLst/>
          </a:prstGeom>
          <a:solidFill>
            <a:srgbClr val="D4AF37"/>
          </a:solidFill>
          <a:ln/>
        </p:spPr>
      </p:sp>
      <p:sp>
        <p:nvSpPr>
          <p:cNvPr id="12" name="Shape 10"/>
          <p:cNvSpPr/>
          <p:nvPr/>
        </p:nvSpPr>
        <p:spPr>
          <a:xfrm>
            <a:off x="2286000" y="3328416"/>
            <a:ext cx="3840480" cy="566928"/>
          </a:xfrm>
          <a:prstGeom prst="roundRect">
            <a:avLst>
              <a:gd name="adj" fmla="val 9677"/>
            </a:avLst>
          </a:prstGeom>
          <a:solidFill>
            <a:srgbClr val="161616"/>
          </a:solidFill>
          <a:ln w="15875">
            <a:solidFill>
              <a:srgbClr val="3A3226"/>
            </a:solidFill>
            <a:prstDash val="solid"/>
          </a:ln>
        </p:spPr>
      </p:sp>
      <p:sp>
        <p:nvSpPr>
          <p:cNvPr id="13" name="Text 11"/>
          <p:cNvSpPr/>
          <p:nvPr/>
        </p:nvSpPr>
        <p:spPr>
          <a:xfrm>
            <a:off x="2331720" y="3328416"/>
            <a:ext cx="3749040" cy="566928"/>
          </a:xfrm>
          <a:prstGeom prst="rect">
            <a:avLst/>
          </a:prstGeom>
          <a:noFill/>
          <a:ln/>
        </p:spPr>
        <p:txBody>
          <a:bodyPr wrap="square" lIns="0" tIns="0" rIns="0" bIns="0" rtlCol="0" anchor="ctr"/>
          <a:lstStyle/>
          <a:p>
            <a:pPr algn="ctr" indent="0" marL="0">
              <a:buNone/>
            </a:pPr>
            <a:r>
              <a:rPr lang="en-US" sz="1300" b="1" dirty="0">
                <a:solidFill>
                  <a:srgbClr val="F3EEE1"/>
                </a:solidFill>
                <a:latin typeface="Calibri" pitchFamily="34" charset="0"/>
                <a:ea typeface="Calibri" pitchFamily="34" charset="-122"/>
                <a:cs typeface="Calibri" pitchFamily="34" charset="-120"/>
              </a:rPr>
              <a:t>OAuth Token</a:t>
            </a:r>
            <a:endParaRPr lang="en-US" sz="1300" dirty="0"/>
          </a:p>
        </p:txBody>
      </p:sp>
      <p:sp>
        <p:nvSpPr>
          <p:cNvPr id="14" name="Shape 12"/>
          <p:cNvSpPr/>
          <p:nvPr/>
        </p:nvSpPr>
        <p:spPr>
          <a:xfrm>
            <a:off x="4123944" y="3895344"/>
            <a:ext cx="164592" cy="182880"/>
          </a:xfrm>
          <a:prstGeom prst="downArrow">
            <a:avLst/>
          </a:prstGeom>
          <a:solidFill>
            <a:srgbClr val="D4AF37"/>
          </a:solidFill>
          <a:ln/>
        </p:spPr>
      </p:sp>
      <p:sp>
        <p:nvSpPr>
          <p:cNvPr id="15" name="Shape 13"/>
          <p:cNvSpPr/>
          <p:nvPr/>
        </p:nvSpPr>
        <p:spPr>
          <a:xfrm>
            <a:off x="2286000" y="4078224"/>
            <a:ext cx="3840480" cy="566928"/>
          </a:xfrm>
          <a:prstGeom prst="roundRect">
            <a:avLst>
              <a:gd name="adj" fmla="val 9677"/>
            </a:avLst>
          </a:prstGeom>
          <a:solidFill>
            <a:srgbClr val="161616"/>
          </a:solidFill>
          <a:ln w="15875">
            <a:solidFill>
              <a:srgbClr val="3A3226"/>
            </a:solidFill>
            <a:prstDash val="solid"/>
          </a:ln>
        </p:spPr>
      </p:sp>
      <p:sp>
        <p:nvSpPr>
          <p:cNvPr id="16" name="Text 14"/>
          <p:cNvSpPr/>
          <p:nvPr/>
        </p:nvSpPr>
        <p:spPr>
          <a:xfrm>
            <a:off x="2331720" y="4078224"/>
            <a:ext cx="3749040" cy="566928"/>
          </a:xfrm>
          <a:prstGeom prst="rect">
            <a:avLst/>
          </a:prstGeom>
          <a:noFill/>
          <a:ln/>
        </p:spPr>
        <p:txBody>
          <a:bodyPr wrap="square" lIns="0" tIns="0" rIns="0" bIns="0" rtlCol="0" anchor="ctr"/>
          <a:lstStyle/>
          <a:p>
            <a:pPr algn="ctr" indent="0" marL="0">
              <a:buNone/>
            </a:pPr>
            <a:r>
              <a:rPr lang="en-US" sz="1300" b="1" dirty="0">
                <a:solidFill>
                  <a:srgbClr val="F3EEE1"/>
                </a:solidFill>
                <a:latin typeface="Calibri" pitchFamily="34" charset="0"/>
                <a:ea typeface="Calibri" pitchFamily="34" charset="-122"/>
                <a:cs typeface="Calibri" pitchFamily="34" charset="-120"/>
              </a:rPr>
              <a:t>Foundry Endpoint</a:t>
            </a:r>
            <a:endParaRPr lang="en-US" sz="1300" dirty="0"/>
          </a:p>
        </p:txBody>
      </p:sp>
      <p:sp>
        <p:nvSpPr>
          <p:cNvPr id="17" name="Shape 15"/>
          <p:cNvSpPr/>
          <p:nvPr/>
        </p:nvSpPr>
        <p:spPr>
          <a:xfrm>
            <a:off x="4123944" y="4645152"/>
            <a:ext cx="164592" cy="182880"/>
          </a:xfrm>
          <a:prstGeom prst="downArrow">
            <a:avLst/>
          </a:prstGeom>
          <a:solidFill>
            <a:srgbClr val="D4AF37"/>
          </a:solidFill>
          <a:ln/>
        </p:spPr>
      </p:sp>
      <p:sp>
        <p:nvSpPr>
          <p:cNvPr id="18" name="Shape 16"/>
          <p:cNvSpPr/>
          <p:nvPr/>
        </p:nvSpPr>
        <p:spPr>
          <a:xfrm>
            <a:off x="2286000" y="4828032"/>
            <a:ext cx="3840480" cy="566928"/>
          </a:xfrm>
          <a:prstGeom prst="roundRect">
            <a:avLst>
              <a:gd name="adj" fmla="val 9677"/>
            </a:avLst>
          </a:prstGeom>
          <a:solidFill>
            <a:srgbClr val="161616"/>
          </a:solidFill>
          <a:ln w="15875">
            <a:solidFill>
              <a:srgbClr val="3A3226"/>
            </a:solidFill>
            <a:prstDash val="solid"/>
          </a:ln>
        </p:spPr>
      </p:sp>
      <p:sp>
        <p:nvSpPr>
          <p:cNvPr id="19" name="Text 17"/>
          <p:cNvSpPr/>
          <p:nvPr/>
        </p:nvSpPr>
        <p:spPr>
          <a:xfrm>
            <a:off x="2331720" y="4828032"/>
            <a:ext cx="3749040" cy="566928"/>
          </a:xfrm>
          <a:prstGeom prst="rect">
            <a:avLst/>
          </a:prstGeom>
          <a:noFill/>
          <a:ln/>
        </p:spPr>
        <p:txBody>
          <a:bodyPr wrap="square" lIns="0" tIns="0" rIns="0" bIns="0" rtlCol="0" anchor="ctr"/>
          <a:lstStyle/>
          <a:p>
            <a:pPr algn="ctr" indent="0" marL="0">
              <a:buNone/>
            </a:pPr>
            <a:r>
              <a:rPr lang="en-US" sz="1300" b="1" dirty="0">
                <a:solidFill>
                  <a:srgbClr val="F3EEE1"/>
                </a:solidFill>
                <a:latin typeface="Calibri" pitchFamily="34" charset="0"/>
                <a:ea typeface="Calibri" pitchFamily="34" charset="-122"/>
                <a:cs typeface="Calibri" pitchFamily="34" charset="-120"/>
              </a:rPr>
              <a:t>Claude Deployment</a:t>
            </a:r>
            <a:endParaRPr lang="en-US" sz="1300" dirty="0"/>
          </a:p>
        </p:txBody>
      </p:sp>
      <p:sp>
        <p:nvSpPr>
          <p:cNvPr id="20" name="Text 18"/>
          <p:cNvSpPr/>
          <p:nvPr/>
        </p:nvSpPr>
        <p:spPr>
          <a:xfrm>
            <a:off x="7315200" y="1828800"/>
            <a:ext cx="438912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BENEFITS</a:t>
            </a:r>
            <a:endParaRPr lang="en-US" sz="1150" dirty="0"/>
          </a:p>
        </p:txBody>
      </p:sp>
      <p:sp>
        <p:nvSpPr>
          <p:cNvPr id="21" name="Text 19"/>
          <p:cNvSpPr/>
          <p:nvPr/>
        </p:nvSpPr>
        <p:spPr>
          <a:xfrm>
            <a:off x="7315200" y="2194560"/>
            <a:ext cx="4389120" cy="2926080"/>
          </a:xfrm>
          <a:prstGeom prst="rect">
            <a:avLst/>
          </a:prstGeom>
          <a:noFill/>
          <a:ln/>
        </p:spPr>
        <p:txBody>
          <a:bodyPr wrap="square" lIns="0" tIns="0" rIns="0" bIns="0" rtlCol="0" anchor="t"/>
          <a:lstStyle/>
          <a:p>
            <a:pPr marL="177800" indent="-177800">
              <a:lnSpc>
                <a:spcPct val="108000"/>
              </a:lnSpc>
              <a:spcAft>
                <a:spcPts val="1300"/>
              </a:spcAft>
              <a:buSzPct val="100000"/>
              <a:buChar char="▪"/>
            </a:pPr>
            <a:r>
              <a:rPr lang="en-US" sz="1300" dirty="0">
                <a:solidFill>
                  <a:srgbClr val="F3EEE1"/>
                </a:solidFill>
                <a:latin typeface="Calibri" pitchFamily="34" charset="0"/>
                <a:ea typeface="Calibri" pitchFamily="34" charset="-122"/>
                <a:cs typeface="Calibri" pitchFamily="34" charset="-120"/>
              </a:rPr>
              <a:t>Passwordless authentication</a:t>
            </a:r>
            <a:endParaRPr lang="en-US" sz="1300" dirty="0"/>
          </a:p>
          <a:p>
            <a:pPr marL="177800" indent="-177800">
              <a:lnSpc>
                <a:spcPct val="108000"/>
              </a:lnSpc>
              <a:spcAft>
                <a:spcPts val="1300"/>
              </a:spcAft>
              <a:buSzPct val="100000"/>
              <a:buChar char="▪"/>
            </a:pPr>
            <a:r>
              <a:rPr lang="en-US" sz="1300" dirty="0">
                <a:solidFill>
                  <a:srgbClr val="F3EEE1"/>
                </a:solidFill>
                <a:latin typeface="Calibri" pitchFamily="34" charset="0"/>
                <a:ea typeface="Calibri" pitchFamily="34" charset="-122"/>
                <a:cs typeface="Calibri" pitchFamily="34" charset="-120"/>
              </a:rPr>
              <a:t>No hardcoded secrets</a:t>
            </a:r>
            <a:endParaRPr lang="en-US" sz="1300" dirty="0"/>
          </a:p>
          <a:p>
            <a:pPr marL="177800" indent="-177800">
              <a:lnSpc>
                <a:spcPct val="108000"/>
              </a:lnSpc>
              <a:spcAft>
                <a:spcPts val="1300"/>
              </a:spcAft>
              <a:buSzPct val="100000"/>
              <a:buChar char="▪"/>
            </a:pPr>
            <a:r>
              <a:rPr lang="en-US" sz="1300" dirty="0">
                <a:solidFill>
                  <a:srgbClr val="F3EEE1"/>
                </a:solidFill>
                <a:latin typeface="Calibri" pitchFamily="34" charset="0"/>
                <a:ea typeface="Calibri" pitchFamily="34" charset="-122"/>
                <a:cs typeface="Calibri" pitchFamily="34" charset="-120"/>
              </a:rPr>
              <a:t>RBAC integration</a:t>
            </a:r>
            <a:endParaRPr lang="en-US" sz="1300" dirty="0"/>
          </a:p>
          <a:p>
            <a:pPr marL="177800" indent="-177800">
              <a:lnSpc>
                <a:spcPct val="108000"/>
              </a:lnSpc>
              <a:spcAft>
                <a:spcPts val="1300"/>
              </a:spcAft>
              <a:buSzPct val="100000"/>
              <a:buChar char="▪"/>
            </a:pPr>
            <a:r>
              <a:rPr lang="en-US" sz="1300" dirty="0">
                <a:solidFill>
                  <a:srgbClr val="F3EEE1"/>
                </a:solidFill>
                <a:latin typeface="Calibri" pitchFamily="34" charset="0"/>
                <a:ea typeface="Calibri" pitchFamily="34" charset="-122"/>
                <a:cs typeface="Calibri" pitchFamily="34" charset="-120"/>
              </a:rPr>
              <a:t>Conditional Access</a:t>
            </a:r>
            <a:endParaRPr lang="en-US" sz="1300" dirty="0"/>
          </a:p>
          <a:p>
            <a:pPr marL="177800" indent="-177800">
              <a:lnSpc>
                <a:spcPct val="108000"/>
              </a:lnSpc>
              <a:spcAft>
                <a:spcPts val="1300"/>
              </a:spcAft>
              <a:buSzPct val="100000"/>
              <a:buChar char="▪"/>
            </a:pPr>
            <a:r>
              <a:rPr lang="en-US" sz="1300" dirty="0">
                <a:solidFill>
                  <a:srgbClr val="F3EEE1"/>
                </a:solidFill>
                <a:latin typeface="Calibri" pitchFamily="34" charset="0"/>
                <a:ea typeface="Calibri" pitchFamily="34" charset="-122"/>
                <a:cs typeface="Calibri" pitchFamily="34" charset="-120"/>
              </a:rPr>
              <a:t>Managed Identity support</a:t>
            </a:r>
            <a:endParaRPr lang="en-US" sz="1300" dirty="0"/>
          </a:p>
          <a:p>
            <a:pPr marL="177800" indent="-177800">
              <a:lnSpc>
                <a:spcPct val="108000"/>
              </a:lnSpc>
              <a:spcAft>
                <a:spcPts val="1300"/>
              </a:spcAft>
              <a:buSzPct val="100000"/>
              <a:buChar char="▪"/>
            </a:pPr>
            <a:r>
              <a:rPr lang="en-US" sz="1300" dirty="0">
                <a:solidFill>
                  <a:srgbClr val="F3EEE1"/>
                </a:solidFill>
                <a:latin typeface="Calibri" pitchFamily="34" charset="0"/>
                <a:ea typeface="Calibri" pitchFamily="34" charset="-122"/>
                <a:cs typeface="Calibri" pitchFamily="34" charset="-120"/>
              </a:rPr>
              <a:t>Enterprise auditability</a:t>
            </a:r>
            <a:endParaRPr lang="en-US" sz="1300" dirty="0"/>
          </a:p>
        </p:txBody>
      </p:sp>
      <p:sp>
        <p:nvSpPr>
          <p:cNvPr id="22" name="Shape 20"/>
          <p:cNvSpPr/>
          <p:nvPr/>
        </p:nvSpPr>
        <p:spPr>
          <a:xfrm>
            <a:off x="457200" y="5897880"/>
            <a:ext cx="11274552" cy="548640"/>
          </a:xfrm>
          <a:prstGeom prst="roundRect">
            <a:avLst>
              <a:gd name="adj" fmla="val 11667"/>
            </a:avLst>
          </a:prstGeom>
          <a:solidFill>
            <a:srgbClr val="1F1B10"/>
          </a:solidFill>
          <a:ln w="12700">
            <a:solidFill>
              <a:srgbClr val="3A3226"/>
            </a:solidFill>
            <a:prstDash val="solid"/>
          </a:ln>
          <a:effectLst>
            <a:outerShdw sx="100000" sy="100000" kx="0" ky="0" algn="bl" rotWithShape="0" blurRad="101600" dist="38100" dir="5400000">
              <a:srgbClr val="000000">
                <a:alpha val="40000"/>
              </a:srgbClr>
            </a:outerShdw>
          </a:effectLst>
        </p:spPr>
      </p:sp>
      <p:sp>
        <p:nvSpPr>
          <p:cNvPr id="23" name="Text 21"/>
          <p:cNvSpPr/>
          <p:nvPr/>
        </p:nvSpPr>
        <p:spPr>
          <a:xfrm>
            <a:off x="731520" y="5897880"/>
            <a:ext cx="10789920" cy="548640"/>
          </a:xfrm>
          <a:prstGeom prst="rect">
            <a:avLst/>
          </a:prstGeom>
          <a:noFill/>
          <a:ln/>
        </p:spPr>
        <p:txBody>
          <a:bodyPr wrap="square" lIns="0" tIns="0" rIns="0" bIns="0" rtlCol="0" anchor="ctr"/>
          <a:lstStyle/>
          <a:p>
            <a:pPr indent="0" marL="0">
              <a:buNone/>
            </a:pPr>
            <a:r>
              <a:rPr lang="en-US" sz="1200" i="1" dirty="0">
                <a:solidFill>
                  <a:srgbClr val="E8CC6B"/>
                </a:solidFill>
                <a:latin typeface="Calibri" pitchFamily="34" charset="0"/>
                <a:ea typeface="Calibri" pitchFamily="34" charset="-122"/>
                <a:cs typeface="Calibri" pitchFamily="34" charset="-120"/>
              </a:rPr>
              <a:t>Foundry supports Microsoft Entra ID authentication for Claude deployments.</a:t>
            </a:r>
            <a:endParaRPr lang="en-US" sz="1200" dirty="0"/>
          </a:p>
        </p:txBody>
      </p:sp>
      <p:sp>
        <p:nvSpPr>
          <p:cNvPr id="24" name="Text 22"/>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25" name="Text 23"/>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IDENTITY &amp; ACCESS</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800" b="1" dirty="0">
                <a:solidFill>
                  <a:srgbClr val="F3EEE1"/>
                </a:solidFill>
                <a:latin typeface="Cambria" pitchFamily="34" charset="0"/>
                <a:ea typeface="Cambria" pitchFamily="34" charset="-122"/>
                <a:cs typeface="Cambria" pitchFamily="34" charset="-120"/>
              </a:rPr>
              <a:t>Why Entra ID Over API Keys?</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4873752"/>
                <a:gridCol w="3200400"/>
                <a:gridCol w="3200400"/>
              </a:tblGrid>
              <a:tr h="365760">
                <a:tc>
                  <a:txBody>
                    <a:bodyPr/>
                    <a:lstStyle/>
                    <a:p>
                      <a:pPr algn="l" indent="0" marL="0">
                        <a:buNone/>
                      </a:pPr>
                      <a:r>
                        <a:rPr lang="en-US" sz="1300" b="1" dirty="0">
                          <a:solidFill>
                            <a:srgbClr val="0A0A0A"/>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D4AF37"/>
                    </a:solidFill>
                  </a:tcPr>
                </a:tc>
                <a:tc>
                  <a:txBody>
                    <a:bodyPr/>
                    <a:lstStyle/>
                    <a:p>
                      <a:pPr algn="l" indent="0" marL="0">
                        <a:buNone/>
                      </a:pPr>
                      <a:r>
                        <a:rPr lang="en-US" sz="1300" b="1" dirty="0">
                          <a:solidFill>
                            <a:srgbClr val="0A0A0A"/>
                          </a:solidFill>
                          <a:latin typeface="Calibri" pitchFamily="34" charset="0"/>
                          <a:ea typeface="Calibri" pitchFamily="34" charset="-122"/>
                          <a:cs typeface="Calibri" pitchFamily="34" charset="-120"/>
                        </a:rPr>
                        <a:t>API Key</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D4AF37"/>
                    </a:solidFill>
                  </a:tcPr>
                </a:tc>
                <a:tc>
                  <a:txBody>
                    <a:bodyPr/>
                    <a:lstStyle/>
                    <a:p>
                      <a:pPr algn="l" indent="0" marL="0">
                        <a:buNone/>
                      </a:pPr>
                      <a:r>
                        <a:rPr lang="en-US" sz="1300" b="1" dirty="0">
                          <a:solidFill>
                            <a:srgbClr val="0A0A0A"/>
                          </a:solidFill>
                          <a:latin typeface="Calibri" pitchFamily="34" charset="0"/>
                          <a:ea typeface="Calibri" pitchFamily="34" charset="-122"/>
                          <a:cs typeface="Calibri" pitchFamily="34" charset="-120"/>
                        </a:rPr>
                        <a:t>Entra ID</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D4AF37"/>
                    </a:solidFill>
                  </a:tcPr>
                </a:tc>
              </a:tr>
              <a:tr h="365760">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Security</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365760">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Secret Rotation</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Manual</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Automatic</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r h="365760">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RBAC</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365760">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Managed Identity</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r h="365760">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Audit Logs</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Limited</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Full</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365760">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Compliance Support</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300" dirty="0">
                          <a:solidFill>
                            <a:srgbClr val="F3EEE1"/>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bl>
          </a:graphicData>
        </a:graphic>
      </p:graphicFrame>
      <p:sp>
        <p:nvSpPr>
          <p:cNvPr id="6" name="Text 3"/>
          <p:cNvSpPr/>
          <p:nvPr/>
        </p:nvSpPr>
        <p:spPr>
          <a:xfrm>
            <a:off x="457200" y="4343400"/>
            <a:ext cx="548640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ENTERPRISE RECOMMENDATION</a:t>
            </a:r>
            <a:endParaRPr lang="en-US" sz="1150" dirty="0"/>
          </a:p>
        </p:txBody>
      </p:sp>
      <p:sp>
        <p:nvSpPr>
          <p:cNvPr id="7" name="Text 4"/>
          <p:cNvSpPr/>
          <p:nvPr/>
        </p:nvSpPr>
        <p:spPr>
          <a:xfrm>
            <a:off x="457200" y="4709160"/>
            <a:ext cx="3657600" cy="365760"/>
          </a:xfrm>
          <a:prstGeom prst="rect">
            <a:avLst/>
          </a:prstGeom>
          <a:noFill/>
          <a:ln/>
        </p:spPr>
        <p:txBody>
          <a:bodyPr wrap="square" lIns="0" tIns="0" rIns="0" bIns="0" rtlCol="0" anchor="ctr"/>
          <a:lstStyle/>
          <a:p>
            <a:pPr indent="0" marL="0">
              <a:buNone/>
            </a:pPr>
            <a:r>
              <a:rPr lang="en-US" sz="1300" dirty="0">
                <a:solidFill>
                  <a:srgbClr val="F3EEE1"/>
                </a:solidFill>
                <a:latin typeface="Calibri" pitchFamily="34" charset="0"/>
                <a:ea typeface="Calibri" pitchFamily="34" charset="-122"/>
                <a:cs typeface="Calibri" pitchFamily="34" charset="-120"/>
              </a:rPr>
              <a:t>Production Systems</a:t>
            </a:r>
            <a:endParaRPr lang="en-US" sz="1300" dirty="0"/>
          </a:p>
        </p:txBody>
      </p:sp>
      <p:sp>
        <p:nvSpPr>
          <p:cNvPr id="8" name="Shape 5"/>
          <p:cNvSpPr/>
          <p:nvPr/>
        </p:nvSpPr>
        <p:spPr>
          <a:xfrm>
            <a:off x="4297680" y="4764024"/>
            <a:ext cx="201168" cy="201168"/>
          </a:xfrm>
          <a:prstGeom prst="roundRect">
            <a:avLst>
              <a:gd name="adj" fmla="val 18182"/>
            </a:avLst>
          </a:prstGeom>
          <a:solidFill>
            <a:srgbClr val="D4AF37"/>
          </a:solidFill>
          <a:ln/>
        </p:spPr>
      </p:sp>
      <p:sp>
        <p:nvSpPr>
          <p:cNvPr id="9" name="Text 6"/>
          <p:cNvSpPr/>
          <p:nvPr/>
        </p:nvSpPr>
        <p:spPr>
          <a:xfrm>
            <a:off x="4297680" y="4750308"/>
            <a:ext cx="201168" cy="201168"/>
          </a:xfrm>
          <a:prstGeom prst="rect">
            <a:avLst/>
          </a:prstGeom>
          <a:noFill/>
          <a:ln/>
        </p:spPr>
        <p:txBody>
          <a:bodyPr wrap="square" lIns="0" tIns="0" rIns="0" bIns="0" rtlCol="0" anchor="ctr"/>
          <a:lstStyle/>
          <a:p>
            <a:pPr algn="ctr" indent="0" marL="0">
              <a:buNone/>
            </a:pPr>
            <a:r>
              <a:rPr lang="en-US" sz="1200" b="1" dirty="0">
                <a:solidFill>
                  <a:srgbClr val="0A0A0A"/>
                </a:solidFill>
              </a:rPr>
              <a:t>✓</a:t>
            </a:r>
            <a:endParaRPr lang="en-US" sz="1200" dirty="0"/>
          </a:p>
        </p:txBody>
      </p:sp>
      <p:sp>
        <p:nvSpPr>
          <p:cNvPr id="10" name="Text 7"/>
          <p:cNvSpPr/>
          <p:nvPr/>
        </p:nvSpPr>
        <p:spPr>
          <a:xfrm>
            <a:off x="4590288" y="4709160"/>
            <a:ext cx="3822192" cy="292608"/>
          </a:xfrm>
          <a:prstGeom prst="rect">
            <a:avLst/>
          </a:prstGeom>
          <a:noFill/>
          <a:ln/>
        </p:spPr>
        <p:txBody>
          <a:bodyPr wrap="square" lIns="0" tIns="0" rIns="0" bIns="0" rtlCol="0" anchor="ctr"/>
          <a:lstStyle/>
          <a:p>
            <a:pPr indent="0" marL="0">
              <a:buNone/>
            </a:pPr>
            <a:r>
              <a:rPr lang="en-US" sz="1250" dirty="0">
                <a:solidFill>
                  <a:srgbClr val="F3EEE1"/>
                </a:solidFill>
                <a:latin typeface="Calibri" pitchFamily="34" charset="0"/>
                <a:ea typeface="Calibri" pitchFamily="34" charset="-122"/>
                <a:cs typeface="Calibri" pitchFamily="34" charset="-120"/>
              </a:rPr>
              <a:t>Entra ID</a:t>
            </a:r>
            <a:endParaRPr lang="en-US" sz="1250" dirty="0"/>
          </a:p>
        </p:txBody>
      </p:sp>
      <p:sp>
        <p:nvSpPr>
          <p:cNvPr id="11" name="Text 8"/>
          <p:cNvSpPr/>
          <p:nvPr/>
        </p:nvSpPr>
        <p:spPr>
          <a:xfrm>
            <a:off x="457200" y="5212080"/>
            <a:ext cx="3657600" cy="365760"/>
          </a:xfrm>
          <a:prstGeom prst="rect">
            <a:avLst/>
          </a:prstGeom>
          <a:noFill/>
          <a:ln/>
        </p:spPr>
        <p:txBody>
          <a:bodyPr wrap="square" lIns="0" tIns="0" rIns="0" bIns="0" rtlCol="0" anchor="ctr"/>
          <a:lstStyle/>
          <a:p>
            <a:pPr indent="0" marL="0">
              <a:buNone/>
            </a:pPr>
            <a:r>
              <a:rPr lang="en-US" sz="1300" dirty="0">
                <a:solidFill>
                  <a:srgbClr val="F3EEE1"/>
                </a:solidFill>
                <a:latin typeface="Calibri" pitchFamily="34" charset="0"/>
                <a:ea typeface="Calibri" pitchFamily="34" charset="-122"/>
                <a:cs typeface="Calibri" pitchFamily="34" charset="-120"/>
              </a:rPr>
              <a:t>Proof of Concept</a:t>
            </a:r>
            <a:endParaRPr lang="en-US" sz="1300" dirty="0"/>
          </a:p>
        </p:txBody>
      </p:sp>
      <p:sp>
        <p:nvSpPr>
          <p:cNvPr id="12" name="Shape 9"/>
          <p:cNvSpPr/>
          <p:nvPr/>
        </p:nvSpPr>
        <p:spPr>
          <a:xfrm>
            <a:off x="4297680" y="5266944"/>
            <a:ext cx="201168" cy="201168"/>
          </a:xfrm>
          <a:prstGeom prst="roundRect">
            <a:avLst>
              <a:gd name="adj" fmla="val 18182"/>
            </a:avLst>
          </a:prstGeom>
          <a:solidFill>
            <a:srgbClr val="D4AF37"/>
          </a:solidFill>
          <a:ln/>
        </p:spPr>
      </p:sp>
      <p:sp>
        <p:nvSpPr>
          <p:cNvPr id="13" name="Text 10"/>
          <p:cNvSpPr/>
          <p:nvPr/>
        </p:nvSpPr>
        <p:spPr>
          <a:xfrm>
            <a:off x="4297680" y="5253228"/>
            <a:ext cx="201168" cy="201168"/>
          </a:xfrm>
          <a:prstGeom prst="rect">
            <a:avLst/>
          </a:prstGeom>
          <a:noFill/>
          <a:ln/>
        </p:spPr>
        <p:txBody>
          <a:bodyPr wrap="square" lIns="0" tIns="0" rIns="0" bIns="0" rtlCol="0" anchor="ctr"/>
          <a:lstStyle/>
          <a:p>
            <a:pPr algn="ctr" indent="0" marL="0">
              <a:buNone/>
            </a:pPr>
            <a:r>
              <a:rPr lang="en-US" sz="1200" b="1" dirty="0">
                <a:solidFill>
                  <a:srgbClr val="0A0A0A"/>
                </a:solidFill>
              </a:rPr>
              <a:t>✓</a:t>
            </a:r>
            <a:endParaRPr lang="en-US" sz="1200" dirty="0"/>
          </a:p>
        </p:txBody>
      </p:sp>
      <p:sp>
        <p:nvSpPr>
          <p:cNvPr id="14" name="Text 11"/>
          <p:cNvSpPr/>
          <p:nvPr/>
        </p:nvSpPr>
        <p:spPr>
          <a:xfrm>
            <a:off x="4590288" y="5212080"/>
            <a:ext cx="3822192" cy="292608"/>
          </a:xfrm>
          <a:prstGeom prst="rect">
            <a:avLst/>
          </a:prstGeom>
          <a:noFill/>
          <a:ln/>
        </p:spPr>
        <p:txBody>
          <a:bodyPr wrap="square" lIns="0" tIns="0" rIns="0" bIns="0" rtlCol="0" anchor="ctr"/>
          <a:lstStyle/>
          <a:p>
            <a:pPr indent="0" marL="0">
              <a:buNone/>
            </a:pPr>
            <a:r>
              <a:rPr lang="en-US" sz="1250" dirty="0">
                <a:solidFill>
                  <a:srgbClr val="F3EEE1"/>
                </a:solidFill>
                <a:latin typeface="Calibri" pitchFamily="34" charset="0"/>
                <a:ea typeface="Calibri" pitchFamily="34" charset="-122"/>
                <a:cs typeface="Calibri" pitchFamily="34" charset="-120"/>
              </a:rPr>
              <a:t>API Key</a:t>
            </a:r>
            <a:endParaRPr lang="en-US" sz="1250" dirty="0"/>
          </a:p>
        </p:txBody>
      </p:sp>
      <p:sp>
        <p:nvSpPr>
          <p:cNvPr id="15" name="Text 12"/>
          <p:cNvSpPr/>
          <p:nvPr/>
        </p:nvSpPr>
        <p:spPr>
          <a:xfrm>
            <a:off x="457200" y="5715000"/>
            <a:ext cx="3657600" cy="365760"/>
          </a:xfrm>
          <a:prstGeom prst="rect">
            <a:avLst/>
          </a:prstGeom>
          <a:noFill/>
          <a:ln/>
        </p:spPr>
        <p:txBody>
          <a:bodyPr wrap="square" lIns="0" tIns="0" rIns="0" bIns="0" rtlCol="0" anchor="ctr"/>
          <a:lstStyle/>
          <a:p>
            <a:pPr indent="0" marL="0">
              <a:buNone/>
            </a:pPr>
            <a:r>
              <a:rPr lang="en-US" sz="1300" dirty="0">
                <a:solidFill>
                  <a:srgbClr val="F3EEE1"/>
                </a:solidFill>
                <a:latin typeface="Calibri" pitchFamily="34" charset="0"/>
                <a:ea typeface="Calibri" pitchFamily="34" charset="-122"/>
                <a:cs typeface="Calibri" pitchFamily="34" charset="-120"/>
              </a:rPr>
              <a:t>Large Enterprise Deployments</a:t>
            </a:r>
            <a:endParaRPr lang="en-US" sz="1300" dirty="0"/>
          </a:p>
        </p:txBody>
      </p:sp>
      <p:sp>
        <p:nvSpPr>
          <p:cNvPr id="16" name="Shape 13"/>
          <p:cNvSpPr/>
          <p:nvPr/>
        </p:nvSpPr>
        <p:spPr>
          <a:xfrm>
            <a:off x="4297680" y="5769864"/>
            <a:ext cx="201168" cy="201168"/>
          </a:xfrm>
          <a:prstGeom prst="roundRect">
            <a:avLst>
              <a:gd name="adj" fmla="val 18182"/>
            </a:avLst>
          </a:prstGeom>
          <a:solidFill>
            <a:srgbClr val="D4AF37"/>
          </a:solidFill>
          <a:ln/>
        </p:spPr>
      </p:sp>
      <p:sp>
        <p:nvSpPr>
          <p:cNvPr id="17" name="Text 14"/>
          <p:cNvSpPr/>
          <p:nvPr/>
        </p:nvSpPr>
        <p:spPr>
          <a:xfrm>
            <a:off x="4297680" y="5756148"/>
            <a:ext cx="201168" cy="201168"/>
          </a:xfrm>
          <a:prstGeom prst="rect">
            <a:avLst/>
          </a:prstGeom>
          <a:noFill/>
          <a:ln/>
        </p:spPr>
        <p:txBody>
          <a:bodyPr wrap="square" lIns="0" tIns="0" rIns="0" bIns="0" rtlCol="0" anchor="ctr"/>
          <a:lstStyle/>
          <a:p>
            <a:pPr algn="ctr" indent="0" marL="0">
              <a:buNone/>
            </a:pPr>
            <a:r>
              <a:rPr lang="en-US" sz="1200" b="1" dirty="0">
                <a:solidFill>
                  <a:srgbClr val="0A0A0A"/>
                </a:solidFill>
              </a:rPr>
              <a:t>✓</a:t>
            </a:r>
            <a:endParaRPr lang="en-US" sz="1200" dirty="0"/>
          </a:p>
        </p:txBody>
      </p:sp>
      <p:sp>
        <p:nvSpPr>
          <p:cNvPr id="18" name="Text 15"/>
          <p:cNvSpPr/>
          <p:nvPr/>
        </p:nvSpPr>
        <p:spPr>
          <a:xfrm>
            <a:off x="4590288" y="5715000"/>
            <a:ext cx="3822192" cy="292608"/>
          </a:xfrm>
          <a:prstGeom prst="rect">
            <a:avLst/>
          </a:prstGeom>
          <a:noFill/>
          <a:ln/>
        </p:spPr>
        <p:txBody>
          <a:bodyPr wrap="square" lIns="0" tIns="0" rIns="0" bIns="0" rtlCol="0" anchor="ctr"/>
          <a:lstStyle/>
          <a:p>
            <a:pPr indent="0" marL="0">
              <a:buNone/>
            </a:pPr>
            <a:r>
              <a:rPr lang="en-US" sz="1250" dirty="0">
                <a:solidFill>
                  <a:srgbClr val="F3EEE1"/>
                </a:solidFill>
                <a:latin typeface="Calibri" pitchFamily="34" charset="0"/>
                <a:ea typeface="Calibri" pitchFamily="34" charset="-122"/>
                <a:cs typeface="Calibri" pitchFamily="34" charset="-120"/>
              </a:rPr>
              <a:t>Entra ID Only</a:t>
            </a:r>
            <a:endParaRPr lang="en-US" sz="1250" dirty="0"/>
          </a:p>
        </p:txBody>
      </p:sp>
      <p:sp>
        <p:nvSpPr>
          <p:cNvPr id="19" name="Shape 16"/>
          <p:cNvSpPr/>
          <p:nvPr/>
        </p:nvSpPr>
        <p:spPr>
          <a:xfrm>
            <a:off x="6949440" y="4343400"/>
            <a:ext cx="4754880" cy="1737360"/>
          </a:xfrm>
          <a:prstGeom prst="roundRect">
            <a:avLst>
              <a:gd name="adj" fmla="val 3684"/>
            </a:avLst>
          </a:prstGeom>
          <a:solidFill>
            <a:srgbClr val="1F1B10"/>
          </a:solidFill>
          <a:ln w="12700">
            <a:solidFill>
              <a:srgbClr val="3A3226"/>
            </a:solidFill>
            <a:prstDash val="solid"/>
          </a:ln>
          <a:effectLst>
            <a:outerShdw sx="100000" sy="100000" kx="0" ky="0" algn="bl" rotWithShape="0" blurRad="101600" dist="38100" dir="5400000">
              <a:srgbClr val="000000">
                <a:alpha val="40000"/>
              </a:srgbClr>
            </a:outerShdw>
          </a:effectLst>
        </p:spPr>
      </p:sp>
      <p:sp>
        <p:nvSpPr>
          <p:cNvPr id="20" name="Text 17"/>
          <p:cNvSpPr/>
          <p:nvPr/>
        </p:nvSpPr>
        <p:spPr>
          <a:xfrm>
            <a:off x="7223760" y="4343400"/>
            <a:ext cx="4206240" cy="1737360"/>
          </a:xfrm>
          <a:prstGeom prst="rect">
            <a:avLst/>
          </a:prstGeom>
          <a:noFill/>
          <a:ln/>
        </p:spPr>
        <p:txBody>
          <a:bodyPr wrap="square" lIns="0" tIns="0" rIns="0" bIns="0" rtlCol="0" anchor="ctr"/>
          <a:lstStyle/>
          <a:p>
            <a:pPr indent="0" marL="0">
              <a:lnSpc>
                <a:spcPct val="125000"/>
              </a:lnSpc>
              <a:buNone/>
            </a:pPr>
            <a:r>
              <a:rPr lang="en-US" sz="1300" i="1" dirty="0">
                <a:solidFill>
                  <a:srgbClr val="E8CC6B"/>
                </a:solidFill>
                <a:latin typeface="Calibri" pitchFamily="34" charset="0"/>
                <a:ea typeface="Calibri" pitchFamily="34" charset="-122"/>
                <a:cs typeface="Calibri" pitchFamily="34" charset="-120"/>
              </a:rPr>
              <a:t>For large enterprise deployments, Entra ID is the recommended and often the only supported authentication path — eliminating hardcoded secrets across the estate.</a:t>
            </a:r>
            <a:endParaRPr lang="en-US" sz="1300" dirty="0"/>
          </a:p>
        </p:txBody>
      </p:sp>
      <p:sp>
        <p:nvSpPr>
          <p:cNvPr id="21" name="Text 18"/>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22" name="Text 19"/>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IMPLEMENTATION</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800" b="1" dirty="0">
                <a:solidFill>
                  <a:srgbClr val="F3EEE1"/>
                </a:solidFill>
                <a:latin typeface="Cambria" pitchFamily="34" charset="0"/>
                <a:ea typeface="Cambria" pitchFamily="34" charset="-122"/>
                <a:cs typeface="Cambria" pitchFamily="34" charset="-120"/>
              </a:rPr>
              <a:t>Deploying Anthropic Hosted Claude</a:t>
            </a:r>
            <a:endParaRPr lang="en-US" sz="2800" dirty="0"/>
          </a:p>
        </p:txBody>
      </p:sp>
      <p:sp>
        <p:nvSpPr>
          <p:cNvPr id="5" name="Text 3"/>
          <p:cNvSpPr/>
          <p:nvPr/>
        </p:nvSpPr>
        <p:spPr>
          <a:xfrm>
            <a:off x="457200" y="1371600"/>
            <a:ext cx="10972800" cy="320040"/>
          </a:xfrm>
          <a:prstGeom prst="rect">
            <a:avLst/>
          </a:prstGeom>
          <a:noFill/>
          <a:ln/>
        </p:spPr>
        <p:txBody>
          <a:bodyPr wrap="square" lIns="0" tIns="0" rIns="0" bIns="0" rtlCol="0" anchor="ctr"/>
          <a:lstStyle/>
          <a:p>
            <a:pPr indent="0" marL="0">
              <a:buNone/>
            </a:pPr>
            <a:r>
              <a:rPr lang="en-US" sz="1300" i="1" dirty="0">
                <a:solidFill>
                  <a:srgbClr val="B9B2A0"/>
                </a:solidFill>
                <a:latin typeface="Calibri" pitchFamily="34" charset="0"/>
                <a:ea typeface="Calibri" pitchFamily="34" charset="-122"/>
                <a:cs typeface="Calibri" pitchFamily="34" charset="-120"/>
              </a:rPr>
              <a:t>End-to-End Deployment Journey</a:t>
            </a:r>
            <a:endParaRPr lang="en-US" sz="1300" dirty="0"/>
          </a:p>
        </p:txBody>
      </p:sp>
      <p:sp>
        <p:nvSpPr>
          <p:cNvPr id="6" name="Shape 4"/>
          <p:cNvSpPr/>
          <p:nvPr/>
        </p:nvSpPr>
        <p:spPr>
          <a:xfrm>
            <a:off x="457200" y="1828800"/>
            <a:ext cx="2029968" cy="932688"/>
          </a:xfrm>
          <a:prstGeom prst="roundRect">
            <a:avLst>
              <a:gd name="adj" fmla="val 5882"/>
            </a:avLst>
          </a:prstGeom>
          <a:solidFill>
            <a:srgbClr val="1F1B10"/>
          </a:solidFill>
          <a:ln w="15875">
            <a:solidFill>
              <a:srgbClr val="D4AF37"/>
            </a:solidFill>
            <a:prstDash val="solid"/>
          </a:ln>
        </p:spPr>
      </p:sp>
      <p:sp>
        <p:nvSpPr>
          <p:cNvPr id="7" name="Text 5"/>
          <p:cNvSpPr/>
          <p:nvPr/>
        </p:nvSpPr>
        <p:spPr>
          <a:xfrm>
            <a:off x="502920" y="1828800"/>
            <a:ext cx="1938528" cy="932688"/>
          </a:xfrm>
          <a:prstGeom prst="rect">
            <a:avLst/>
          </a:prstGeom>
          <a:noFill/>
          <a:ln/>
        </p:spPr>
        <p:txBody>
          <a:bodyPr wrap="square" lIns="0" tIns="0" rIns="0" bIns="0" rtlCol="0" anchor="ctr"/>
          <a:lstStyle/>
          <a:p>
            <a:pPr algn="ctr" indent="0" marL="0">
              <a:lnSpc>
                <a:spcPct val="105000"/>
              </a:lnSpc>
              <a:buNone/>
            </a:pPr>
            <a:r>
              <a:rPr lang="en-US" sz="1500" b="1" dirty="0">
                <a:solidFill>
                  <a:srgbClr val="D4AF37"/>
                </a:solidFill>
              </a:rPr>
              <a:t>1</a:t>
            </a:r>
            <a:endParaRPr lang="en-US" sz="1500" dirty="0"/>
          </a:p>
          <a:p>
            <a:pPr algn="ctr" indent="0" marL="0">
              <a:lnSpc>
                <a:spcPct val="105000"/>
              </a:lnSpc>
              <a:buNone/>
            </a:pPr>
            <a:r>
              <a:rPr lang="en-US" sz="950" dirty="0">
                <a:solidFill>
                  <a:srgbClr val="F3EEE1"/>
                </a:solidFill>
              </a:rPr>
              <a:t>Azure Subscription</a:t>
            </a:r>
            <a:endParaRPr lang="en-US" sz="1500" dirty="0"/>
          </a:p>
        </p:txBody>
      </p:sp>
      <p:sp>
        <p:nvSpPr>
          <p:cNvPr id="8" name="Shape 6"/>
          <p:cNvSpPr/>
          <p:nvPr/>
        </p:nvSpPr>
        <p:spPr>
          <a:xfrm>
            <a:off x="2487168" y="2212848"/>
            <a:ext cx="146304" cy="164592"/>
          </a:xfrm>
          <a:prstGeom prst="rightArrow">
            <a:avLst/>
          </a:prstGeom>
          <a:solidFill>
            <a:srgbClr val="D4AF37"/>
          </a:solidFill>
          <a:ln/>
        </p:spPr>
      </p:sp>
      <p:sp>
        <p:nvSpPr>
          <p:cNvPr id="9" name="Shape 7"/>
          <p:cNvSpPr/>
          <p:nvPr/>
        </p:nvSpPr>
        <p:spPr>
          <a:xfrm>
            <a:off x="2651760" y="1828800"/>
            <a:ext cx="2029968" cy="932688"/>
          </a:xfrm>
          <a:prstGeom prst="roundRect">
            <a:avLst>
              <a:gd name="adj" fmla="val 5882"/>
            </a:avLst>
          </a:prstGeom>
          <a:solidFill>
            <a:srgbClr val="1F1B10"/>
          </a:solidFill>
          <a:ln w="15875">
            <a:solidFill>
              <a:srgbClr val="D4AF37"/>
            </a:solidFill>
            <a:prstDash val="solid"/>
          </a:ln>
        </p:spPr>
      </p:sp>
      <p:sp>
        <p:nvSpPr>
          <p:cNvPr id="10" name="Text 8"/>
          <p:cNvSpPr/>
          <p:nvPr/>
        </p:nvSpPr>
        <p:spPr>
          <a:xfrm>
            <a:off x="2697480" y="1828800"/>
            <a:ext cx="1938528" cy="932688"/>
          </a:xfrm>
          <a:prstGeom prst="rect">
            <a:avLst/>
          </a:prstGeom>
          <a:noFill/>
          <a:ln/>
        </p:spPr>
        <p:txBody>
          <a:bodyPr wrap="square" lIns="0" tIns="0" rIns="0" bIns="0" rtlCol="0" anchor="ctr"/>
          <a:lstStyle/>
          <a:p>
            <a:pPr algn="ctr" indent="0" marL="0">
              <a:lnSpc>
                <a:spcPct val="105000"/>
              </a:lnSpc>
              <a:buNone/>
            </a:pPr>
            <a:r>
              <a:rPr lang="en-US" sz="1500" b="1" dirty="0">
                <a:solidFill>
                  <a:srgbClr val="D4AF37"/>
                </a:solidFill>
              </a:rPr>
              <a:t>2</a:t>
            </a:r>
            <a:endParaRPr lang="en-US" sz="1500" dirty="0"/>
          </a:p>
          <a:p>
            <a:pPr algn="ctr" indent="0" marL="0">
              <a:lnSpc>
                <a:spcPct val="105000"/>
              </a:lnSpc>
              <a:buNone/>
            </a:pPr>
            <a:r>
              <a:rPr lang="en-US" sz="950" dirty="0">
                <a:solidFill>
                  <a:srgbClr val="F3EEE1"/>
                </a:solidFill>
              </a:rPr>
              <a:t>Resource Group</a:t>
            </a:r>
            <a:endParaRPr lang="en-US" sz="1500" dirty="0"/>
          </a:p>
        </p:txBody>
      </p:sp>
      <p:sp>
        <p:nvSpPr>
          <p:cNvPr id="11" name="Shape 9"/>
          <p:cNvSpPr/>
          <p:nvPr/>
        </p:nvSpPr>
        <p:spPr>
          <a:xfrm>
            <a:off x="4681728" y="2212848"/>
            <a:ext cx="146304" cy="164592"/>
          </a:xfrm>
          <a:prstGeom prst="rightArrow">
            <a:avLst/>
          </a:prstGeom>
          <a:solidFill>
            <a:srgbClr val="D4AF37"/>
          </a:solidFill>
          <a:ln/>
        </p:spPr>
      </p:sp>
      <p:sp>
        <p:nvSpPr>
          <p:cNvPr id="12" name="Shape 10"/>
          <p:cNvSpPr/>
          <p:nvPr/>
        </p:nvSpPr>
        <p:spPr>
          <a:xfrm>
            <a:off x="4846320" y="1828800"/>
            <a:ext cx="2029968" cy="932688"/>
          </a:xfrm>
          <a:prstGeom prst="roundRect">
            <a:avLst>
              <a:gd name="adj" fmla="val 5882"/>
            </a:avLst>
          </a:prstGeom>
          <a:solidFill>
            <a:srgbClr val="1F1B10"/>
          </a:solidFill>
          <a:ln w="15875">
            <a:solidFill>
              <a:srgbClr val="D4AF37"/>
            </a:solidFill>
            <a:prstDash val="solid"/>
          </a:ln>
        </p:spPr>
      </p:sp>
      <p:sp>
        <p:nvSpPr>
          <p:cNvPr id="13" name="Text 11"/>
          <p:cNvSpPr/>
          <p:nvPr/>
        </p:nvSpPr>
        <p:spPr>
          <a:xfrm>
            <a:off x="4892040" y="1828800"/>
            <a:ext cx="1938528" cy="932688"/>
          </a:xfrm>
          <a:prstGeom prst="rect">
            <a:avLst/>
          </a:prstGeom>
          <a:noFill/>
          <a:ln/>
        </p:spPr>
        <p:txBody>
          <a:bodyPr wrap="square" lIns="0" tIns="0" rIns="0" bIns="0" rtlCol="0" anchor="ctr"/>
          <a:lstStyle/>
          <a:p>
            <a:pPr algn="ctr" indent="0" marL="0">
              <a:lnSpc>
                <a:spcPct val="105000"/>
              </a:lnSpc>
              <a:buNone/>
            </a:pPr>
            <a:r>
              <a:rPr lang="en-US" sz="1500" b="1" dirty="0">
                <a:solidFill>
                  <a:srgbClr val="D4AF37"/>
                </a:solidFill>
              </a:rPr>
              <a:t>3</a:t>
            </a:r>
            <a:endParaRPr lang="en-US" sz="1500" dirty="0"/>
          </a:p>
          <a:p>
            <a:pPr algn="ctr" indent="0" marL="0">
              <a:lnSpc>
                <a:spcPct val="105000"/>
              </a:lnSpc>
              <a:buNone/>
            </a:pPr>
            <a:r>
              <a:rPr lang="en-US" sz="950" dirty="0">
                <a:solidFill>
                  <a:srgbClr val="F3EEE1"/>
                </a:solidFill>
              </a:rPr>
              <a:t>Microsoft Foundry Resource</a:t>
            </a:r>
            <a:endParaRPr lang="en-US" sz="1500" dirty="0"/>
          </a:p>
        </p:txBody>
      </p:sp>
      <p:sp>
        <p:nvSpPr>
          <p:cNvPr id="14" name="Shape 12"/>
          <p:cNvSpPr/>
          <p:nvPr/>
        </p:nvSpPr>
        <p:spPr>
          <a:xfrm>
            <a:off x="6876288" y="2212848"/>
            <a:ext cx="146304" cy="164592"/>
          </a:xfrm>
          <a:prstGeom prst="rightArrow">
            <a:avLst/>
          </a:prstGeom>
          <a:solidFill>
            <a:srgbClr val="D4AF37"/>
          </a:solidFill>
          <a:ln/>
        </p:spPr>
      </p:sp>
      <p:sp>
        <p:nvSpPr>
          <p:cNvPr id="15" name="Shape 13"/>
          <p:cNvSpPr/>
          <p:nvPr/>
        </p:nvSpPr>
        <p:spPr>
          <a:xfrm>
            <a:off x="7040880" y="1828800"/>
            <a:ext cx="2029968" cy="932688"/>
          </a:xfrm>
          <a:prstGeom prst="roundRect">
            <a:avLst>
              <a:gd name="adj" fmla="val 5882"/>
            </a:avLst>
          </a:prstGeom>
          <a:solidFill>
            <a:srgbClr val="1F1B10"/>
          </a:solidFill>
          <a:ln w="15875">
            <a:solidFill>
              <a:srgbClr val="D4AF37"/>
            </a:solidFill>
            <a:prstDash val="solid"/>
          </a:ln>
        </p:spPr>
      </p:sp>
      <p:sp>
        <p:nvSpPr>
          <p:cNvPr id="16" name="Text 14"/>
          <p:cNvSpPr/>
          <p:nvPr/>
        </p:nvSpPr>
        <p:spPr>
          <a:xfrm>
            <a:off x="7086600" y="1828800"/>
            <a:ext cx="1938528" cy="932688"/>
          </a:xfrm>
          <a:prstGeom prst="rect">
            <a:avLst/>
          </a:prstGeom>
          <a:noFill/>
          <a:ln/>
        </p:spPr>
        <p:txBody>
          <a:bodyPr wrap="square" lIns="0" tIns="0" rIns="0" bIns="0" rtlCol="0" anchor="ctr"/>
          <a:lstStyle/>
          <a:p>
            <a:pPr algn="ctr" indent="0" marL="0">
              <a:lnSpc>
                <a:spcPct val="105000"/>
              </a:lnSpc>
              <a:buNone/>
            </a:pPr>
            <a:r>
              <a:rPr lang="en-US" sz="1500" b="1" dirty="0">
                <a:solidFill>
                  <a:srgbClr val="D4AF37"/>
                </a:solidFill>
              </a:rPr>
              <a:t>4</a:t>
            </a:r>
            <a:endParaRPr lang="en-US" sz="1500" dirty="0"/>
          </a:p>
          <a:p>
            <a:pPr algn="ctr" indent="0" marL="0">
              <a:lnSpc>
                <a:spcPct val="105000"/>
              </a:lnSpc>
              <a:buNone/>
            </a:pPr>
            <a:r>
              <a:rPr lang="en-US" sz="950" dirty="0">
                <a:solidFill>
                  <a:srgbClr val="F3EEE1"/>
                </a:solidFill>
              </a:rPr>
              <a:t>Foundry Project</a:t>
            </a:r>
            <a:endParaRPr lang="en-US" sz="1500" dirty="0"/>
          </a:p>
        </p:txBody>
      </p:sp>
      <p:sp>
        <p:nvSpPr>
          <p:cNvPr id="17" name="Shape 15"/>
          <p:cNvSpPr/>
          <p:nvPr/>
        </p:nvSpPr>
        <p:spPr>
          <a:xfrm>
            <a:off x="9070848" y="2212848"/>
            <a:ext cx="146304" cy="164592"/>
          </a:xfrm>
          <a:prstGeom prst="rightArrow">
            <a:avLst/>
          </a:prstGeom>
          <a:solidFill>
            <a:srgbClr val="D4AF37"/>
          </a:solidFill>
          <a:ln/>
        </p:spPr>
      </p:sp>
      <p:sp>
        <p:nvSpPr>
          <p:cNvPr id="18" name="Shape 16"/>
          <p:cNvSpPr/>
          <p:nvPr/>
        </p:nvSpPr>
        <p:spPr>
          <a:xfrm>
            <a:off x="9235440" y="1828800"/>
            <a:ext cx="2029968" cy="932688"/>
          </a:xfrm>
          <a:prstGeom prst="roundRect">
            <a:avLst>
              <a:gd name="adj" fmla="val 5882"/>
            </a:avLst>
          </a:prstGeom>
          <a:solidFill>
            <a:srgbClr val="1F1B10"/>
          </a:solidFill>
          <a:ln w="15875">
            <a:solidFill>
              <a:srgbClr val="D4AF37"/>
            </a:solidFill>
            <a:prstDash val="solid"/>
          </a:ln>
        </p:spPr>
      </p:sp>
      <p:sp>
        <p:nvSpPr>
          <p:cNvPr id="19" name="Text 17"/>
          <p:cNvSpPr/>
          <p:nvPr/>
        </p:nvSpPr>
        <p:spPr>
          <a:xfrm>
            <a:off x="9281160" y="1828800"/>
            <a:ext cx="1938528" cy="932688"/>
          </a:xfrm>
          <a:prstGeom prst="rect">
            <a:avLst/>
          </a:prstGeom>
          <a:noFill/>
          <a:ln/>
        </p:spPr>
        <p:txBody>
          <a:bodyPr wrap="square" lIns="0" tIns="0" rIns="0" bIns="0" rtlCol="0" anchor="ctr"/>
          <a:lstStyle/>
          <a:p>
            <a:pPr algn="ctr" indent="0" marL="0">
              <a:lnSpc>
                <a:spcPct val="105000"/>
              </a:lnSpc>
              <a:buNone/>
            </a:pPr>
            <a:r>
              <a:rPr lang="en-US" sz="1500" b="1" dirty="0">
                <a:solidFill>
                  <a:srgbClr val="D4AF37"/>
                </a:solidFill>
              </a:rPr>
              <a:t>5</a:t>
            </a:r>
            <a:endParaRPr lang="en-US" sz="1500" dirty="0"/>
          </a:p>
          <a:p>
            <a:pPr algn="ctr" indent="0" marL="0">
              <a:lnSpc>
                <a:spcPct val="105000"/>
              </a:lnSpc>
              <a:buNone/>
            </a:pPr>
            <a:r>
              <a:rPr lang="en-US" sz="950" dirty="0">
                <a:solidFill>
                  <a:srgbClr val="F3EEE1"/>
                </a:solidFill>
              </a:rPr>
              <a:t>Model Catalog</a:t>
            </a:r>
            <a:endParaRPr lang="en-US" sz="1500" dirty="0"/>
          </a:p>
        </p:txBody>
      </p:sp>
      <p:sp>
        <p:nvSpPr>
          <p:cNvPr id="20" name="Shape 18"/>
          <p:cNvSpPr/>
          <p:nvPr/>
        </p:nvSpPr>
        <p:spPr>
          <a:xfrm>
            <a:off x="457200" y="3218688"/>
            <a:ext cx="2029968" cy="932688"/>
          </a:xfrm>
          <a:prstGeom prst="roundRect">
            <a:avLst>
              <a:gd name="adj" fmla="val 5882"/>
            </a:avLst>
          </a:prstGeom>
          <a:solidFill>
            <a:srgbClr val="1F1B10"/>
          </a:solidFill>
          <a:ln w="15875">
            <a:solidFill>
              <a:srgbClr val="D4AF37"/>
            </a:solidFill>
            <a:prstDash val="solid"/>
          </a:ln>
        </p:spPr>
      </p:sp>
      <p:sp>
        <p:nvSpPr>
          <p:cNvPr id="21" name="Text 19"/>
          <p:cNvSpPr/>
          <p:nvPr/>
        </p:nvSpPr>
        <p:spPr>
          <a:xfrm>
            <a:off x="502920" y="3218688"/>
            <a:ext cx="1938528" cy="932688"/>
          </a:xfrm>
          <a:prstGeom prst="rect">
            <a:avLst/>
          </a:prstGeom>
          <a:noFill/>
          <a:ln/>
        </p:spPr>
        <p:txBody>
          <a:bodyPr wrap="square" lIns="0" tIns="0" rIns="0" bIns="0" rtlCol="0" anchor="ctr"/>
          <a:lstStyle/>
          <a:p>
            <a:pPr algn="ctr" indent="0" marL="0">
              <a:lnSpc>
                <a:spcPct val="105000"/>
              </a:lnSpc>
              <a:buNone/>
            </a:pPr>
            <a:r>
              <a:rPr lang="en-US" sz="1500" b="1" dirty="0">
                <a:solidFill>
                  <a:srgbClr val="D4AF37"/>
                </a:solidFill>
              </a:rPr>
              <a:t>6</a:t>
            </a:r>
            <a:endParaRPr lang="en-US" sz="1500" dirty="0"/>
          </a:p>
          <a:p>
            <a:pPr algn="ctr" indent="0" marL="0">
              <a:lnSpc>
                <a:spcPct val="105000"/>
              </a:lnSpc>
              <a:buNone/>
            </a:pPr>
            <a:r>
              <a:rPr lang="en-US" sz="950" dirty="0">
                <a:solidFill>
                  <a:srgbClr val="F3EEE1"/>
                </a:solidFill>
              </a:rPr>
              <a:t>Select Claude Model</a:t>
            </a:r>
            <a:endParaRPr lang="en-US" sz="1500" dirty="0"/>
          </a:p>
        </p:txBody>
      </p:sp>
      <p:sp>
        <p:nvSpPr>
          <p:cNvPr id="22" name="Shape 20"/>
          <p:cNvSpPr/>
          <p:nvPr/>
        </p:nvSpPr>
        <p:spPr>
          <a:xfrm>
            <a:off x="2487168" y="3602736"/>
            <a:ext cx="146304" cy="164592"/>
          </a:xfrm>
          <a:prstGeom prst="rightArrow">
            <a:avLst/>
          </a:prstGeom>
          <a:solidFill>
            <a:srgbClr val="D4AF37"/>
          </a:solidFill>
          <a:ln/>
        </p:spPr>
      </p:sp>
      <p:sp>
        <p:nvSpPr>
          <p:cNvPr id="23" name="Shape 21"/>
          <p:cNvSpPr/>
          <p:nvPr/>
        </p:nvSpPr>
        <p:spPr>
          <a:xfrm>
            <a:off x="2651760" y="3218688"/>
            <a:ext cx="2029968" cy="932688"/>
          </a:xfrm>
          <a:prstGeom prst="roundRect">
            <a:avLst>
              <a:gd name="adj" fmla="val 5882"/>
            </a:avLst>
          </a:prstGeom>
          <a:solidFill>
            <a:srgbClr val="1F1B10"/>
          </a:solidFill>
          <a:ln w="15875">
            <a:solidFill>
              <a:srgbClr val="D4AF37"/>
            </a:solidFill>
            <a:prstDash val="solid"/>
          </a:ln>
        </p:spPr>
      </p:sp>
      <p:sp>
        <p:nvSpPr>
          <p:cNvPr id="24" name="Text 22"/>
          <p:cNvSpPr/>
          <p:nvPr/>
        </p:nvSpPr>
        <p:spPr>
          <a:xfrm>
            <a:off x="2697480" y="3218688"/>
            <a:ext cx="1938528" cy="932688"/>
          </a:xfrm>
          <a:prstGeom prst="rect">
            <a:avLst/>
          </a:prstGeom>
          <a:noFill/>
          <a:ln/>
        </p:spPr>
        <p:txBody>
          <a:bodyPr wrap="square" lIns="0" tIns="0" rIns="0" bIns="0" rtlCol="0" anchor="ctr"/>
          <a:lstStyle/>
          <a:p>
            <a:pPr algn="ctr" indent="0" marL="0">
              <a:lnSpc>
                <a:spcPct val="105000"/>
              </a:lnSpc>
              <a:buNone/>
            </a:pPr>
            <a:r>
              <a:rPr lang="en-US" sz="1500" b="1" dirty="0">
                <a:solidFill>
                  <a:srgbClr val="D4AF37"/>
                </a:solidFill>
              </a:rPr>
              <a:t>7</a:t>
            </a:r>
            <a:endParaRPr lang="en-US" sz="1500" dirty="0"/>
          </a:p>
          <a:p>
            <a:pPr algn="ctr" indent="0" marL="0">
              <a:lnSpc>
                <a:spcPct val="105000"/>
              </a:lnSpc>
              <a:buNone/>
            </a:pPr>
            <a:r>
              <a:rPr lang="en-US" sz="950" dirty="0">
                <a:solidFill>
                  <a:srgbClr val="F3EEE1"/>
                </a:solidFill>
              </a:rPr>
              <a:t>Choose Version (Hosted on Anthropic Infra)</a:t>
            </a:r>
            <a:endParaRPr lang="en-US" sz="1500" dirty="0"/>
          </a:p>
        </p:txBody>
      </p:sp>
      <p:sp>
        <p:nvSpPr>
          <p:cNvPr id="25" name="Shape 23"/>
          <p:cNvSpPr/>
          <p:nvPr/>
        </p:nvSpPr>
        <p:spPr>
          <a:xfrm>
            <a:off x="4681728" y="3602736"/>
            <a:ext cx="146304" cy="164592"/>
          </a:xfrm>
          <a:prstGeom prst="rightArrow">
            <a:avLst/>
          </a:prstGeom>
          <a:solidFill>
            <a:srgbClr val="D4AF37"/>
          </a:solidFill>
          <a:ln/>
        </p:spPr>
      </p:sp>
      <p:sp>
        <p:nvSpPr>
          <p:cNvPr id="26" name="Shape 24"/>
          <p:cNvSpPr/>
          <p:nvPr/>
        </p:nvSpPr>
        <p:spPr>
          <a:xfrm>
            <a:off x="4846320" y="3218688"/>
            <a:ext cx="2029968" cy="932688"/>
          </a:xfrm>
          <a:prstGeom prst="roundRect">
            <a:avLst>
              <a:gd name="adj" fmla="val 5882"/>
            </a:avLst>
          </a:prstGeom>
          <a:solidFill>
            <a:srgbClr val="1F1B10"/>
          </a:solidFill>
          <a:ln w="15875">
            <a:solidFill>
              <a:srgbClr val="D4AF37"/>
            </a:solidFill>
            <a:prstDash val="solid"/>
          </a:ln>
        </p:spPr>
      </p:sp>
      <p:sp>
        <p:nvSpPr>
          <p:cNvPr id="27" name="Text 25"/>
          <p:cNvSpPr/>
          <p:nvPr/>
        </p:nvSpPr>
        <p:spPr>
          <a:xfrm>
            <a:off x="4892040" y="3218688"/>
            <a:ext cx="1938528" cy="932688"/>
          </a:xfrm>
          <a:prstGeom prst="rect">
            <a:avLst/>
          </a:prstGeom>
          <a:noFill/>
          <a:ln/>
        </p:spPr>
        <p:txBody>
          <a:bodyPr wrap="square" lIns="0" tIns="0" rIns="0" bIns="0" rtlCol="0" anchor="ctr"/>
          <a:lstStyle/>
          <a:p>
            <a:pPr algn="ctr" indent="0" marL="0">
              <a:lnSpc>
                <a:spcPct val="105000"/>
              </a:lnSpc>
              <a:buNone/>
            </a:pPr>
            <a:r>
              <a:rPr lang="en-US" sz="1500" b="1" dirty="0">
                <a:solidFill>
                  <a:srgbClr val="D4AF37"/>
                </a:solidFill>
              </a:rPr>
              <a:t>8</a:t>
            </a:r>
            <a:endParaRPr lang="en-US" sz="1500" dirty="0"/>
          </a:p>
          <a:p>
            <a:pPr algn="ctr" indent="0" marL="0">
              <a:lnSpc>
                <a:spcPct val="105000"/>
              </a:lnSpc>
              <a:buNone/>
            </a:pPr>
            <a:r>
              <a:rPr lang="en-US" sz="950" dirty="0">
                <a:solidFill>
                  <a:srgbClr val="F3EEE1"/>
                </a:solidFill>
              </a:rPr>
              <a:t>Deploy</a:t>
            </a:r>
            <a:endParaRPr lang="en-US" sz="1500" dirty="0"/>
          </a:p>
        </p:txBody>
      </p:sp>
      <p:sp>
        <p:nvSpPr>
          <p:cNvPr id="28" name="Shape 26"/>
          <p:cNvSpPr/>
          <p:nvPr/>
        </p:nvSpPr>
        <p:spPr>
          <a:xfrm>
            <a:off x="6876288" y="3602736"/>
            <a:ext cx="146304" cy="164592"/>
          </a:xfrm>
          <a:prstGeom prst="rightArrow">
            <a:avLst/>
          </a:prstGeom>
          <a:solidFill>
            <a:srgbClr val="D4AF37"/>
          </a:solidFill>
          <a:ln/>
        </p:spPr>
      </p:sp>
      <p:sp>
        <p:nvSpPr>
          <p:cNvPr id="29" name="Shape 27"/>
          <p:cNvSpPr/>
          <p:nvPr/>
        </p:nvSpPr>
        <p:spPr>
          <a:xfrm>
            <a:off x="7040880" y="3218688"/>
            <a:ext cx="2029968" cy="932688"/>
          </a:xfrm>
          <a:prstGeom prst="roundRect">
            <a:avLst>
              <a:gd name="adj" fmla="val 5882"/>
            </a:avLst>
          </a:prstGeom>
          <a:solidFill>
            <a:srgbClr val="1F1B10"/>
          </a:solidFill>
          <a:ln w="15875">
            <a:solidFill>
              <a:srgbClr val="D4AF37"/>
            </a:solidFill>
            <a:prstDash val="solid"/>
          </a:ln>
        </p:spPr>
      </p:sp>
      <p:sp>
        <p:nvSpPr>
          <p:cNvPr id="30" name="Text 28"/>
          <p:cNvSpPr/>
          <p:nvPr/>
        </p:nvSpPr>
        <p:spPr>
          <a:xfrm>
            <a:off x="7086600" y="3218688"/>
            <a:ext cx="1938528" cy="932688"/>
          </a:xfrm>
          <a:prstGeom prst="rect">
            <a:avLst/>
          </a:prstGeom>
          <a:noFill/>
          <a:ln/>
        </p:spPr>
        <p:txBody>
          <a:bodyPr wrap="square" lIns="0" tIns="0" rIns="0" bIns="0" rtlCol="0" anchor="ctr"/>
          <a:lstStyle/>
          <a:p>
            <a:pPr algn="ctr" indent="0" marL="0">
              <a:lnSpc>
                <a:spcPct val="105000"/>
              </a:lnSpc>
              <a:buNone/>
            </a:pPr>
            <a:r>
              <a:rPr lang="en-US" sz="1500" b="1" dirty="0">
                <a:solidFill>
                  <a:srgbClr val="D4AF37"/>
                </a:solidFill>
              </a:rPr>
              <a:t>9</a:t>
            </a:r>
            <a:endParaRPr lang="en-US" sz="1500" dirty="0"/>
          </a:p>
          <a:p>
            <a:pPr algn="ctr" indent="0" marL="0">
              <a:lnSpc>
                <a:spcPct val="105000"/>
              </a:lnSpc>
              <a:buNone/>
            </a:pPr>
            <a:r>
              <a:rPr lang="en-US" sz="950" dirty="0">
                <a:solidFill>
                  <a:srgbClr val="F3EEE1"/>
                </a:solidFill>
              </a:rPr>
              <a:t>Playground Testing</a:t>
            </a:r>
            <a:endParaRPr lang="en-US" sz="1500" dirty="0"/>
          </a:p>
        </p:txBody>
      </p:sp>
      <p:sp>
        <p:nvSpPr>
          <p:cNvPr id="31" name="Shape 29"/>
          <p:cNvSpPr/>
          <p:nvPr/>
        </p:nvSpPr>
        <p:spPr>
          <a:xfrm>
            <a:off x="9070848" y="3602736"/>
            <a:ext cx="146304" cy="164592"/>
          </a:xfrm>
          <a:prstGeom prst="rightArrow">
            <a:avLst/>
          </a:prstGeom>
          <a:solidFill>
            <a:srgbClr val="D4AF37"/>
          </a:solidFill>
          <a:ln/>
        </p:spPr>
      </p:sp>
      <p:sp>
        <p:nvSpPr>
          <p:cNvPr id="32" name="Shape 30"/>
          <p:cNvSpPr/>
          <p:nvPr/>
        </p:nvSpPr>
        <p:spPr>
          <a:xfrm>
            <a:off x="9235440" y="3218688"/>
            <a:ext cx="2029968" cy="932688"/>
          </a:xfrm>
          <a:prstGeom prst="roundRect">
            <a:avLst>
              <a:gd name="adj" fmla="val 5882"/>
            </a:avLst>
          </a:prstGeom>
          <a:solidFill>
            <a:srgbClr val="1F1B10"/>
          </a:solidFill>
          <a:ln w="15875">
            <a:solidFill>
              <a:srgbClr val="D4AF37"/>
            </a:solidFill>
            <a:prstDash val="solid"/>
          </a:ln>
        </p:spPr>
      </p:sp>
      <p:sp>
        <p:nvSpPr>
          <p:cNvPr id="33" name="Text 31"/>
          <p:cNvSpPr/>
          <p:nvPr/>
        </p:nvSpPr>
        <p:spPr>
          <a:xfrm>
            <a:off x="9281160" y="3218688"/>
            <a:ext cx="1938528" cy="932688"/>
          </a:xfrm>
          <a:prstGeom prst="rect">
            <a:avLst/>
          </a:prstGeom>
          <a:noFill/>
          <a:ln/>
        </p:spPr>
        <p:txBody>
          <a:bodyPr wrap="square" lIns="0" tIns="0" rIns="0" bIns="0" rtlCol="0" anchor="ctr"/>
          <a:lstStyle/>
          <a:p>
            <a:pPr algn="ctr" indent="0" marL="0">
              <a:lnSpc>
                <a:spcPct val="105000"/>
              </a:lnSpc>
              <a:buNone/>
            </a:pPr>
            <a:r>
              <a:rPr lang="en-US" sz="1500" b="1" dirty="0">
                <a:solidFill>
                  <a:srgbClr val="D4AF37"/>
                </a:solidFill>
              </a:rPr>
              <a:t>10</a:t>
            </a:r>
            <a:endParaRPr lang="en-US" sz="1500" dirty="0"/>
          </a:p>
          <a:p>
            <a:pPr algn="ctr" indent="0" marL="0">
              <a:lnSpc>
                <a:spcPct val="105000"/>
              </a:lnSpc>
              <a:buNone/>
            </a:pPr>
            <a:r>
              <a:rPr lang="en-US" sz="950" dirty="0">
                <a:solidFill>
                  <a:srgbClr val="F3EEE1"/>
                </a:solidFill>
              </a:rPr>
              <a:t>Application Integration</a:t>
            </a:r>
            <a:endParaRPr lang="en-US" sz="1500" dirty="0"/>
          </a:p>
        </p:txBody>
      </p:sp>
      <p:sp>
        <p:nvSpPr>
          <p:cNvPr id="34" name="Text 32"/>
          <p:cNvSpPr/>
          <p:nvPr/>
        </p:nvSpPr>
        <p:spPr>
          <a:xfrm>
            <a:off x="457200" y="6080760"/>
            <a:ext cx="11274552" cy="320040"/>
          </a:xfrm>
          <a:prstGeom prst="rect">
            <a:avLst/>
          </a:prstGeom>
          <a:noFill/>
          <a:ln/>
        </p:spPr>
        <p:txBody>
          <a:bodyPr wrap="square" lIns="0" tIns="0" rIns="0" bIns="0" rtlCol="0" anchor="ctr"/>
          <a:lstStyle/>
          <a:p>
            <a:pPr indent="0" marL="0">
              <a:buNone/>
            </a:pPr>
            <a:r>
              <a:rPr lang="en-US" sz="1150" i="1" dirty="0">
                <a:solidFill>
                  <a:srgbClr val="756E5C"/>
                </a:solidFill>
                <a:latin typeface="Calibri" pitchFamily="34" charset="0"/>
                <a:ea typeface="Calibri" pitchFamily="34" charset="-122"/>
                <a:cs typeface="Calibri" pitchFamily="34" charset="-120"/>
              </a:rPr>
              <a:t>Deployment workflow follows Microsoft's Foundry deployment process for Claude models.</a:t>
            </a:r>
            <a:endParaRPr lang="en-US" sz="1150" dirty="0"/>
          </a:p>
        </p:txBody>
      </p:sp>
      <p:sp>
        <p:nvSpPr>
          <p:cNvPr id="35" name="Text 33"/>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36" name="Text 34"/>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ENTERPRISE PATTERN 1</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800" b="1" dirty="0">
                <a:solidFill>
                  <a:srgbClr val="F3EEE1"/>
                </a:solidFill>
                <a:latin typeface="Cambria" pitchFamily="34" charset="0"/>
                <a:ea typeface="Cambria" pitchFamily="34" charset="-122"/>
                <a:cs typeface="Cambria" pitchFamily="34" charset="-120"/>
              </a:rPr>
              <a:t>Claude + Azure AI Search (RAG)</a:t>
            </a:r>
            <a:endParaRPr lang="en-US" sz="2800" dirty="0"/>
          </a:p>
        </p:txBody>
      </p:sp>
      <p:sp>
        <p:nvSpPr>
          <p:cNvPr id="5" name="Text 3"/>
          <p:cNvSpPr/>
          <p:nvPr/>
        </p:nvSpPr>
        <p:spPr>
          <a:xfrm>
            <a:off x="457200" y="1371600"/>
            <a:ext cx="457200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ARCHITECTURE</a:t>
            </a:r>
            <a:endParaRPr lang="en-US" sz="1150" dirty="0"/>
          </a:p>
        </p:txBody>
      </p:sp>
      <p:sp>
        <p:nvSpPr>
          <p:cNvPr id="6" name="Shape 4"/>
          <p:cNvSpPr/>
          <p:nvPr/>
        </p:nvSpPr>
        <p:spPr>
          <a:xfrm>
            <a:off x="1463040" y="1691640"/>
            <a:ext cx="3657600" cy="566928"/>
          </a:xfrm>
          <a:prstGeom prst="roundRect">
            <a:avLst>
              <a:gd name="adj" fmla="val 9677"/>
            </a:avLst>
          </a:prstGeom>
          <a:solidFill>
            <a:srgbClr val="161616"/>
          </a:solidFill>
          <a:ln w="15875">
            <a:solidFill>
              <a:srgbClr val="3A3226"/>
            </a:solidFill>
            <a:prstDash val="solid"/>
          </a:ln>
        </p:spPr>
      </p:sp>
      <p:sp>
        <p:nvSpPr>
          <p:cNvPr id="7" name="Text 5"/>
          <p:cNvSpPr/>
          <p:nvPr/>
        </p:nvSpPr>
        <p:spPr>
          <a:xfrm>
            <a:off x="1508760" y="1691640"/>
            <a:ext cx="3566160" cy="566928"/>
          </a:xfrm>
          <a:prstGeom prst="rect">
            <a:avLst/>
          </a:prstGeom>
          <a:noFill/>
          <a:ln/>
        </p:spPr>
        <p:txBody>
          <a:bodyPr wrap="square" lIns="0" tIns="0" rIns="0" bIns="0" rtlCol="0" anchor="ctr"/>
          <a:lstStyle/>
          <a:p>
            <a:pPr algn="ctr" indent="0" marL="0">
              <a:buNone/>
            </a:pPr>
            <a:r>
              <a:rPr lang="en-US" sz="1250" b="1" dirty="0">
                <a:solidFill>
                  <a:srgbClr val="F3EEE1"/>
                </a:solidFill>
                <a:latin typeface="Calibri" pitchFamily="34" charset="0"/>
                <a:ea typeface="Calibri" pitchFamily="34" charset="-122"/>
                <a:cs typeface="Calibri" pitchFamily="34" charset="-120"/>
              </a:rPr>
              <a:t>User</a:t>
            </a:r>
            <a:endParaRPr lang="en-US" sz="1250" dirty="0"/>
          </a:p>
        </p:txBody>
      </p:sp>
      <p:sp>
        <p:nvSpPr>
          <p:cNvPr id="8" name="Shape 6"/>
          <p:cNvSpPr/>
          <p:nvPr/>
        </p:nvSpPr>
        <p:spPr>
          <a:xfrm>
            <a:off x="3209544" y="2258568"/>
            <a:ext cx="164592" cy="182880"/>
          </a:xfrm>
          <a:prstGeom prst="downArrow">
            <a:avLst/>
          </a:prstGeom>
          <a:solidFill>
            <a:srgbClr val="D4AF37"/>
          </a:solidFill>
          <a:ln/>
        </p:spPr>
      </p:sp>
      <p:sp>
        <p:nvSpPr>
          <p:cNvPr id="9" name="Shape 7"/>
          <p:cNvSpPr/>
          <p:nvPr/>
        </p:nvSpPr>
        <p:spPr>
          <a:xfrm>
            <a:off x="1463040" y="2441448"/>
            <a:ext cx="3657600" cy="566928"/>
          </a:xfrm>
          <a:prstGeom prst="roundRect">
            <a:avLst>
              <a:gd name="adj" fmla="val 9677"/>
            </a:avLst>
          </a:prstGeom>
          <a:solidFill>
            <a:srgbClr val="161616"/>
          </a:solidFill>
          <a:ln w="15875">
            <a:solidFill>
              <a:srgbClr val="3A3226"/>
            </a:solidFill>
            <a:prstDash val="solid"/>
          </a:ln>
        </p:spPr>
      </p:sp>
      <p:sp>
        <p:nvSpPr>
          <p:cNvPr id="10" name="Text 8"/>
          <p:cNvSpPr/>
          <p:nvPr/>
        </p:nvSpPr>
        <p:spPr>
          <a:xfrm>
            <a:off x="1508760" y="2441448"/>
            <a:ext cx="3566160" cy="566928"/>
          </a:xfrm>
          <a:prstGeom prst="rect">
            <a:avLst/>
          </a:prstGeom>
          <a:noFill/>
          <a:ln/>
        </p:spPr>
        <p:txBody>
          <a:bodyPr wrap="square" lIns="0" tIns="0" rIns="0" bIns="0" rtlCol="0" anchor="ctr"/>
          <a:lstStyle/>
          <a:p>
            <a:pPr algn="ctr" indent="0" marL="0">
              <a:buNone/>
            </a:pPr>
            <a:r>
              <a:rPr lang="en-US" sz="1250" b="1" dirty="0">
                <a:solidFill>
                  <a:srgbClr val="F3EEE1"/>
                </a:solidFill>
                <a:latin typeface="Calibri" pitchFamily="34" charset="0"/>
                <a:ea typeface="Calibri" pitchFamily="34" charset="-122"/>
                <a:cs typeface="Calibri" pitchFamily="34" charset="-120"/>
              </a:rPr>
              <a:t>Application</a:t>
            </a:r>
            <a:endParaRPr lang="en-US" sz="1250" dirty="0"/>
          </a:p>
        </p:txBody>
      </p:sp>
      <p:sp>
        <p:nvSpPr>
          <p:cNvPr id="11" name="Shape 9"/>
          <p:cNvSpPr/>
          <p:nvPr/>
        </p:nvSpPr>
        <p:spPr>
          <a:xfrm>
            <a:off x="3209544" y="3008376"/>
            <a:ext cx="164592" cy="182880"/>
          </a:xfrm>
          <a:prstGeom prst="downArrow">
            <a:avLst/>
          </a:prstGeom>
          <a:solidFill>
            <a:srgbClr val="D4AF37"/>
          </a:solidFill>
          <a:ln/>
        </p:spPr>
      </p:sp>
      <p:sp>
        <p:nvSpPr>
          <p:cNvPr id="12" name="Shape 10"/>
          <p:cNvSpPr/>
          <p:nvPr/>
        </p:nvSpPr>
        <p:spPr>
          <a:xfrm>
            <a:off x="1463040" y="3191256"/>
            <a:ext cx="3657600" cy="566928"/>
          </a:xfrm>
          <a:prstGeom prst="roundRect">
            <a:avLst>
              <a:gd name="adj" fmla="val 9677"/>
            </a:avLst>
          </a:prstGeom>
          <a:solidFill>
            <a:srgbClr val="161616"/>
          </a:solidFill>
          <a:ln w="15875">
            <a:solidFill>
              <a:srgbClr val="3A3226"/>
            </a:solidFill>
            <a:prstDash val="solid"/>
          </a:ln>
        </p:spPr>
      </p:sp>
      <p:sp>
        <p:nvSpPr>
          <p:cNvPr id="13" name="Text 11"/>
          <p:cNvSpPr/>
          <p:nvPr/>
        </p:nvSpPr>
        <p:spPr>
          <a:xfrm>
            <a:off x="1508760" y="3191256"/>
            <a:ext cx="3566160" cy="566928"/>
          </a:xfrm>
          <a:prstGeom prst="rect">
            <a:avLst/>
          </a:prstGeom>
          <a:noFill/>
          <a:ln/>
        </p:spPr>
        <p:txBody>
          <a:bodyPr wrap="square" lIns="0" tIns="0" rIns="0" bIns="0" rtlCol="0" anchor="ctr"/>
          <a:lstStyle/>
          <a:p>
            <a:pPr algn="ctr" indent="0" marL="0">
              <a:buNone/>
            </a:pPr>
            <a:r>
              <a:rPr lang="en-US" sz="1250" b="1" dirty="0">
                <a:solidFill>
                  <a:srgbClr val="F3EEE1"/>
                </a:solidFill>
                <a:latin typeface="Calibri" pitchFamily="34" charset="0"/>
                <a:ea typeface="Calibri" pitchFamily="34" charset="-122"/>
                <a:cs typeface="Calibri" pitchFamily="34" charset="-120"/>
              </a:rPr>
              <a:t>Azure AI Search</a:t>
            </a:r>
            <a:endParaRPr lang="en-US" sz="1250" dirty="0"/>
          </a:p>
        </p:txBody>
      </p:sp>
      <p:sp>
        <p:nvSpPr>
          <p:cNvPr id="14" name="Shape 12"/>
          <p:cNvSpPr/>
          <p:nvPr/>
        </p:nvSpPr>
        <p:spPr>
          <a:xfrm>
            <a:off x="3209544" y="3758184"/>
            <a:ext cx="164592" cy="182880"/>
          </a:xfrm>
          <a:prstGeom prst="downArrow">
            <a:avLst/>
          </a:prstGeom>
          <a:solidFill>
            <a:srgbClr val="D4AF37"/>
          </a:solidFill>
          <a:ln/>
        </p:spPr>
      </p:sp>
      <p:sp>
        <p:nvSpPr>
          <p:cNvPr id="15" name="Shape 13"/>
          <p:cNvSpPr/>
          <p:nvPr/>
        </p:nvSpPr>
        <p:spPr>
          <a:xfrm>
            <a:off x="1463040" y="3941064"/>
            <a:ext cx="3657600" cy="566928"/>
          </a:xfrm>
          <a:prstGeom prst="roundRect">
            <a:avLst>
              <a:gd name="adj" fmla="val 9677"/>
            </a:avLst>
          </a:prstGeom>
          <a:solidFill>
            <a:srgbClr val="161616"/>
          </a:solidFill>
          <a:ln w="15875">
            <a:solidFill>
              <a:srgbClr val="3A3226"/>
            </a:solidFill>
            <a:prstDash val="solid"/>
          </a:ln>
        </p:spPr>
      </p:sp>
      <p:sp>
        <p:nvSpPr>
          <p:cNvPr id="16" name="Text 14"/>
          <p:cNvSpPr/>
          <p:nvPr/>
        </p:nvSpPr>
        <p:spPr>
          <a:xfrm>
            <a:off x="1508760" y="3941064"/>
            <a:ext cx="3566160" cy="566928"/>
          </a:xfrm>
          <a:prstGeom prst="rect">
            <a:avLst/>
          </a:prstGeom>
          <a:noFill/>
          <a:ln/>
        </p:spPr>
        <p:txBody>
          <a:bodyPr wrap="square" lIns="0" tIns="0" rIns="0" bIns="0" rtlCol="0" anchor="ctr"/>
          <a:lstStyle/>
          <a:p>
            <a:pPr algn="ctr" indent="0" marL="0">
              <a:buNone/>
            </a:pPr>
            <a:r>
              <a:rPr lang="en-US" sz="1250" b="1" dirty="0">
                <a:solidFill>
                  <a:srgbClr val="F3EEE1"/>
                </a:solidFill>
                <a:latin typeface="Calibri" pitchFamily="34" charset="0"/>
                <a:ea typeface="Calibri" pitchFamily="34" charset="-122"/>
                <a:cs typeface="Calibri" pitchFamily="34" charset="-120"/>
              </a:rPr>
              <a:t>Retrieve Documents</a:t>
            </a:r>
            <a:endParaRPr lang="en-US" sz="1250" dirty="0"/>
          </a:p>
        </p:txBody>
      </p:sp>
      <p:sp>
        <p:nvSpPr>
          <p:cNvPr id="17" name="Shape 15"/>
          <p:cNvSpPr/>
          <p:nvPr/>
        </p:nvSpPr>
        <p:spPr>
          <a:xfrm>
            <a:off x="3209544" y="4507992"/>
            <a:ext cx="164592" cy="182880"/>
          </a:xfrm>
          <a:prstGeom prst="downArrow">
            <a:avLst/>
          </a:prstGeom>
          <a:solidFill>
            <a:srgbClr val="D4AF37"/>
          </a:solidFill>
          <a:ln/>
        </p:spPr>
      </p:sp>
      <p:sp>
        <p:nvSpPr>
          <p:cNvPr id="18" name="Shape 16"/>
          <p:cNvSpPr/>
          <p:nvPr/>
        </p:nvSpPr>
        <p:spPr>
          <a:xfrm>
            <a:off x="1463040" y="4690872"/>
            <a:ext cx="3657600" cy="566928"/>
          </a:xfrm>
          <a:prstGeom prst="roundRect">
            <a:avLst>
              <a:gd name="adj" fmla="val 9677"/>
            </a:avLst>
          </a:prstGeom>
          <a:solidFill>
            <a:srgbClr val="1F1B10"/>
          </a:solidFill>
          <a:ln w="15875">
            <a:solidFill>
              <a:srgbClr val="D4AF37"/>
            </a:solidFill>
            <a:prstDash val="solid"/>
          </a:ln>
        </p:spPr>
      </p:sp>
      <p:sp>
        <p:nvSpPr>
          <p:cNvPr id="19" name="Text 17"/>
          <p:cNvSpPr/>
          <p:nvPr/>
        </p:nvSpPr>
        <p:spPr>
          <a:xfrm>
            <a:off x="1508760" y="4690872"/>
            <a:ext cx="3566160" cy="566928"/>
          </a:xfrm>
          <a:prstGeom prst="rect">
            <a:avLst/>
          </a:prstGeom>
          <a:noFill/>
          <a:ln/>
        </p:spPr>
        <p:txBody>
          <a:bodyPr wrap="square" lIns="0" tIns="0" rIns="0" bIns="0" rtlCol="0" anchor="ctr"/>
          <a:lstStyle/>
          <a:p>
            <a:pPr algn="ctr" indent="0" marL="0">
              <a:buNone/>
            </a:pPr>
            <a:r>
              <a:rPr lang="en-US" sz="1250" b="1" dirty="0">
                <a:solidFill>
                  <a:srgbClr val="E8CC6B"/>
                </a:solidFill>
                <a:latin typeface="Calibri" pitchFamily="34" charset="0"/>
                <a:ea typeface="Calibri" pitchFamily="34" charset="-122"/>
                <a:cs typeface="Calibri" pitchFamily="34" charset="-120"/>
              </a:rPr>
              <a:t>Claude Sonnet</a:t>
            </a:r>
            <a:endParaRPr lang="en-US" sz="1250" dirty="0"/>
          </a:p>
        </p:txBody>
      </p:sp>
      <p:sp>
        <p:nvSpPr>
          <p:cNvPr id="20" name="Shape 18"/>
          <p:cNvSpPr/>
          <p:nvPr/>
        </p:nvSpPr>
        <p:spPr>
          <a:xfrm>
            <a:off x="3209544" y="5257800"/>
            <a:ext cx="164592" cy="182880"/>
          </a:xfrm>
          <a:prstGeom prst="downArrow">
            <a:avLst/>
          </a:prstGeom>
          <a:solidFill>
            <a:srgbClr val="D4AF37"/>
          </a:solidFill>
          <a:ln/>
        </p:spPr>
      </p:sp>
      <p:sp>
        <p:nvSpPr>
          <p:cNvPr id="21" name="Shape 19"/>
          <p:cNvSpPr/>
          <p:nvPr/>
        </p:nvSpPr>
        <p:spPr>
          <a:xfrm>
            <a:off x="1463040" y="5440680"/>
            <a:ext cx="3657600" cy="566928"/>
          </a:xfrm>
          <a:prstGeom prst="roundRect">
            <a:avLst>
              <a:gd name="adj" fmla="val 9677"/>
            </a:avLst>
          </a:prstGeom>
          <a:solidFill>
            <a:srgbClr val="161616"/>
          </a:solidFill>
          <a:ln w="15875">
            <a:solidFill>
              <a:srgbClr val="3A3226"/>
            </a:solidFill>
            <a:prstDash val="solid"/>
          </a:ln>
        </p:spPr>
      </p:sp>
      <p:sp>
        <p:nvSpPr>
          <p:cNvPr id="22" name="Text 20"/>
          <p:cNvSpPr/>
          <p:nvPr/>
        </p:nvSpPr>
        <p:spPr>
          <a:xfrm>
            <a:off x="1508760" y="5440680"/>
            <a:ext cx="3566160" cy="566928"/>
          </a:xfrm>
          <a:prstGeom prst="rect">
            <a:avLst/>
          </a:prstGeom>
          <a:noFill/>
          <a:ln/>
        </p:spPr>
        <p:txBody>
          <a:bodyPr wrap="square" lIns="0" tIns="0" rIns="0" bIns="0" rtlCol="0" anchor="ctr"/>
          <a:lstStyle/>
          <a:p>
            <a:pPr algn="ctr" indent="0" marL="0">
              <a:buNone/>
            </a:pPr>
            <a:r>
              <a:rPr lang="en-US" sz="1250" b="1" dirty="0">
                <a:solidFill>
                  <a:srgbClr val="F3EEE1"/>
                </a:solidFill>
                <a:latin typeface="Calibri" pitchFamily="34" charset="0"/>
                <a:ea typeface="Calibri" pitchFamily="34" charset="-122"/>
                <a:cs typeface="Calibri" pitchFamily="34" charset="-120"/>
              </a:rPr>
              <a:t>Grounded Response</a:t>
            </a:r>
            <a:endParaRPr lang="en-US" sz="1250" dirty="0"/>
          </a:p>
        </p:txBody>
      </p:sp>
      <p:sp>
        <p:nvSpPr>
          <p:cNvPr id="23" name="Text 21"/>
          <p:cNvSpPr/>
          <p:nvPr/>
        </p:nvSpPr>
        <p:spPr>
          <a:xfrm>
            <a:off x="7315200" y="1371600"/>
            <a:ext cx="438912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BUSINESS USE CASES</a:t>
            </a:r>
            <a:endParaRPr lang="en-US" sz="1150" dirty="0"/>
          </a:p>
        </p:txBody>
      </p:sp>
      <p:sp>
        <p:nvSpPr>
          <p:cNvPr id="24" name="Text 22"/>
          <p:cNvSpPr/>
          <p:nvPr/>
        </p:nvSpPr>
        <p:spPr>
          <a:xfrm>
            <a:off x="7315200" y="1737360"/>
            <a:ext cx="4389120" cy="2377440"/>
          </a:xfrm>
          <a:prstGeom prst="rect">
            <a:avLst/>
          </a:prstGeom>
          <a:noFill/>
          <a:ln/>
        </p:spPr>
        <p:txBody>
          <a:bodyPr wrap="square" lIns="0" tIns="0" rIns="0" bIns="0" rtlCol="0" anchor="t"/>
          <a:lstStyle/>
          <a:p>
            <a:pPr marL="177800" indent="-177800">
              <a:lnSpc>
                <a:spcPct val="108000"/>
              </a:lnSpc>
              <a:spcAft>
                <a:spcPts val="1200"/>
              </a:spcAft>
              <a:buSzPct val="100000"/>
              <a:buChar char="▪"/>
            </a:pPr>
            <a:r>
              <a:rPr lang="en-US" sz="1300" dirty="0">
                <a:solidFill>
                  <a:srgbClr val="F3EEE1"/>
                </a:solidFill>
                <a:latin typeface="Calibri" pitchFamily="34" charset="0"/>
                <a:ea typeface="Calibri" pitchFamily="34" charset="-122"/>
                <a:cs typeface="Calibri" pitchFamily="34" charset="-120"/>
              </a:rPr>
              <a:t>HR Assistant</a:t>
            </a:r>
            <a:endParaRPr lang="en-US" sz="1300" dirty="0"/>
          </a:p>
          <a:p>
            <a:pPr marL="177800" indent="-177800">
              <a:lnSpc>
                <a:spcPct val="108000"/>
              </a:lnSpc>
              <a:spcAft>
                <a:spcPts val="1200"/>
              </a:spcAft>
              <a:buSzPct val="100000"/>
              <a:buChar char="▪"/>
            </a:pPr>
            <a:r>
              <a:rPr lang="en-US" sz="1300" dirty="0">
                <a:solidFill>
                  <a:srgbClr val="F3EEE1"/>
                </a:solidFill>
                <a:latin typeface="Calibri" pitchFamily="34" charset="0"/>
                <a:ea typeface="Calibri" pitchFamily="34" charset="-122"/>
                <a:cs typeface="Calibri" pitchFamily="34" charset="-120"/>
              </a:rPr>
              <a:t>Policy Search</a:t>
            </a:r>
            <a:endParaRPr lang="en-US" sz="1300" dirty="0"/>
          </a:p>
          <a:p>
            <a:pPr marL="177800" indent="-177800">
              <a:lnSpc>
                <a:spcPct val="108000"/>
              </a:lnSpc>
              <a:spcAft>
                <a:spcPts val="1200"/>
              </a:spcAft>
              <a:buSzPct val="100000"/>
              <a:buChar char="▪"/>
            </a:pPr>
            <a:r>
              <a:rPr lang="en-US" sz="1300" dirty="0">
                <a:solidFill>
                  <a:srgbClr val="F3EEE1"/>
                </a:solidFill>
                <a:latin typeface="Calibri" pitchFamily="34" charset="0"/>
                <a:ea typeface="Calibri" pitchFamily="34" charset="-122"/>
                <a:cs typeface="Calibri" pitchFamily="34" charset="-120"/>
              </a:rPr>
              <a:t>SharePoint Search</a:t>
            </a:r>
            <a:endParaRPr lang="en-US" sz="1300" dirty="0"/>
          </a:p>
          <a:p>
            <a:pPr marL="177800" indent="-177800">
              <a:lnSpc>
                <a:spcPct val="108000"/>
              </a:lnSpc>
              <a:spcAft>
                <a:spcPts val="1200"/>
              </a:spcAft>
              <a:buSzPct val="100000"/>
              <a:buChar char="▪"/>
            </a:pPr>
            <a:r>
              <a:rPr lang="en-US" sz="1300" dirty="0">
                <a:solidFill>
                  <a:srgbClr val="F3EEE1"/>
                </a:solidFill>
                <a:latin typeface="Calibri" pitchFamily="34" charset="0"/>
                <a:ea typeface="Calibri" pitchFamily="34" charset="-122"/>
                <a:cs typeface="Calibri" pitchFamily="34" charset="-120"/>
              </a:rPr>
              <a:t>Legal Knowledge Assistant</a:t>
            </a:r>
            <a:endParaRPr lang="en-US" sz="1300" dirty="0"/>
          </a:p>
          <a:p>
            <a:pPr marL="177800" indent="-177800">
              <a:lnSpc>
                <a:spcPct val="108000"/>
              </a:lnSpc>
              <a:spcAft>
                <a:spcPts val="1200"/>
              </a:spcAft>
              <a:buSzPct val="100000"/>
              <a:buChar char="▪"/>
            </a:pPr>
            <a:r>
              <a:rPr lang="en-US" sz="1300" dirty="0">
                <a:solidFill>
                  <a:srgbClr val="F3EEE1"/>
                </a:solidFill>
                <a:latin typeface="Calibri" pitchFamily="34" charset="0"/>
                <a:ea typeface="Calibri" pitchFamily="34" charset="-122"/>
                <a:cs typeface="Calibri" pitchFamily="34" charset="-120"/>
              </a:rPr>
              <a:t>Contract Analysis</a:t>
            </a:r>
            <a:endParaRPr lang="en-US" sz="1300" dirty="0"/>
          </a:p>
          <a:p>
            <a:pPr marL="177800" indent="-177800">
              <a:lnSpc>
                <a:spcPct val="108000"/>
              </a:lnSpc>
              <a:spcAft>
                <a:spcPts val="1200"/>
              </a:spcAft>
              <a:buSzPct val="100000"/>
              <a:buChar char="▪"/>
            </a:pPr>
            <a:r>
              <a:rPr lang="en-US" sz="1300" dirty="0">
                <a:solidFill>
                  <a:srgbClr val="F3EEE1"/>
                </a:solidFill>
                <a:latin typeface="Calibri" pitchFamily="34" charset="0"/>
                <a:ea typeface="Calibri" pitchFamily="34" charset="-122"/>
                <a:cs typeface="Calibri" pitchFamily="34" charset="-120"/>
              </a:rPr>
              <a:t>Enterprise Knowledge Bot</a:t>
            </a:r>
            <a:endParaRPr lang="en-US" sz="1300" dirty="0"/>
          </a:p>
        </p:txBody>
      </p:sp>
      <p:sp>
        <p:nvSpPr>
          <p:cNvPr id="25" name="Shape 23"/>
          <p:cNvSpPr/>
          <p:nvPr/>
        </p:nvSpPr>
        <p:spPr>
          <a:xfrm>
            <a:off x="7315200" y="4343400"/>
            <a:ext cx="4416552" cy="1737360"/>
          </a:xfrm>
          <a:prstGeom prst="roundRect">
            <a:avLst>
              <a:gd name="adj" fmla="val 3684"/>
            </a:avLst>
          </a:prstGeom>
          <a:solidFill>
            <a:srgbClr val="1F1B10"/>
          </a:solidFill>
          <a:ln w="12700">
            <a:solidFill>
              <a:srgbClr val="3A3226"/>
            </a:solidFill>
            <a:prstDash val="solid"/>
          </a:ln>
          <a:effectLst>
            <a:outerShdw sx="100000" sy="100000" kx="0" ky="0" algn="bl" rotWithShape="0" blurRad="101600" dist="38100" dir="5400000">
              <a:srgbClr val="000000">
                <a:alpha val="40000"/>
              </a:srgbClr>
            </a:outerShdw>
          </a:effectLst>
        </p:spPr>
      </p:sp>
      <p:sp>
        <p:nvSpPr>
          <p:cNvPr id="26" name="Text 24"/>
          <p:cNvSpPr/>
          <p:nvPr/>
        </p:nvSpPr>
        <p:spPr>
          <a:xfrm>
            <a:off x="7589520" y="4498848"/>
            <a:ext cx="393192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WHY THIS PATTERN?</a:t>
            </a:r>
            <a:endParaRPr lang="en-US" sz="1150" dirty="0"/>
          </a:p>
        </p:txBody>
      </p:sp>
      <p:sp>
        <p:nvSpPr>
          <p:cNvPr id="27" name="Text 25"/>
          <p:cNvSpPr/>
          <p:nvPr/>
        </p:nvSpPr>
        <p:spPr>
          <a:xfrm>
            <a:off x="7589520" y="4846320"/>
            <a:ext cx="3931920" cy="1097280"/>
          </a:xfrm>
          <a:prstGeom prst="rect">
            <a:avLst/>
          </a:prstGeom>
          <a:noFill/>
          <a:ln/>
        </p:spPr>
        <p:txBody>
          <a:bodyPr wrap="square" lIns="0" tIns="0" rIns="0" bIns="0" rtlCol="0" anchor="t"/>
          <a:lstStyle/>
          <a:p>
            <a:pPr indent="0" marL="0">
              <a:lnSpc>
                <a:spcPct val="120000"/>
              </a:lnSpc>
              <a:buNone/>
            </a:pPr>
            <a:r>
              <a:rPr lang="en-US" sz="1450" i="1" dirty="0">
                <a:solidFill>
                  <a:srgbClr val="E8CC6B"/>
                </a:solidFill>
                <a:latin typeface="Cambria" pitchFamily="34" charset="0"/>
                <a:ea typeface="Cambria" pitchFamily="34" charset="-122"/>
                <a:cs typeface="Cambria" pitchFamily="34" charset="-120"/>
              </a:rPr>
              <a:t>Reduces hallucinations and grounds responses using enterprise data.</a:t>
            </a:r>
            <a:endParaRPr lang="en-US" sz="1450" dirty="0"/>
          </a:p>
        </p:txBody>
      </p:sp>
      <p:sp>
        <p:nvSpPr>
          <p:cNvPr id="28" name="Text 26"/>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29" name="Text 27"/>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ENTERPRISE PATTERN 2</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800" b="1" dirty="0">
                <a:solidFill>
                  <a:srgbClr val="F3EEE1"/>
                </a:solidFill>
                <a:latin typeface="Cambria" pitchFamily="34" charset="0"/>
                <a:ea typeface="Cambria" pitchFamily="34" charset="-122"/>
                <a:cs typeface="Cambria" pitchFamily="34" charset="-120"/>
              </a:rPr>
              <a:t>Claude + OpenAI Together</a:t>
            </a:r>
            <a:endParaRPr lang="en-US" sz="2800" dirty="0"/>
          </a:p>
        </p:txBody>
      </p:sp>
      <p:sp>
        <p:nvSpPr>
          <p:cNvPr id="5" name="Text 3"/>
          <p:cNvSpPr/>
          <p:nvPr/>
        </p:nvSpPr>
        <p:spPr>
          <a:xfrm>
            <a:off x="457200" y="1371600"/>
            <a:ext cx="10972800" cy="320040"/>
          </a:xfrm>
          <a:prstGeom prst="rect">
            <a:avLst/>
          </a:prstGeom>
          <a:noFill/>
          <a:ln/>
        </p:spPr>
        <p:txBody>
          <a:bodyPr wrap="square" lIns="0" tIns="0" rIns="0" bIns="0" rtlCol="0" anchor="ctr"/>
          <a:lstStyle/>
          <a:p>
            <a:pPr indent="0" marL="0">
              <a:buNone/>
            </a:pPr>
            <a:r>
              <a:rPr lang="en-US" sz="1300" i="1" dirty="0">
                <a:solidFill>
                  <a:srgbClr val="B9B2A0"/>
                </a:solidFill>
                <a:latin typeface="Calibri" pitchFamily="34" charset="0"/>
                <a:ea typeface="Calibri" pitchFamily="34" charset="-122"/>
                <a:cs typeface="Calibri" pitchFamily="34" charset="-120"/>
              </a:rPr>
              <a:t>Hybrid Multi-Model Architecture</a:t>
            </a:r>
            <a:endParaRPr lang="en-US" sz="1300" dirty="0"/>
          </a:p>
        </p:txBody>
      </p:sp>
      <p:sp>
        <p:nvSpPr>
          <p:cNvPr id="6" name="Shape 4"/>
          <p:cNvSpPr/>
          <p:nvPr/>
        </p:nvSpPr>
        <p:spPr>
          <a:xfrm>
            <a:off x="1554480" y="1783080"/>
            <a:ext cx="2743200" cy="548640"/>
          </a:xfrm>
          <a:prstGeom prst="roundRect">
            <a:avLst>
              <a:gd name="adj" fmla="val 10000"/>
            </a:avLst>
          </a:prstGeom>
          <a:solidFill>
            <a:srgbClr val="1F1B10"/>
          </a:solidFill>
          <a:ln w="15875">
            <a:solidFill>
              <a:srgbClr val="D4AF37"/>
            </a:solidFill>
            <a:prstDash val="solid"/>
          </a:ln>
        </p:spPr>
      </p:sp>
      <p:sp>
        <p:nvSpPr>
          <p:cNvPr id="7" name="Text 5"/>
          <p:cNvSpPr/>
          <p:nvPr/>
        </p:nvSpPr>
        <p:spPr>
          <a:xfrm>
            <a:off x="1600200" y="1783080"/>
            <a:ext cx="2651760" cy="548640"/>
          </a:xfrm>
          <a:prstGeom prst="rect">
            <a:avLst/>
          </a:prstGeom>
          <a:noFill/>
          <a:ln/>
        </p:spPr>
        <p:txBody>
          <a:bodyPr wrap="square" lIns="0" tIns="0" rIns="0" bIns="0" rtlCol="0" anchor="ctr"/>
          <a:lstStyle/>
          <a:p>
            <a:pPr algn="ctr" indent="0" marL="0">
              <a:buNone/>
            </a:pPr>
            <a:r>
              <a:rPr lang="en-US" sz="1300" b="1" dirty="0">
                <a:solidFill>
                  <a:srgbClr val="F3EEE1"/>
                </a:solidFill>
                <a:latin typeface="Calibri" pitchFamily="34" charset="0"/>
                <a:ea typeface="Calibri" pitchFamily="34" charset="-122"/>
                <a:cs typeface="Calibri" pitchFamily="34" charset="-120"/>
              </a:rPr>
              <a:t>User</a:t>
            </a:r>
            <a:endParaRPr lang="en-US" sz="1300" dirty="0"/>
          </a:p>
        </p:txBody>
      </p:sp>
      <p:sp>
        <p:nvSpPr>
          <p:cNvPr id="8" name="Shape 6"/>
          <p:cNvSpPr/>
          <p:nvPr/>
        </p:nvSpPr>
        <p:spPr>
          <a:xfrm>
            <a:off x="2843784" y="2331720"/>
            <a:ext cx="164592" cy="256032"/>
          </a:xfrm>
          <a:prstGeom prst="downArrow">
            <a:avLst/>
          </a:prstGeom>
          <a:solidFill>
            <a:srgbClr val="D4AF37"/>
          </a:solidFill>
          <a:ln/>
        </p:spPr>
      </p:sp>
      <p:sp>
        <p:nvSpPr>
          <p:cNvPr id="9" name="Shape 7"/>
          <p:cNvSpPr/>
          <p:nvPr/>
        </p:nvSpPr>
        <p:spPr>
          <a:xfrm>
            <a:off x="1371600" y="2587752"/>
            <a:ext cx="3108960" cy="548640"/>
          </a:xfrm>
          <a:prstGeom prst="roundRect">
            <a:avLst>
              <a:gd name="adj" fmla="val 10000"/>
            </a:avLst>
          </a:prstGeom>
          <a:solidFill>
            <a:srgbClr val="1F1B10"/>
          </a:solidFill>
          <a:ln w="15875">
            <a:solidFill>
              <a:srgbClr val="D4AF37"/>
            </a:solidFill>
            <a:prstDash val="solid"/>
          </a:ln>
        </p:spPr>
      </p:sp>
      <p:sp>
        <p:nvSpPr>
          <p:cNvPr id="10" name="Text 8"/>
          <p:cNvSpPr/>
          <p:nvPr/>
        </p:nvSpPr>
        <p:spPr>
          <a:xfrm>
            <a:off x="1417320" y="2587752"/>
            <a:ext cx="3017520" cy="548640"/>
          </a:xfrm>
          <a:prstGeom prst="rect">
            <a:avLst/>
          </a:prstGeom>
          <a:noFill/>
          <a:ln/>
        </p:spPr>
        <p:txBody>
          <a:bodyPr wrap="square" lIns="0" tIns="0" rIns="0" bIns="0" rtlCol="0" anchor="ctr"/>
          <a:lstStyle/>
          <a:p>
            <a:pPr algn="ctr" indent="0" marL="0">
              <a:buNone/>
            </a:pPr>
            <a:r>
              <a:rPr lang="en-US" sz="1300" b="1" dirty="0">
                <a:solidFill>
                  <a:srgbClr val="F3EEE1"/>
                </a:solidFill>
                <a:latin typeface="Calibri" pitchFamily="34" charset="0"/>
                <a:ea typeface="Calibri" pitchFamily="34" charset="-122"/>
                <a:cs typeface="Calibri" pitchFamily="34" charset="-120"/>
              </a:rPr>
              <a:t>Foundry Agent</a:t>
            </a:r>
            <a:endParaRPr lang="en-US" sz="1300" dirty="0"/>
          </a:p>
        </p:txBody>
      </p:sp>
      <p:sp>
        <p:nvSpPr>
          <p:cNvPr id="11" name="Shape 9"/>
          <p:cNvSpPr/>
          <p:nvPr/>
        </p:nvSpPr>
        <p:spPr>
          <a:xfrm>
            <a:off x="1965960" y="3136392"/>
            <a:ext cx="1920240" cy="9144"/>
          </a:xfrm>
          <a:prstGeom prst="line">
            <a:avLst/>
          </a:prstGeom>
          <a:noFill/>
          <a:ln w="15875">
            <a:solidFill>
              <a:srgbClr val="8A6D1D"/>
            </a:solidFill>
            <a:prstDash val="solid"/>
          </a:ln>
        </p:spPr>
      </p:sp>
      <p:sp>
        <p:nvSpPr>
          <p:cNvPr id="12" name="Shape 10"/>
          <p:cNvSpPr/>
          <p:nvPr/>
        </p:nvSpPr>
        <p:spPr>
          <a:xfrm>
            <a:off x="1965960" y="3136392"/>
            <a:ext cx="9144" cy="155448"/>
          </a:xfrm>
          <a:prstGeom prst="line">
            <a:avLst/>
          </a:prstGeom>
          <a:noFill/>
          <a:ln w="15875">
            <a:solidFill>
              <a:srgbClr val="8A6D1D"/>
            </a:solidFill>
            <a:prstDash val="solid"/>
          </a:ln>
        </p:spPr>
      </p:sp>
      <p:sp>
        <p:nvSpPr>
          <p:cNvPr id="13" name="Shape 11"/>
          <p:cNvSpPr/>
          <p:nvPr/>
        </p:nvSpPr>
        <p:spPr>
          <a:xfrm>
            <a:off x="3886200" y="3136392"/>
            <a:ext cx="9144" cy="155448"/>
          </a:xfrm>
          <a:prstGeom prst="line">
            <a:avLst/>
          </a:prstGeom>
          <a:noFill/>
          <a:ln w="15875">
            <a:solidFill>
              <a:srgbClr val="8A6D1D"/>
            </a:solidFill>
            <a:prstDash val="solid"/>
          </a:ln>
        </p:spPr>
      </p:sp>
      <p:sp>
        <p:nvSpPr>
          <p:cNvPr id="14" name="Shape 12"/>
          <p:cNvSpPr/>
          <p:nvPr/>
        </p:nvSpPr>
        <p:spPr>
          <a:xfrm>
            <a:off x="960120" y="3291840"/>
            <a:ext cx="1737360" cy="777240"/>
          </a:xfrm>
          <a:prstGeom prst="roundRect">
            <a:avLst>
              <a:gd name="adj" fmla="val 7059"/>
            </a:avLst>
          </a:prstGeom>
          <a:solidFill>
            <a:srgbClr val="1F1B10"/>
          </a:solidFill>
          <a:ln w="15875">
            <a:solidFill>
              <a:srgbClr val="D4AF37"/>
            </a:solidFill>
            <a:prstDash val="solid"/>
          </a:ln>
        </p:spPr>
      </p:sp>
      <p:sp>
        <p:nvSpPr>
          <p:cNvPr id="15" name="Text 13"/>
          <p:cNvSpPr/>
          <p:nvPr/>
        </p:nvSpPr>
        <p:spPr>
          <a:xfrm>
            <a:off x="1005840" y="3291840"/>
            <a:ext cx="1645920" cy="777240"/>
          </a:xfrm>
          <a:prstGeom prst="rect">
            <a:avLst/>
          </a:prstGeom>
          <a:noFill/>
          <a:ln/>
        </p:spPr>
        <p:txBody>
          <a:bodyPr wrap="square" lIns="0" tIns="0" rIns="0" bIns="0" rtlCol="0" anchor="ctr"/>
          <a:lstStyle/>
          <a:p>
            <a:pPr algn="ctr" indent="0" marL="0">
              <a:lnSpc>
                <a:spcPct val="105000"/>
              </a:lnSpc>
              <a:buNone/>
            </a:pPr>
            <a:r>
              <a:rPr lang="en-US" sz="1300" b="1" dirty="0">
                <a:solidFill>
                  <a:srgbClr val="F3EEE1"/>
                </a:solidFill>
              </a:rPr>
              <a:t>Claude</a:t>
            </a:r>
            <a:endParaRPr lang="en-US" sz="1300" dirty="0"/>
          </a:p>
          <a:p>
            <a:pPr algn="ctr" indent="0" marL="0">
              <a:lnSpc>
                <a:spcPct val="105000"/>
              </a:lnSpc>
              <a:buNone/>
            </a:pPr>
            <a:r>
              <a:rPr lang="en-US" sz="1000" dirty="0">
                <a:solidFill>
                  <a:srgbClr val="E8CC6B"/>
                </a:solidFill>
              </a:rPr>
              <a:t>Deep Reasoning</a:t>
            </a:r>
            <a:endParaRPr lang="en-US" sz="1300" dirty="0"/>
          </a:p>
        </p:txBody>
      </p:sp>
      <p:sp>
        <p:nvSpPr>
          <p:cNvPr id="16" name="Shape 14"/>
          <p:cNvSpPr/>
          <p:nvPr/>
        </p:nvSpPr>
        <p:spPr>
          <a:xfrm>
            <a:off x="3154680" y="3291840"/>
            <a:ext cx="1737360" cy="777240"/>
          </a:xfrm>
          <a:prstGeom prst="roundRect">
            <a:avLst>
              <a:gd name="adj" fmla="val 7059"/>
            </a:avLst>
          </a:prstGeom>
          <a:solidFill>
            <a:srgbClr val="1F1B10"/>
          </a:solidFill>
          <a:ln w="15875">
            <a:solidFill>
              <a:srgbClr val="D4AF37"/>
            </a:solidFill>
            <a:prstDash val="solid"/>
          </a:ln>
        </p:spPr>
      </p:sp>
      <p:sp>
        <p:nvSpPr>
          <p:cNvPr id="17" name="Text 15"/>
          <p:cNvSpPr/>
          <p:nvPr/>
        </p:nvSpPr>
        <p:spPr>
          <a:xfrm>
            <a:off x="3200400" y="3291840"/>
            <a:ext cx="1645920" cy="777240"/>
          </a:xfrm>
          <a:prstGeom prst="rect">
            <a:avLst/>
          </a:prstGeom>
          <a:noFill/>
          <a:ln/>
        </p:spPr>
        <p:txBody>
          <a:bodyPr wrap="square" lIns="0" tIns="0" rIns="0" bIns="0" rtlCol="0" anchor="ctr"/>
          <a:lstStyle/>
          <a:p>
            <a:pPr algn="ctr" indent="0" marL="0">
              <a:lnSpc>
                <a:spcPct val="105000"/>
              </a:lnSpc>
              <a:buNone/>
            </a:pPr>
            <a:r>
              <a:rPr lang="en-US" sz="1300" b="1" dirty="0">
                <a:solidFill>
                  <a:srgbClr val="F3EEE1"/>
                </a:solidFill>
              </a:rPr>
              <a:t>GPT</a:t>
            </a:r>
            <a:endParaRPr lang="en-US" sz="1300" dirty="0"/>
          </a:p>
          <a:p>
            <a:pPr algn="ctr" indent="0" marL="0">
              <a:lnSpc>
                <a:spcPct val="105000"/>
              </a:lnSpc>
              <a:buNone/>
            </a:pPr>
            <a:r>
              <a:rPr lang="en-US" sz="1000" dirty="0">
                <a:solidFill>
                  <a:srgbClr val="E8CC6B"/>
                </a:solidFill>
              </a:rPr>
              <a:t>Structured Output</a:t>
            </a:r>
            <a:endParaRPr lang="en-US" sz="1300" dirty="0"/>
          </a:p>
        </p:txBody>
      </p:sp>
      <p:sp>
        <p:nvSpPr>
          <p:cNvPr id="18" name="Shape 16"/>
          <p:cNvSpPr/>
          <p:nvPr/>
        </p:nvSpPr>
        <p:spPr>
          <a:xfrm>
            <a:off x="1746504" y="4069080"/>
            <a:ext cx="164592" cy="228600"/>
          </a:xfrm>
          <a:prstGeom prst="downArrow">
            <a:avLst/>
          </a:prstGeom>
          <a:solidFill>
            <a:srgbClr val="D4AF37"/>
          </a:solidFill>
          <a:ln/>
        </p:spPr>
      </p:sp>
      <p:sp>
        <p:nvSpPr>
          <p:cNvPr id="19" name="Shape 17"/>
          <p:cNvSpPr/>
          <p:nvPr/>
        </p:nvSpPr>
        <p:spPr>
          <a:xfrm>
            <a:off x="3941064" y="4069080"/>
            <a:ext cx="164592" cy="228600"/>
          </a:xfrm>
          <a:prstGeom prst="downArrow">
            <a:avLst/>
          </a:prstGeom>
          <a:solidFill>
            <a:srgbClr val="D4AF37"/>
          </a:solidFill>
          <a:ln/>
        </p:spPr>
      </p:sp>
      <p:sp>
        <p:nvSpPr>
          <p:cNvPr id="20" name="Shape 18"/>
          <p:cNvSpPr/>
          <p:nvPr/>
        </p:nvSpPr>
        <p:spPr>
          <a:xfrm>
            <a:off x="1828800" y="4297680"/>
            <a:ext cx="2194560" cy="9144"/>
          </a:xfrm>
          <a:prstGeom prst="line">
            <a:avLst/>
          </a:prstGeom>
          <a:noFill/>
          <a:ln w="15875">
            <a:solidFill>
              <a:srgbClr val="8A6D1D"/>
            </a:solidFill>
            <a:prstDash val="solid"/>
          </a:ln>
        </p:spPr>
      </p:sp>
      <p:sp>
        <p:nvSpPr>
          <p:cNvPr id="21" name="Shape 19"/>
          <p:cNvSpPr/>
          <p:nvPr/>
        </p:nvSpPr>
        <p:spPr>
          <a:xfrm>
            <a:off x="2926080" y="4297680"/>
            <a:ext cx="9144" cy="137160"/>
          </a:xfrm>
          <a:prstGeom prst="line">
            <a:avLst/>
          </a:prstGeom>
          <a:noFill/>
          <a:ln w="15875">
            <a:solidFill>
              <a:srgbClr val="8A6D1D"/>
            </a:solidFill>
            <a:prstDash val="solid"/>
          </a:ln>
        </p:spPr>
      </p:sp>
      <p:sp>
        <p:nvSpPr>
          <p:cNvPr id="22" name="Shape 20"/>
          <p:cNvSpPr/>
          <p:nvPr/>
        </p:nvSpPr>
        <p:spPr>
          <a:xfrm>
            <a:off x="1463040" y="4434840"/>
            <a:ext cx="2926080" cy="566928"/>
          </a:xfrm>
          <a:prstGeom prst="roundRect">
            <a:avLst>
              <a:gd name="adj" fmla="val 9677"/>
            </a:avLst>
          </a:prstGeom>
          <a:solidFill>
            <a:srgbClr val="141008"/>
          </a:solidFill>
          <a:ln w="15875">
            <a:solidFill>
              <a:srgbClr val="D4AF37"/>
            </a:solidFill>
            <a:prstDash val="solid"/>
          </a:ln>
        </p:spPr>
      </p:sp>
      <p:sp>
        <p:nvSpPr>
          <p:cNvPr id="23" name="Text 21"/>
          <p:cNvSpPr/>
          <p:nvPr/>
        </p:nvSpPr>
        <p:spPr>
          <a:xfrm>
            <a:off x="1508760" y="4434840"/>
            <a:ext cx="2834640" cy="566928"/>
          </a:xfrm>
          <a:prstGeom prst="rect">
            <a:avLst/>
          </a:prstGeom>
          <a:noFill/>
          <a:ln/>
        </p:spPr>
        <p:txBody>
          <a:bodyPr wrap="square" lIns="0" tIns="0" rIns="0" bIns="0" rtlCol="0" anchor="ctr"/>
          <a:lstStyle/>
          <a:p>
            <a:pPr algn="ctr" indent="0" marL="0">
              <a:buNone/>
            </a:pPr>
            <a:r>
              <a:rPr lang="en-US" sz="1300" b="1" dirty="0">
                <a:solidFill>
                  <a:srgbClr val="E8CC6B"/>
                </a:solidFill>
                <a:latin typeface="Calibri" pitchFamily="34" charset="0"/>
                <a:ea typeface="Calibri" pitchFamily="34" charset="-122"/>
                <a:cs typeface="Calibri" pitchFamily="34" charset="-120"/>
              </a:rPr>
              <a:t>Unified Response</a:t>
            </a:r>
            <a:endParaRPr lang="en-US" sz="1300" dirty="0"/>
          </a:p>
        </p:txBody>
      </p:sp>
      <p:sp>
        <p:nvSpPr>
          <p:cNvPr id="24" name="Text 22"/>
          <p:cNvSpPr/>
          <p:nvPr/>
        </p:nvSpPr>
        <p:spPr>
          <a:xfrm>
            <a:off x="6537960" y="1783080"/>
            <a:ext cx="512064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MODEL DISTRIBUTION</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37960" y="2148840"/>
          <a:ext cx="5166360" cy="914400"/>
        </p:xfrm>
        <a:graphic>
          <a:graphicData uri="http://schemas.openxmlformats.org/drawingml/2006/table">
            <a:tbl>
              <a:tblPr/>
              <a:tblGrid>
                <a:gridCol w="3566160"/>
                <a:gridCol w="1600200"/>
              </a:tblGrid>
              <a:tr h="347472">
                <a:tc>
                  <a:txBody>
                    <a:bodyPr/>
                    <a:lstStyle/>
                    <a:p>
                      <a:pPr algn="l" indent="0" marL="0">
                        <a:buNone/>
                      </a:pPr>
                      <a:r>
                        <a:rPr lang="en-US" sz="1150" b="1" dirty="0">
                          <a:solidFill>
                            <a:srgbClr val="0A0A0A"/>
                          </a:solidFill>
                          <a:latin typeface="Calibri" pitchFamily="34" charset="0"/>
                          <a:ea typeface="Calibri" pitchFamily="34" charset="-122"/>
                          <a:cs typeface="Calibri" pitchFamily="34" charset="-120"/>
                        </a:rPr>
                        <a:t>Function</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D4AF37"/>
                    </a:solidFill>
                  </a:tcPr>
                </a:tc>
                <a:tc>
                  <a:txBody>
                    <a:bodyPr/>
                    <a:lstStyle/>
                    <a:p>
                      <a:pPr algn="l" indent="0" marL="0">
                        <a:buNone/>
                      </a:pPr>
                      <a:r>
                        <a:rPr lang="en-US" sz="1150" b="1" dirty="0">
                          <a:solidFill>
                            <a:srgbClr val="0A0A0A"/>
                          </a:solidFill>
                          <a:latin typeface="Calibri" pitchFamily="34" charset="0"/>
                          <a:ea typeface="Calibri" pitchFamily="34" charset="-122"/>
                          <a:cs typeface="Calibri" pitchFamily="34" charset="-120"/>
                        </a:rPr>
                        <a:t>Best Model</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D4AF37"/>
                    </a:solidFill>
                  </a:tcPr>
                </a:tc>
              </a:tr>
              <a:tr h="347472">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Complex Reasoning</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Claude</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347472">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Research</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Claude</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r h="347472">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Coding Review</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Claude</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347472">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Function Calling</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GPT</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r h="347472">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Structured JSON</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GPT</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21212"/>
                    </a:solidFill>
                  </a:tcPr>
                </a:tc>
              </a:tr>
              <a:tr h="347472">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Workflow Automation</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c>
                  <a:txBody>
                    <a:bodyPr/>
                    <a:lstStyle/>
                    <a:p>
                      <a:pPr algn="l" indent="0" marL="0">
                        <a:buNone/>
                      </a:pPr>
                      <a:r>
                        <a:rPr lang="en-US" sz="1150" dirty="0">
                          <a:solidFill>
                            <a:srgbClr val="F3EEE1"/>
                          </a:solidFill>
                          <a:latin typeface="Calibri" pitchFamily="34" charset="0"/>
                          <a:ea typeface="Calibri" pitchFamily="34" charset="-122"/>
                          <a:cs typeface="Calibri" pitchFamily="34" charset="-120"/>
                        </a:rPr>
                        <a:t>GPT</a:t>
                      </a:r>
                      <a:endParaRPr lang="en-US" sz="1150" dirty="0">
                        <a:latin typeface="Calibri" charset="0"/>
                        <a:ea typeface="Calibri" charset="0"/>
                        <a:cs typeface="Calibri" charset="0"/>
                      </a:endParaRPr>
                    </a:p>
                  </a:txBody>
                  <a:tcPr marL="101600" marR="101600" marT="38100" marB="38100" anchor="ctr">
                    <a:lnL w="9525" cap="flat" cmpd="sng" algn="ctr">
                      <a:solidFill>
                        <a:srgbClr val="3A3226"/>
                      </a:solidFill>
                      <a:prstDash val="solid"/>
                      <a:round/>
                      <a:headEnd type="none" w="med" len="med"/>
                      <a:tailEnd type="none" w="med" len="med"/>
                    </a:lnL>
                    <a:lnR w="9525" cap="flat" cmpd="sng" algn="ctr">
                      <a:solidFill>
                        <a:srgbClr val="3A3226"/>
                      </a:solidFill>
                      <a:prstDash val="solid"/>
                      <a:round/>
                      <a:headEnd type="none" w="med" len="med"/>
                      <a:tailEnd type="none" w="med" len="med"/>
                    </a:lnR>
                    <a:lnT w="9525" cap="flat" cmpd="sng" algn="ctr">
                      <a:solidFill>
                        <a:srgbClr val="3A3226"/>
                      </a:solidFill>
                      <a:prstDash val="solid"/>
                      <a:round/>
                      <a:headEnd type="none" w="med" len="med"/>
                      <a:tailEnd type="none" w="med" len="med"/>
                    </a:lnT>
                    <a:lnB w="9525" cap="flat" cmpd="sng" algn="ctr">
                      <a:solidFill>
                        <a:srgbClr val="3A3226"/>
                      </a:solidFill>
                      <a:prstDash val="solid"/>
                      <a:round/>
                      <a:headEnd type="none" w="med" len="med"/>
                      <a:tailEnd type="none" w="med" len="med"/>
                    </a:lnB>
                    <a:solidFill>
                      <a:srgbClr val="161616"/>
                    </a:solidFill>
                  </a:tcPr>
                </a:tc>
              </a:tr>
            </a:tbl>
          </a:graphicData>
        </a:graphic>
      </p:graphicFrame>
      <p:sp>
        <p:nvSpPr>
          <p:cNvPr id="26" name="Text 23"/>
          <p:cNvSpPr/>
          <p:nvPr/>
        </p:nvSpPr>
        <p:spPr>
          <a:xfrm>
            <a:off x="6537960" y="4937760"/>
            <a:ext cx="5166360" cy="777240"/>
          </a:xfrm>
          <a:prstGeom prst="rect">
            <a:avLst/>
          </a:prstGeom>
          <a:noFill/>
          <a:ln/>
        </p:spPr>
        <p:txBody>
          <a:bodyPr wrap="square" lIns="0" tIns="0" rIns="0" bIns="0" rtlCol="0" anchor="ctr"/>
          <a:lstStyle/>
          <a:p>
            <a:pPr indent="0" marL="0">
              <a:lnSpc>
                <a:spcPct val="120000"/>
              </a:lnSpc>
              <a:buNone/>
            </a:pPr>
            <a:r>
              <a:rPr lang="en-US" sz="1150" i="1" dirty="0">
                <a:solidFill>
                  <a:srgbClr val="B9B2A0"/>
                </a:solidFill>
                <a:latin typeface="Calibri" pitchFamily="34" charset="0"/>
                <a:ea typeface="Calibri" pitchFamily="34" charset="-122"/>
                <a:cs typeface="Calibri" pitchFamily="34" charset="-120"/>
              </a:rPr>
              <a:t>This pattern enables organizations to leverage strengths of both model families through a single platform.</a:t>
            </a:r>
            <a:endParaRPr lang="en-US" sz="1150" dirty="0"/>
          </a:p>
        </p:txBody>
      </p:sp>
      <p:sp>
        <p:nvSpPr>
          <p:cNvPr id="27" name="Text 24"/>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28" name="Text 25"/>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4AF37"/>
          </a:solidFill>
          <a:ln/>
        </p:spPr>
      </p:sp>
      <p:sp>
        <p:nvSpPr>
          <p:cNvPr id="3" name="Text 1"/>
          <p:cNvSpPr/>
          <p:nvPr/>
        </p:nvSpPr>
        <p:spPr>
          <a:xfrm>
            <a:off x="694944" y="402336"/>
            <a:ext cx="9144000" cy="256032"/>
          </a:xfrm>
          <a:prstGeom prst="rect">
            <a:avLst/>
          </a:prstGeom>
          <a:noFill/>
          <a:ln/>
        </p:spPr>
        <p:txBody>
          <a:bodyPr wrap="square" lIns="0" tIns="0" rIns="0" bIns="0"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CLOSING</a:t>
            </a:r>
            <a:endParaRPr lang="en-US" sz="1200" dirty="0"/>
          </a:p>
        </p:txBody>
      </p:sp>
      <p:sp>
        <p:nvSpPr>
          <p:cNvPr id="4" name="Text 2"/>
          <p:cNvSpPr/>
          <p:nvPr/>
        </p:nvSpPr>
        <p:spPr>
          <a:xfrm>
            <a:off x="457200" y="713232"/>
            <a:ext cx="11274552" cy="685800"/>
          </a:xfrm>
          <a:prstGeom prst="rect">
            <a:avLst/>
          </a:prstGeom>
          <a:noFill/>
          <a:ln/>
        </p:spPr>
        <p:txBody>
          <a:bodyPr wrap="square" lIns="0" tIns="0" rIns="0" bIns="0" rtlCol="0" anchor="ctr"/>
          <a:lstStyle/>
          <a:p>
            <a:pPr indent="0" marL="0">
              <a:buNone/>
            </a:pPr>
            <a:r>
              <a:rPr lang="en-US" sz="2400" b="1" dirty="0">
                <a:solidFill>
                  <a:srgbClr val="F3EEE1"/>
                </a:solidFill>
                <a:latin typeface="Cambria" pitchFamily="34" charset="0"/>
                <a:ea typeface="Cambria" pitchFamily="34" charset="-122"/>
                <a:cs typeface="Cambria" pitchFamily="34" charset="-120"/>
              </a:rPr>
              <a:t>Enterprise Reference Architecture &amp; Recommendations</a:t>
            </a:r>
            <a:endParaRPr lang="en-US" sz="2400" dirty="0"/>
          </a:p>
        </p:txBody>
      </p:sp>
      <p:sp>
        <p:nvSpPr>
          <p:cNvPr id="5" name="Shape 3"/>
          <p:cNvSpPr/>
          <p:nvPr/>
        </p:nvSpPr>
        <p:spPr>
          <a:xfrm>
            <a:off x="457200" y="1417320"/>
            <a:ext cx="6035040" cy="530352"/>
          </a:xfrm>
          <a:prstGeom prst="roundRect">
            <a:avLst>
              <a:gd name="adj" fmla="val 10345"/>
            </a:avLst>
          </a:prstGeom>
          <a:solidFill>
            <a:srgbClr val="161616"/>
          </a:solidFill>
          <a:ln w="15875">
            <a:solidFill>
              <a:srgbClr val="3A3226"/>
            </a:solidFill>
            <a:prstDash val="solid"/>
          </a:ln>
        </p:spPr>
      </p:sp>
      <p:sp>
        <p:nvSpPr>
          <p:cNvPr id="6" name="Text 4"/>
          <p:cNvSpPr/>
          <p:nvPr/>
        </p:nvSpPr>
        <p:spPr>
          <a:xfrm>
            <a:off x="502920" y="1417320"/>
            <a:ext cx="5943600" cy="530352"/>
          </a:xfrm>
          <a:prstGeom prst="rect">
            <a:avLst/>
          </a:prstGeom>
          <a:noFill/>
          <a:ln/>
        </p:spPr>
        <p:txBody>
          <a:bodyPr wrap="square" lIns="0" tIns="0" rIns="0" bIns="0" rtlCol="0" anchor="ctr"/>
          <a:lstStyle/>
          <a:p>
            <a:pPr algn="ctr" indent="0" marL="0">
              <a:buNone/>
            </a:pPr>
            <a:r>
              <a:rPr lang="en-US" sz="1080" b="1" dirty="0">
                <a:solidFill>
                  <a:srgbClr val="F3EEE1"/>
                </a:solidFill>
                <a:latin typeface="Calibri" pitchFamily="34" charset="0"/>
                <a:ea typeface="Calibri" pitchFamily="34" charset="-122"/>
                <a:cs typeface="Calibri" pitchFamily="34" charset="-120"/>
              </a:rPr>
              <a:t>Users (Web / Teams / Mobile)</a:t>
            </a:r>
            <a:endParaRPr lang="en-US" sz="1080" dirty="0"/>
          </a:p>
        </p:txBody>
      </p:sp>
      <p:sp>
        <p:nvSpPr>
          <p:cNvPr id="7" name="Shape 5"/>
          <p:cNvSpPr/>
          <p:nvPr/>
        </p:nvSpPr>
        <p:spPr>
          <a:xfrm>
            <a:off x="3392424" y="1947672"/>
            <a:ext cx="164592" cy="146304"/>
          </a:xfrm>
          <a:prstGeom prst="downArrow">
            <a:avLst/>
          </a:prstGeom>
          <a:solidFill>
            <a:srgbClr val="D4AF37"/>
          </a:solidFill>
          <a:ln/>
        </p:spPr>
      </p:sp>
      <p:sp>
        <p:nvSpPr>
          <p:cNvPr id="8" name="Shape 6"/>
          <p:cNvSpPr/>
          <p:nvPr/>
        </p:nvSpPr>
        <p:spPr>
          <a:xfrm>
            <a:off x="457200" y="2093976"/>
            <a:ext cx="6035040" cy="530352"/>
          </a:xfrm>
          <a:prstGeom prst="roundRect">
            <a:avLst>
              <a:gd name="adj" fmla="val 10345"/>
            </a:avLst>
          </a:prstGeom>
          <a:solidFill>
            <a:srgbClr val="161616"/>
          </a:solidFill>
          <a:ln w="15875">
            <a:solidFill>
              <a:srgbClr val="3A3226"/>
            </a:solidFill>
            <a:prstDash val="solid"/>
          </a:ln>
        </p:spPr>
      </p:sp>
      <p:sp>
        <p:nvSpPr>
          <p:cNvPr id="9" name="Text 7"/>
          <p:cNvSpPr/>
          <p:nvPr/>
        </p:nvSpPr>
        <p:spPr>
          <a:xfrm>
            <a:off x="502920" y="2093976"/>
            <a:ext cx="5943600" cy="530352"/>
          </a:xfrm>
          <a:prstGeom prst="rect">
            <a:avLst/>
          </a:prstGeom>
          <a:noFill/>
          <a:ln/>
        </p:spPr>
        <p:txBody>
          <a:bodyPr wrap="square" lIns="0" tIns="0" rIns="0" bIns="0" rtlCol="0" anchor="ctr"/>
          <a:lstStyle/>
          <a:p>
            <a:pPr algn="ctr" indent="0" marL="0">
              <a:buNone/>
            </a:pPr>
            <a:r>
              <a:rPr lang="en-US" sz="1080" b="1" dirty="0">
                <a:solidFill>
                  <a:srgbClr val="F3EEE1"/>
                </a:solidFill>
                <a:latin typeface="Calibri" pitchFamily="34" charset="0"/>
                <a:ea typeface="Calibri" pitchFamily="34" charset="-122"/>
                <a:cs typeface="Calibri" pitchFamily="34" charset="-120"/>
              </a:rPr>
              <a:t>Enterprise App</a:t>
            </a:r>
            <a:endParaRPr lang="en-US" sz="1080" dirty="0"/>
          </a:p>
        </p:txBody>
      </p:sp>
      <p:sp>
        <p:nvSpPr>
          <p:cNvPr id="10" name="Shape 8"/>
          <p:cNvSpPr/>
          <p:nvPr/>
        </p:nvSpPr>
        <p:spPr>
          <a:xfrm>
            <a:off x="3392424" y="2624328"/>
            <a:ext cx="164592" cy="146304"/>
          </a:xfrm>
          <a:prstGeom prst="downArrow">
            <a:avLst/>
          </a:prstGeom>
          <a:solidFill>
            <a:srgbClr val="D4AF37"/>
          </a:solidFill>
          <a:ln/>
        </p:spPr>
      </p:sp>
      <p:sp>
        <p:nvSpPr>
          <p:cNvPr id="11" name="Shape 9"/>
          <p:cNvSpPr/>
          <p:nvPr/>
        </p:nvSpPr>
        <p:spPr>
          <a:xfrm>
            <a:off x="457200" y="2770632"/>
            <a:ext cx="6035040" cy="530352"/>
          </a:xfrm>
          <a:prstGeom prst="roundRect">
            <a:avLst>
              <a:gd name="adj" fmla="val 10345"/>
            </a:avLst>
          </a:prstGeom>
          <a:solidFill>
            <a:srgbClr val="161616"/>
          </a:solidFill>
          <a:ln w="15875">
            <a:solidFill>
              <a:srgbClr val="3A3226"/>
            </a:solidFill>
            <a:prstDash val="solid"/>
          </a:ln>
        </p:spPr>
      </p:sp>
      <p:sp>
        <p:nvSpPr>
          <p:cNvPr id="12" name="Text 10"/>
          <p:cNvSpPr/>
          <p:nvPr/>
        </p:nvSpPr>
        <p:spPr>
          <a:xfrm>
            <a:off x="502920" y="2770632"/>
            <a:ext cx="5943600" cy="530352"/>
          </a:xfrm>
          <a:prstGeom prst="rect">
            <a:avLst/>
          </a:prstGeom>
          <a:noFill/>
          <a:ln/>
        </p:spPr>
        <p:txBody>
          <a:bodyPr wrap="square" lIns="0" tIns="0" rIns="0" bIns="0" rtlCol="0" anchor="ctr"/>
          <a:lstStyle/>
          <a:p>
            <a:pPr algn="ctr" indent="0" marL="0">
              <a:buNone/>
            </a:pPr>
            <a:r>
              <a:rPr lang="en-US" sz="1080" b="1" dirty="0">
                <a:solidFill>
                  <a:srgbClr val="F3EEE1"/>
                </a:solidFill>
                <a:latin typeface="Calibri" pitchFamily="34" charset="0"/>
                <a:ea typeface="Calibri" pitchFamily="34" charset="-122"/>
                <a:cs typeface="Calibri" pitchFamily="34" charset="-120"/>
              </a:rPr>
              <a:t>API Layer</a:t>
            </a:r>
            <a:endParaRPr lang="en-US" sz="1080" dirty="0"/>
          </a:p>
        </p:txBody>
      </p:sp>
      <p:sp>
        <p:nvSpPr>
          <p:cNvPr id="13" name="Shape 11"/>
          <p:cNvSpPr/>
          <p:nvPr/>
        </p:nvSpPr>
        <p:spPr>
          <a:xfrm>
            <a:off x="3392424" y="3300984"/>
            <a:ext cx="164592" cy="146304"/>
          </a:xfrm>
          <a:prstGeom prst="downArrow">
            <a:avLst/>
          </a:prstGeom>
          <a:solidFill>
            <a:srgbClr val="D4AF37"/>
          </a:solidFill>
          <a:ln/>
        </p:spPr>
      </p:sp>
      <p:sp>
        <p:nvSpPr>
          <p:cNvPr id="14" name="Shape 12"/>
          <p:cNvSpPr/>
          <p:nvPr/>
        </p:nvSpPr>
        <p:spPr>
          <a:xfrm>
            <a:off x="457200" y="3447288"/>
            <a:ext cx="6035040" cy="530352"/>
          </a:xfrm>
          <a:prstGeom prst="roundRect">
            <a:avLst>
              <a:gd name="adj" fmla="val 10345"/>
            </a:avLst>
          </a:prstGeom>
          <a:solidFill>
            <a:srgbClr val="161616"/>
          </a:solidFill>
          <a:ln w="15875">
            <a:solidFill>
              <a:srgbClr val="3A3226"/>
            </a:solidFill>
            <a:prstDash val="solid"/>
          </a:ln>
        </p:spPr>
      </p:sp>
      <p:sp>
        <p:nvSpPr>
          <p:cNvPr id="15" name="Text 13"/>
          <p:cNvSpPr/>
          <p:nvPr/>
        </p:nvSpPr>
        <p:spPr>
          <a:xfrm>
            <a:off x="502920" y="3447288"/>
            <a:ext cx="5943600" cy="530352"/>
          </a:xfrm>
          <a:prstGeom prst="rect">
            <a:avLst/>
          </a:prstGeom>
          <a:noFill/>
          <a:ln/>
        </p:spPr>
        <p:txBody>
          <a:bodyPr wrap="square" lIns="0" tIns="0" rIns="0" bIns="0" rtlCol="0" anchor="ctr"/>
          <a:lstStyle/>
          <a:p>
            <a:pPr algn="ctr" indent="0" marL="0">
              <a:buNone/>
            </a:pPr>
            <a:r>
              <a:rPr lang="en-US" sz="1080" b="1" dirty="0">
                <a:solidFill>
                  <a:srgbClr val="F3EEE1"/>
                </a:solidFill>
                <a:latin typeface="Calibri" pitchFamily="34" charset="0"/>
                <a:ea typeface="Calibri" pitchFamily="34" charset="-122"/>
                <a:cs typeface="Calibri" pitchFamily="34" charset="-120"/>
              </a:rPr>
              <a:t>Azure AI Search + Business APIs</a:t>
            </a:r>
            <a:endParaRPr lang="en-US" sz="1080" dirty="0"/>
          </a:p>
        </p:txBody>
      </p:sp>
      <p:sp>
        <p:nvSpPr>
          <p:cNvPr id="16" name="Shape 14"/>
          <p:cNvSpPr/>
          <p:nvPr/>
        </p:nvSpPr>
        <p:spPr>
          <a:xfrm>
            <a:off x="3392424" y="3977640"/>
            <a:ext cx="164592" cy="146304"/>
          </a:xfrm>
          <a:prstGeom prst="downArrow">
            <a:avLst/>
          </a:prstGeom>
          <a:solidFill>
            <a:srgbClr val="D4AF37"/>
          </a:solidFill>
          <a:ln/>
        </p:spPr>
      </p:sp>
      <p:sp>
        <p:nvSpPr>
          <p:cNvPr id="17" name="Shape 15"/>
          <p:cNvSpPr/>
          <p:nvPr/>
        </p:nvSpPr>
        <p:spPr>
          <a:xfrm>
            <a:off x="457200" y="4123944"/>
            <a:ext cx="6035040" cy="530352"/>
          </a:xfrm>
          <a:prstGeom prst="roundRect">
            <a:avLst>
              <a:gd name="adj" fmla="val 10345"/>
            </a:avLst>
          </a:prstGeom>
          <a:solidFill>
            <a:srgbClr val="1F1B10"/>
          </a:solidFill>
          <a:ln w="15875">
            <a:solidFill>
              <a:srgbClr val="D4AF37"/>
            </a:solidFill>
            <a:prstDash val="solid"/>
          </a:ln>
        </p:spPr>
      </p:sp>
      <p:sp>
        <p:nvSpPr>
          <p:cNvPr id="18" name="Text 16"/>
          <p:cNvSpPr/>
          <p:nvPr/>
        </p:nvSpPr>
        <p:spPr>
          <a:xfrm>
            <a:off x="502920" y="4123944"/>
            <a:ext cx="5943600" cy="530352"/>
          </a:xfrm>
          <a:prstGeom prst="rect">
            <a:avLst/>
          </a:prstGeom>
          <a:noFill/>
          <a:ln/>
        </p:spPr>
        <p:txBody>
          <a:bodyPr wrap="square" lIns="0" tIns="0" rIns="0" bIns="0" rtlCol="0" anchor="ctr"/>
          <a:lstStyle/>
          <a:p>
            <a:pPr algn="ctr" indent="0" marL="0">
              <a:buNone/>
            </a:pPr>
            <a:r>
              <a:rPr lang="en-US" sz="1080" b="1" dirty="0">
                <a:solidFill>
                  <a:srgbClr val="E8CC6B"/>
                </a:solidFill>
                <a:latin typeface="Calibri" pitchFamily="34" charset="0"/>
                <a:ea typeface="Calibri" pitchFamily="34" charset="-122"/>
                <a:cs typeface="Calibri" pitchFamily="34" charset="-120"/>
              </a:rPr>
              <a:t>Microsoft Foundry → Foundry Agent → Claude Sonnet 5</a:t>
            </a:r>
            <a:endParaRPr lang="en-US" sz="1080" dirty="0"/>
          </a:p>
        </p:txBody>
      </p:sp>
      <p:sp>
        <p:nvSpPr>
          <p:cNvPr id="19" name="Shape 17"/>
          <p:cNvSpPr/>
          <p:nvPr/>
        </p:nvSpPr>
        <p:spPr>
          <a:xfrm>
            <a:off x="3392424" y="4654296"/>
            <a:ext cx="164592" cy="146304"/>
          </a:xfrm>
          <a:prstGeom prst="downArrow">
            <a:avLst/>
          </a:prstGeom>
          <a:solidFill>
            <a:srgbClr val="D4AF37"/>
          </a:solidFill>
          <a:ln/>
        </p:spPr>
      </p:sp>
      <p:sp>
        <p:nvSpPr>
          <p:cNvPr id="20" name="Shape 18"/>
          <p:cNvSpPr/>
          <p:nvPr/>
        </p:nvSpPr>
        <p:spPr>
          <a:xfrm>
            <a:off x="457200" y="4800600"/>
            <a:ext cx="6035040" cy="530352"/>
          </a:xfrm>
          <a:prstGeom prst="roundRect">
            <a:avLst>
              <a:gd name="adj" fmla="val 10345"/>
            </a:avLst>
          </a:prstGeom>
          <a:solidFill>
            <a:srgbClr val="161616"/>
          </a:solidFill>
          <a:ln w="15875">
            <a:solidFill>
              <a:srgbClr val="3A3226"/>
            </a:solidFill>
            <a:prstDash val="solid"/>
          </a:ln>
        </p:spPr>
      </p:sp>
      <p:sp>
        <p:nvSpPr>
          <p:cNvPr id="21" name="Text 19"/>
          <p:cNvSpPr/>
          <p:nvPr/>
        </p:nvSpPr>
        <p:spPr>
          <a:xfrm>
            <a:off x="502920" y="4800600"/>
            <a:ext cx="5943600" cy="530352"/>
          </a:xfrm>
          <a:prstGeom prst="rect">
            <a:avLst/>
          </a:prstGeom>
          <a:noFill/>
          <a:ln/>
        </p:spPr>
        <p:txBody>
          <a:bodyPr wrap="square" lIns="0" tIns="0" rIns="0" bIns="0" rtlCol="0" anchor="ctr"/>
          <a:lstStyle/>
          <a:p>
            <a:pPr algn="ctr" indent="0" marL="0">
              <a:buNone/>
            </a:pPr>
            <a:r>
              <a:rPr lang="en-US" sz="1080" b="1" dirty="0">
                <a:solidFill>
                  <a:srgbClr val="F3EEE1"/>
                </a:solidFill>
                <a:latin typeface="Calibri" pitchFamily="34" charset="0"/>
                <a:ea typeface="Calibri" pitchFamily="34" charset="-122"/>
                <a:cs typeface="Calibri" pitchFamily="34" charset="-120"/>
              </a:rPr>
              <a:t>Monitoring • Evaluation • Content Safety</a:t>
            </a:r>
            <a:endParaRPr lang="en-US" sz="1080" dirty="0"/>
          </a:p>
        </p:txBody>
      </p:sp>
      <p:sp>
        <p:nvSpPr>
          <p:cNvPr id="22" name="Shape 20"/>
          <p:cNvSpPr/>
          <p:nvPr/>
        </p:nvSpPr>
        <p:spPr>
          <a:xfrm>
            <a:off x="3392424" y="5330952"/>
            <a:ext cx="164592" cy="146304"/>
          </a:xfrm>
          <a:prstGeom prst="downArrow">
            <a:avLst/>
          </a:prstGeom>
          <a:solidFill>
            <a:srgbClr val="D4AF37"/>
          </a:solidFill>
          <a:ln/>
        </p:spPr>
      </p:sp>
      <p:sp>
        <p:nvSpPr>
          <p:cNvPr id="23" name="Shape 21"/>
          <p:cNvSpPr/>
          <p:nvPr/>
        </p:nvSpPr>
        <p:spPr>
          <a:xfrm>
            <a:off x="457200" y="5477256"/>
            <a:ext cx="6035040" cy="530352"/>
          </a:xfrm>
          <a:prstGeom prst="roundRect">
            <a:avLst>
              <a:gd name="adj" fmla="val 10345"/>
            </a:avLst>
          </a:prstGeom>
          <a:solidFill>
            <a:srgbClr val="161616"/>
          </a:solidFill>
          <a:ln w="15875">
            <a:solidFill>
              <a:srgbClr val="3A3226"/>
            </a:solidFill>
            <a:prstDash val="solid"/>
          </a:ln>
        </p:spPr>
      </p:sp>
      <p:sp>
        <p:nvSpPr>
          <p:cNvPr id="24" name="Text 22"/>
          <p:cNvSpPr/>
          <p:nvPr/>
        </p:nvSpPr>
        <p:spPr>
          <a:xfrm>
            <a:off x="502920" y="5477256"/>
            <a:ext cx="5943600" cy="530352"/>
          </a:xfrm>
          <a:prstGeom prst="rect">
            <a:avLst/>
          </a:prstGeom>
          <a:noFill/>
          <a:ln/>
        </p:spPr>
        <p:txBody>
          <a:bodyPr wrap="square" lIns="0" tIns="0" rIns="0" bIns="0" rtlCol="0" anchor="ctr"/>
          <a:lstStyle/>
          <a:p>
            <a:pPr algn="ctr" indent="0" marL="0">
              <a:buNone/>
            </a:pPr>
            <a:r>
              <a:rPr lang="en-US" sz="1080" b="1" dirty="0">
                <a:solidFill>
                  <a:srgbClr val="F3EEE1"/>
                </a:solidFill>
                <a:latin typeface="Calibri" pitchFamily="34" charset="0"/>
                <a:ea typeface="Calibri" pitchFamily="34" charset="-122"/>
                <a:cs typeface="Calibri" pitchFamily="34" charset="-120"/>
              </a:rPr>
              <a:t>Entra ID + RBAC → Enterprise Data</a:t>
            </a:r>
            <a:endParaRPr lang="en-US" sz="1080" dirty="0"/>
          </a:p>
        </p:txBody>
      </p:sp>
      <p:sp>
        <p:nvSpPr>
          <p:cNvPr id="25" name="Text 23"/>
          <p:cNvSpPr/>
          <p:nvPr/>
        </p:nvSpPr>
        <p:spPr>
          <a:xfrm>
            <a:off x="6812280" y="1417320"/>
            <a:ext cx="493776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USE AZURE HOSTED CLAUDE WHEN</a:t>
            </a:r>
            <a:endParaRPr lang="en-US" sz="1150" dirty="0"/>
          </a:p>
        </p:txBody>
      </p:sp>
      <p:sp>
        <p:nvSpPr>
          <p:cNvPr id="26" name="Text 24"/>
          <p:cNvSpPr/>
          <p:nvPr/>
        </p:nvSpPr>
        <p:spPr>
          <a:xfrm>
            <a:off x="6812280" y="1783080"/>
            <a:ext cx="4937760" cy="173736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250" dirty="0">
                <a:solidFill>
                  <a:srgbClr val="F3EEE1"/>
                </a:solidFill>
                <a:latin typeface="Calibri" pitchFamily="34" charset="0"/>
                <a:ea typeface="Calibri" pitchFamily="34" charset="-122"/>
                <a:cs typeface="Calibri" pitchFamily="34" charset="-120"/>
              </a:rPr>
              <a:t>Compliance is critical</a:t>
            </a:r>
            <a:endParaRPr lang="en-US" sz="1250" dirty="0"/>
          </a:p>
          <a:p>
            <a:pPr marL="177800" indent="-177800">
              <a:lnSpc>
                <a:spcPct val="108000"/>
              </a:lnSpc>
              <a:spcAft>
                <a:spcPts val="1000"/>
              </a:spcAft>
              <a:buSzPct val="100000"/>
              <a:buChar char="▪"/>
            </a:pPr>
            <a:r>
              <a:rPr lang="en-US" sz="1250" dirty="0">
                <a:solidFill>
                  <a:srgbClr val="F3EEE1"/>
                </a:solidFill>
                <a:latin typeface="Calibri" pitchFamily="34" charset="0"/>
                <a:ea typeface="Calibri" pitchFamily="34" charset="-122"/>
                <a:cs typeface="Calibri" pitchFamily="34" charset="-120"/>
              </a:rPr>
              <a:t>Data residency matters</a:t>
            </a:r>
            <a:endParaRPr lang="en-US" sz="1250" dirty="0"/>
          </a:p>
          <a:p>
            <a:pPr marL="177800" indent="-177800">
              <a:lnSpc>
                <a:spcPct val="108000"/>
              </a:lnSpc>
              <a:spcAft>
                <a:spcPts val="1000"/>
              </a:spcAft>
              <a:buSzPct val="100000"/>
              <a:buChar char="▪"/>
            </a:pPr>
            <a:r>
              <a:rPr lang="en-US" sz="1250" dirty="0">
                <a:solidFill>
                  <a:srgbClr val="F3EEE1"/>
                </a:solidFill>
                <a:latin typeface="Calibri" pitchFamily="34" charset="0"/>
                <a:ea typeface="Calibri" pitchFamily="34" charset="-122"/>
                <a:cs typeface="Calibri" pitchFamily="34" charset="-120"/>
              </a:rPr>
              <a:t>Production enterprise workloads</a:t>
            </a:r>
            <a:endParaRPr lang="en-US" sz="1250" dirty="0"/>
          </a:p>
          <a:p>
            <a:pPr marL="177800" indent="-177800">
              <a:lnSpc>
                <a:spcPct val="108000"/>
              </a:lnSpc>
              <a:spcAft>
                <a:spcPts val="1000"/>
              </a:spcAft>
              <a:buSzPct val="100000"/>
              <a:buChar char="▪"/>
            </a:pPr>
            <a:r>
              <a:rPr lang="en-US" sz="1250" dirty="0">
                <a:solidFill>
                  <a:srgbClr val="F3EEE1"/>
                </a:solidFill>
                <a:latin typeface="Calibri" pitchFamily="34" charset="0"/>
                <a:ea typeface="Calibri" pitchFamily="34" charset="-122"/>
                <a:cs typeface="Calibri" pitchFamily="34" charset="-120"/>
              </a:rPr>
              <a:t>Regulated industries</a:t>
            </a:r>
            <a:endParaRPr lang="en-US" sz="1250" dirty="0"/>
          </a:p>
        </p:txBody>
      </p:sp>
      <p:sp>
        <p:nvSpPr>
          <p:cNvPr id="27" name="Text 25"/>
          <p:cNvSpPr/>
          <p:nvPr/>
        </p:nvSpPr>
        <p:spPr>
          <a:xfrm>
            <a:off x="6812280" y="3794760"/>
            <a:ext cx="4937760" cy="274320"/>
          </a:xfrm>
          <a:prstGeom prst="rect">
            <a:avLst/>
          </a:prstGeom>
          <a:noFill/>
          <a:ln/>
        </p:spPr>
        <p:txBody>
          <a:bodyPr wrap="square" lIns="0" tIns="0" rIns="0" bIns="0" rtlCol="0" anchor="ctr"/>
          <a:lstStyle/>
          <a:p>
            <a:pPr indent="0" marL="0">
              <a:buNone/>
            </a:pPr>
            <a:r>
              <a:rPr lang="en-US" sz="1150" b="1" spc="150" kern="0" dirty="0">
                <a:solidFill>
                  <a:srgbClr val="D4AF37"/>
                </a:solidFill>
                <a:latin typeface="Calibri" pitchFamily="34" charset="0"/>
                <a:ea typeface="Calibri" pitchFamily="34" charset="-122"/>
                <a:cs typeface="Calibri" pitchFamily="34" charset="-120"/>
              </a:rPr>
              <a:t>USE ANTHROPIC HOSTED CLAUDE WHEN</a:t>
            </a:r>
            <a:endParaRPr lang="en-US" sz="1150" dirty="0"/>
          </a:p>
        </p:txBody>
      </p:sp>
      <p:sp>
        <p:nvSpPr>
          <p:cNvPr id="28" name="Text 26"/>
          <p:cNvSpPr/>
          <p:nvPr/>
        </p:nvSpPr>
        <p:spPr>
          <a:xfrm>
            <a:off x="6812280" y="4160520"/>
            <a:ext cx="4937760" cy="173736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250" dirty="0">
                <a:solidFill>
                  <a:srgbClr val="F3EEE1"/>
                </a:solidFill>
                <a:latin typeface="Calibri" pitchFamily="34" charset="0"/>
                <a:ea typeface="Calibri" pitchFamily="34" charset="-122"/>
                <a:cs typeface="Calibri" pitchFamily="34" charset="-120"/>
              </a:rPr>
              <a:t>Latest Claude innovation is required</a:t>
            </a:r>
            <a:endParaRPr lang="en-US" sz="1250" dirty="0"/>
          </a:p>
          <a:p>
            <a:pPr marL="177800" indent="-177800">
              <a:lnSpc>
                <a:spcPct val="108000"/>
              </a:lnSpc>
              <a:spcAft>
                <a:spcPts val="1000"/>
              </a:spcAft>
              <a:buSzPct val="100000"/>
              <a:buChar char="▪"/>
            </a:pPr>
            <a:r>
              <a:rPr lang="en-US" sz="1250" dirty="0">
                <a:solidFill>
                  <a:srgbClr val="F3EEE1"/>
                </a:solidFill>
                <a:latin typeface="Calibri" pitchFamily="34" charset="0"/>
                <a:ea typeface="Calibri" pitchFamily="34" charset="-122"/>
                <a:cs typeface="Calibri" pitchFamily="34" charset="-120"/>
              </a:rPr>
              <a:t>Advanced agentic workloads</a:t>
            </a:r>
            <a:endParaRPr lang="en-US" sz="1250" dirty="0"/>
          </a:p>
          <a:p>
            <a:pPr marL="177800" indent="-177800">
              <a:lnSpc>
                <a:spcPct val="108000"/>
              </a:lnSpc>
              <a:spcAft>
                <a:spcPts val="1000"/>
              </a:spcAft>
              <a:buSzPct val="100000"/>
              <a:buChar char="▪"/>
            </a:pPr>
            <a:r>
              <a:rPr lang="en-US" sz="1250" dirty="0">
                <a:solidFill>
                  <a:srgbClr val="F3EEE1"/>
                </a:solidFill>
                <a:latin typeface="Calibri" pitchFamily="34" charset="0"/>
                <a:ea typeface="Calibri" pitchFamily="34" charset="-122"/>
                <a:cs typeface="Calibri" pitchFamily="34" charset="-120"/>
              </a:rPr>
              <a:t>Research initiatives</a:t>
            </a:r>
            <a:endParaRPr lang="en-US" sz="1250" dirty="0"/>
          </a:p>
          <a:p>
            <a:pPr marL="177800" indent="-177800">
              <a:lnSpc>
                <a:spcPct val="108000"/>
              </a:lnSpc>
              <a:spcAft>
                <a:spcPts val="1000"/>
              </a:spcAft>
              <a:buSzPct val="100000"/>
              <a:buChar char="▪"/>
            </a:pPr>
            <a:r>
              <a:rPr lang="en-US" sz="1250" dirty="0">
                <a:solidFill>
                  <a:srgbClr val="F3EEE1"/>
                </a:solidFill>
                <a:latin typeface="Calibri" pitchFamily="34" charset="0"/>
                <a:ea typeface="Calibri" pitchFamily="34" charset="-122"/>
                <a:cs typeface="Calibri" pitchFamily="34" charset="-120"/>
              </a:rPr>
              <a:t>AI innovation programs</a:t>
            </a:r>
            <a:endParaRPr lang="en-US" sz="1250" dirty="0"/>
          </a:p>
        </p:txBody>
      </p:sp>
      <p:sp>
        <p:nvSpPr>
          <p:cNvPr id="29" name="Text 27"/>
          <p:cNvSpPr/>
          <p:nvPr/>
        </p:nvSpPr>
        <p:spPr>
          <a:xfrm>
            <a:off x="457200" y="6537960"/>
            <a:ext cx="6400800" cy="274320"/>
          </a:xfrm>
          <a:prstGeom prst="rect">
            <a:avLst/>
          </a:prstGeom>
          <a:noFill/>
          <a:ln/>
        </p:spPr>
        <p:txBody>
          <a:bodyPr wrap="square" lIns="0" tIns="0" rIns="0" bIns="0" rtlCol="0" anchor="ctr"/>
          <a:lstStyle/>
          <a:p>
            <a:pPr algn="l" indent="0" marL="0">
              <a:buNone/>
            </a:pPr>
            <a:r>
              <a:rPr lang="en-US" sz="800" spc="100" kern="0" dirty="0">
                <a:solidFill>
                  <a:srgbClr val="756E5C"/>
                </a:solidFill>
                <a:latin typeface="Calibri" pitchFamily="34" charset="0"/>
                <a:ea typeface="Calibri" pitchFamily="34" charset="-122"/>
                <a:cs typeface="Calibri" pitchFamily="34" charset="-120"/>
              </a:rPr>
              <a:t>ANTHROPIC CLAUDE  |  MICROSOFT FOUNDRY</a:t>
            </a:r>
            <a:endParaRPr lang="en-US" sz="800" dirty="0"/>
          </a:p>
        </p:txBody>
      </p:sp>
      <p:sp>
        <p:nvSpPr>
          <p:cNvPr id="30" name="Text 28"/>
          <p:cNvSpPr/>
          <p:nvPr/>
        </p:nvSpPr>
        <p:spPr>
          <a:xfrm>
            <a:off x="11274552" y="6510528"/>
            <a:ext cx="457200" cy="292608"/>
          </a:xfrm>
          <a:prstGeom prst="rect">
            <a:avLst/>
          </a:prstGeom>
          <a:noFill/>
          <a:ln/>
        </p:spPr>
        <p:txBody>
          <a:bodyPr wrap="square" lIns="0" tIns="0" rIns="0" bIns="0" rtlCol="0" anchor="ctr"/>
          <a:lstStyle/>
          <a:p>
            <a:pPr algn="r" indent="0" marL="0">
              <a:buNone/>
            </a:pPr>
            <a:r>
              <a:rPr lang="en-US" sz="1000" b="1" dirty="0">
                <a:solidFill>
                  <a:srgbClr val="D4AF37"/>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2026-08-24T19:03:22Z</dcterms:created>
  <dcterms:modified xsi:type="dcterms:W3CDTF">2026-08-24T19:03:22Z</dcterms:modified>
</cp:coreProperties>
</file>